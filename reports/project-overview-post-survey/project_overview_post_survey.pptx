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tiêu buổi trình bày: cho thấy nhóm đã hoàn tất những gì sau hai vòng survey, research gap nào đã được xác lập, và validation nào cần làm tiếp. Tên đề tài vẫn là working title, chưa phải quyết định cuối.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chính: survey đã đủ để chuyển sang validation có mục tiêu. 404 là số đếm trực tiếp hiện tại từ dataset; các tài liệu cũ ghi 402 cần được cập nhật sau. Không gọi 404 trường hợp này là true inconsistency trước khi gán nhãn người.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ví dụ cho thấy vì sao không thể dùng rule “có negative span = bất nhất”. Ví dụ 5 sao có service recovery rõ; ví dụ 2 sao có lời khen nhưng lỗi phòng nghiêm trọng, nên điểm thấp vẫn hợp lý. Đây là lý do phải có human ground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kế thừa dữ liệu, pipeline và baseline của paper gốc; không phủ nhận kết quả mô hình. Phần mở rộng tập trung vào hai hạn chế: Loyalty có rủi ro lập luận vòng, và mismatch chưa được giải thích.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set hiện tại gồm 7 nguồn inconsistency, 3 hospitality ABSA và 5 forgiveness/buffering sau khi chuyển Valdivia thành provenance source và Puh thành legacy baseline. Broad search dừng tạm vì đọc thêm không giải quyết được estimator, threshold và normalization.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luận survey thứ nhất: mismatch không được xóa như noise. Tuy nhiên mixed review không đồng nghĩa với mismatch; vì vậy bước tiếp theo phải là human annotation có control, không phải huấn luyện model ngay.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gap đo lường nằm ở giao của ba yêu cầu: magnitude, direction và aspect-level. Công thức có dấu là candidate extension của nhóm, chưa được gọi là validated measure cho đến khi so với nhãn người.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Literature hỗ trợ cơ chế forgiveness nhưng thường đo bằng survey và các outcome như dissatisfaction hoặc repatronage. Nhóm chưa tìm thấy kiểm định trực tiếp sang observed star rating. Vì vậy chưa nên gọi Sublimation/Anger là construct chính thức.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RQ này là cách diễn đạt ngắn gọn cho hướng hiện tại. Nhấn mạnh với thầy rằng đây là draft để xin alignment, không phải RQ đã khóa.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set gồm ba nhóm để vừa kiểm tra hai hướng mismatch vừa đo false positive trên review bình thường. Không cân bằng nhân tạo hai hướng; giữ prevalence thật và báo giới hạn nếu mirror subset thiếu.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RDR-0003 không được ban hành theo cảm tính. Ba formulation phải chạy trên cùng ground truth và đạt đồng thời các tiêu chí. Nếu candidate measure thất bại, phương án an toàn là giữ matrix baseline và tìm đúng failure, không mở broad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giúp phân biệt rõ deliverable đã có với kết quả thực nghiệm chưa có. Nhóm đã hoàn thành survey, protocol và draft; chưa tuyên bố measure, prevalence hay hiệu ứng buffering.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Đề nghị thầy góp ý vào ba quyết định cụ thể. Nếu được đồng ý, nhóm chuyển thẳng sang targeted validation; không tiếp tục broad survey và cũng chưa xây nhiều model song song.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phụ lục; chỉ mở khi thầy hỏi nguồn. Hai nguồn 2026 về directional typology và aspect conflict là preprint, cần nói rõ trạng thái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21792" y="6510528"/>
            <a:ext cx="4754880" cy="146304"/>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DAP391m  |  Project Progress Review</a:t>
            </a:r>
            <a:endParaRPr lang="en-US" sz="850" dirty="0"/>
          </a:p>
        </p:txBody>
      </p:sp>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21792" y="6510528"/>
            <a:ext cx="4114800" cy="146304"/>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DAP391m  |  FPT University</a:t>
            </a:r>
            <a:endParaRPr lang="en-US" sz="850" dirty="0"/>
          </a:p>
        </p:txBody>
      </p:sp>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4A3B8"/>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85800" y="576072"/>
            <a:ext cx="3429000" cy="310896"/>
          </a:xfrm>
          <a:prstGeom prst="roundRect">
            <a:avLst>
              <a:gd name="adj" fmla="val 23529"/>
            </a:avLst>
          </a:prstGeom>
          <a:solidFill>
            <a:srgbClr val="134E4A"/>
          </a:solidFill>
          <a:ln w="12700">
            <a:solidFill>
              <a:srgbClr val="134E4A">
                <a:alpha val="0"/>
              </a:srgbClr>
            </a:solidFill>
            <a:prstDash val="solid"/>
          </a:ln>
        </p:spPr>
      </p:sp>
      <p:sp>
        <p:nvSpPr>
          <p:cNvPr id="3" name="Text 1"/>
          <p:cNvSpPr/>
          <p:nvPr/>
        </p:nvSpPr>
        <p:spPr>
          <a:xfrm>
            <a:off x="758952" y="630936"/>
            <a:ext cx="3282696" cy="146304"/>
          </a:xfrm>
          <a:prstGeom prst="rect">
            <a:avLst/>
          </a:prstGeom>
          <a:noFill/>
          <a:ln/>
        </p:spPr>
        <p:txBody>
          <a:bodyPr wrap="square" lIns="0" tIns="0" rIns="0" bIns="0" rtlCol="0" anchor="ctr">
            <a:normAutofit/>
          </a:bodyPr>
          <a:lstStyle/>
          <a:p>
            <a:pPr algn="ctr" indent="0" marL="0">
              <a:buNone/>
            </a:pPr>
            <a:r>
              <a:rPr lang="en-US" sz="950" b="1" dirty="0">
                <a:solidFill>
                  <a:srgbClr val="CCFBF1"/>
                </a:solidFill>
                <a:latin typeface="Calibri" pitchFamily="34" charset="0"/>
                <a:ea typeface="Calibri" pitchFamily="34" charset="-122"/>
                <a:cs typeface="Calibri" pitchFamily="34" charset="-120"/>
              </a:rPr>
              <a:t>PROJECT OVERVIEW + POST-SURVEY RESULTS</a:t>
            </a:r>
            <a:endParaRPr lang="en-US" sz="950" dirty="0"/>
          </a:p>
        </p:txBody>
      </p:sp>
      <p:sp>
        <p:nvSpPr>
          <p:cNvPr id="4" name="Text 2"/>
          <p:cNvSpPr/>
          <p:nvPr/>
        </p:nvSpPr>
        <p:spPr>
          <a:xfrm>
            <a:off x="685800" y="1143000"/>
            <a:ext cx="6126480" cy="1508760"/>
          </a:xfrm>
          <a:prstGeom prst="rect">
            <a:avLst/>
          </a:prstGeom>
          <a:noFill/>
          <a:ln/>
        </p:spPr>
        <p:txBody>
          <a:bodyPr wrap="square" lIns="0" tIns="0" rIns="0" bIns="0" rtlCol="0" anchor="ctr">
            <a:normAutofit/>
          </a:bodyPr>
          <a:lstStyle/>
          <a:p>
            <a:pPr indent="0" marL="0">
              <a:buNone/>
            </a:pPr>
            <a:r>
              <a:rPr lang="en-US" sz="3800" b="1" dirty="0">
                <a:solidFill>
                  <a:srgbClr val="FFFFFF"/>
                </a:solidFill>
                <a:latin typeface="Cambria" pitchFamily="34" charset="0"/>
                <a:ea typeface="Cambria" pitchFamily="34" charset="-122"/>
                <a:cs typeface="Cambria" pitchFamily="34" charset="-120"/>
              </a:rPr>
              <a:t>When Reviews and</a:t>
            </a:r>
            <a:endParaRPr lang="en-US" sz="3800" dirty="0"/>
          </a:p>
          <a:p>
            <a:pPr indent="0" marL="0">
              <a:buNone/>
            </a:pPr>
            <a:r>
              <a:rPr lang="en-US" sz="3800" b="1" dirty="0">
                <a:solidFill>
                  <a:srgbClr val="FFFFFF"/>
                </a:solidFill>
                <a:latin typeface="Cambria" pitchFamily="34" charset="0"/>
                <a:ea typeface="Cambria" pitchFamily="34" charset="-122"/>
                <a:cs typeface="Cambria" pitchFamily="34" charset="-120"/>
              </a:rPr>
              <a:t>Ratings Disagree</a:t>
            </a:r>
            <a:endParaRPr lang="en-US" sz="3800" dirty="0"/>
          </a:p>
        </p:txBody>
      </p:sp>
      <p:sp>
        <p:nvSpPr>
          <p:cNvPr id="5" name="Text 3"/>
          <p:cNvSpPr/>
          <p:nvPr/>
        </p:nvSpPr>
        <p:spPr>
          <a:xfrm>
            <a:off x="713232" y="2834640"/>
            <a:ext cx="5669280" cy="713232"/>
          </a:xfrm>
          <a:prstGeom prst="rect">
            <a:avLst/>
          </a:prstGeom>
          <a:noFill/>
          <a:ln/>
        </p:spPr>
        <p:txBody>
          <a:bodyPr wrap="square" lIns="0" tIns="0" rIns="0" bIns="0" rtlCol="0" anchor="ctr">
            <a:normAutofit/>
          </a:bodyPr>
          <a:lstStyle/>
          <a:p>
            <a:pPr indent="0" marL="0">
              <a:buNone/>
            </a:pPr>
            <a:r>
              <a:rPr lang="en-US" sz="2000" dirty="0">
                <a:solidFill>
                  <a:srgbClr val="CBD5E1"/>
                </a:solidFill>
                <a:latin typeface="Calibri" pitchFamily="34" charset="0"/>
                <a:ea typeface="Calibri" pitchFamily="34" charset="-122"/>
                <a:cs typeface="Calibri" pitchFamily="34" charset="-120"/>
              </a:rPr>
              <a:t>Aspect-Level Sentiment–Rating Discrepancy</a:t>
            </a:r>
            <a:endParaRPr lang="en-US" sz="2000" dirty="0"/>
          </a:p>
          <a:p>
            <a:pPr indent="0" marL="0">
              <a:buNone/>
            </a:pPr>
            <a:r>
              <a:rPr lang="en-US" sz="2000" dirty="0">
                <a:solidFill>
                  <a:srgbClr val="CBD5E1"/>
                </a:solidFill>
                <a:latin typeface="Calibri" pitchFamily="34" charset="0"/>
                <a:ea typeface="Calibri" pitchFamily="34" charset="-122"/>
                <a:cs typeface="Calibri" pitchFamily="34" charset="-120"/>
              </a:rPr>
              <a:t>in Online Hotel Reviews</a:t>
            </a:r>
            <a:endParaRPr lang="en-US" sz="2000" dirty="0"/>
          </a:p>
        </p:txBody>
      </p:sp>
      <p:sp>
        <p:nvSpPr>
          <p:cNvPr id="6" name="Text 4"/>
          <p:cNvSpPr/>
          <p:nvPr/>
        </p:nvSpPr>
        <p:spPr>
          <a:xfrm>
            <a:off x="713232" y="3822192"/>
            <a:ext cx="5715000" cy="256032"/>
          </a:xfrm>
          <a:prstGeom prst="rect">
            <a:avLst/>
          </a:prstGeom>
          <a:noFill/>
          <a:ln/>
        </p:spPr>
        <p:txBody>
          <a:bodyPr wrap="square" lIns="0" tIns="0" rIns="0" bIns="0" rtlCol="0" anchor="ctr"/>
          <a:lstStyle/>
          <a:p>
            <a:pPr indent="0" marL="0">
              <a:buNone/>
            </a:pPr>
            <a:r>
              <a:rPr lang="en-US" sz="1250" b="1" dirty="0">
                <a:solidFill>
                  <a:srgbClr val="F59E0B"/>
                </a:solidFill>
                <a:latin typeface="Calibri" pitchFamily="34" charset="0"/>
                <a:ea typeface="Calibri" pitchFamily="34" charset="-122"/>
                <a:cs typeface="Calibri" pitchFamily="34" charset="-120"/>
              </a:rPr>
              <a:t>Working research direction  |  Post-survey, pre-validation</a:t>
            </a:r>
            <a:endParaRPr lang="en-US" sz="1250" dirty="0"/>
          </a:p>
        </p:txBody>
      </p:sp>
      <p:sp>
        <p:nvSpPr>
          <p:cNvPr id="7" name="Shape 5"/>
          <p:cNvSpPr/>
          <p:nvPr/>
        </p:nvSpPr>
        <p:spPr>
          <a:xfrm>
            <a:off x="7360920" y="1051560"/>
            <a:ext cx="1874520" cy="1874520"/>
          </a:xfrm>
          <a:prstGeom prst="ellipse">
            <a:avLst/>
          </a:prstGeom>
          <a:solidFill>
            <a:srgbClr val="134E4A"/>
          </a:solidFill>
          <a:ln w="25400">
            <a:solidFill>
              <a:srgbClr val="14B8A6"/>
            </a:solidFill>
            <a:prstDash val="solid"/>
          </a:ln>
        </p:spPr>
      </p:sp>
      <p:sp>
        <p:nvSpPr>
          <p:cNvPr id="8" name="Text 6"/>
          <p:cNvSpPr/>
          <p:nvPr/>
        </p:nvSpPr>
        <p:spPr>
          <a:xfrm>
            <a:off x="7360920" y="1673352"/>
            <a:ext cx="1874520" cy="365760"/>
          </a:xfrm>
          <a:prstGeom prst="rect">
            <a:avLst/>
          </a:prstGeom>
          <a:noFill/>
          <a:ln/>
        </p:spPr>
        <p:txBody>
          <a:bodyPr wrap="square" lIns="0" tIns="0" rIns="0" bIns="0" rtlCol="0" anchor="ctr"/>
          <a:lstStyle/>
          <a:p>
            <a:pPr algn="ctr" indent="0" marL="0">
              <a:buNone/>
            </a:pPr>
            <a:r>
              <a:rPr lang="en-US" sz="2400" b="1" dirty="0">
                <a:solidFill>
                  <a:srgbClr val="CCFBF1"/>
                </a:solidFill>
                <a:latin typeface="Calibri" pitchFamily="34" charset="0"/>
                <a:ea typeface="Calibri" pitchFamily="34" charset="-122"/>
                <a:cs typeface="Calibri" pitchFamily="34" charset="-120"/>
              </a:rPr>
              <a:t>TEXT</a:t>
            </a:r>
            <a:endParaRPr lang="en-US" sz="2400" dirty="0"/>
          </a:p>
        </p:txBody>
      </p:sp>
      <p:sp>
        <p:nvSpPr>
          <p:cNvPr id="9" name="Shape 7"/>
          <p:cNvSpPr/>
          <p:nvPr/>
        </p:nvSpPr>
        <p:spPr>
          <a:xfrm>
            <a:off x="9464040" y="3127248"/>
            <a:ext cx="1874520" cy="1874520"/>
          </a:xfrm>
          <a:prstGeom prst="ellipse">
            <a:avLst/>
          </a:prstGeom>
          <a:solidFill>
            <a:srgbClr val="78350F"/>
          </a:solidFill>
          <a:ln w="25400">
            <a:solidFill>
              <a:srgbClr val="F59E0B"/>
            </a:solidFill>
            <a:prstDash val="solid"/>
          </a:ln>
        </p:spPr>
      </p:sp>
      <p:sp>
        <p:nvSpPr>
          <p:cNvPr id="10" name="Text 8"/>
          <p:cNvSpPr/>
          <p:nvPr/>
        </p:nvSpPr>
        <p:spPr>
          <a:xfrm>
            <a:off x="9464040" y="3685032"/>
            <a:ext cx="1874520" cy="438912"/>
          </a:xfrm>
          <a:prstGeom prst="rect">
            <a:avLst/>
          </a:prstGeom>
          <a:noFill/>
          <a:ln/>
        </p:spPr>
        <p:txBody>
          <a:bodyPr wrap="square" lIns="0" tIns="0" rIns="0" bIns="0" rtlCol="0" anchor="ctr"/>
          <a:lstStyle/>
          <a:p>
            <a:pPr algn="ctr" indent="0" marL="0">
              <a:buNone/>
            </a:pPr>
            <a:r>
              <a:rPr lang="en-US" sz="3000" b="1" dirty="0">
                <a:solidFill>
                  <a:srgbClr val="FEF3C7"/>
                </a:solidFill>
                <a:latin typeface="Cambria" pitchFamily="34" charset="0"/>
                <a:ea typeface="Cambria" pitchFamily="34" charset="-122"/>
                <a:cs typeface="Cambria" pitchFamily="34" charset="-120"/>
              </a:rPr>
              <a:t>5.0</a:t>
            </a:r>
            <a:endParaRPr lang="en-US" sz="3000" dirty="0"/>
          </a:p>
        </p:txBody>
      </p:sp>
      <p:sp>
        <p:nvSpPr>
          <p:cNvPr id="11" name="Shape 9"/>
          <p:cNvSpPr/>
          <p:nvPr/>
        </p:nvSpPr>
        <p:spPr>
          <a:xfrm>
            <a:off x="8851392" y="2532888"/>
            <a:ext cx="1417320" cy="1234440"/>
          </a:xfrm>
          <a:prstGeom prst="line">
            <a:avLst/>
          </a:prstGeom>
          <a:noFill/>
          <a:ln w="50800">
            <a:solidFill>
              <a:srgbClr val="E11D48"/>
            </a:solidFill>
            <a:prstDash val="solid"/>
            <a:headEnd type="none"/>
            <a:tailEnd type="triangle"/>
          </a:ln>
        </p:spPr>
      </p:sp>
      <p:sp>
        <p:nvSpPr>
          <p:cNvPr id="12" name="Shape 10"/>
          <p:cNvSpPr/>
          <p:nvPr/>
        </p:nvSpPr>
        <p:spPr>
          <a:xfrm flipV="1">
            <a:off x="7955280" y="2542032"/>
            <a:ext cx="1508760" cy="1188720"/>
          </a:xfrm>
          <a:prstGeom prst="line">
            <a:avLst/>
          </a:prstGeom>
          <a:noFill/>
          <a:ln w="50800">
            <a:solidFill>
              <a:srgbClr val="E11D48"/>
            </a:solidFill>
            <a:prstDash val="solid"/>
            <a:headEnd type="none"/>
            <a:tailEnd type="triangle"/>
          </a:ln>
        </p:spPr>
      </p:sp>
      <p:sp>
        <p:nvSpPr>
          <p:cNvPr id="13" name="Text 11"/>
          <p:cNvSpPr/>
          <p:nvPr/>
        </p:nvSpPr>
        <p:spPr>
          <a:xfrm>
            <a:off x="8668512" y="2962656"/>
            <a:ext cx="1097280" cy="640080"/>
          </a:xfrm>
          <a:prstGeom prst="rect">
            <a:avLst/>
          </a:prstGeom>
          <a:noFill/>
          <a:ln/>
        </p:spPr>
        <p:txBody>
          <a:bodyPr wrap="square" lIns="0" tIns="0" rIns="0" bIns="0" rtlCol="0" anchor="ctr"/>
          <a:lstStyle/>
          <a:p>
            <a:pPr algn="ctr" indent="0" marL="0">
              <a:buNone/>
            </a:pPr>
            <a:r>
              <a:rPr lang="en-US" sz="3800" b="1" dirty="0">
                <a:solidFill>
                  <a:srgbClr val="FFE4E6"/>
                </a:solidFill>
                <a:latin typeface="Cambria" pitchFamily="34" charset="0"/>
                <a:ea typeface="Cambria" pitchFamily="34" charset="-122"/>
                <a:cs typeface="Cambria" pitchFamily="34" charset="-120"/>
              </a:rPr>
              <a:t>?</a:t>
            </a:r>
            <a:endParaRPr lang="en-US" sz="3800" dirty="0"/>
          </a:p>
        </p:txBody>
      </p:sp>
      <p:sp>
        <p:nvSpPr>
          <p:cNvPr id="14" name="Text 12"/>
          <p:cNvSpPr/>
          <p:nvPr/>
        </p:nvSpPr>
        <p:spPr>
          <a:xfrm>
            <a:off x="7388352" y="5285232"/>
            <a:ext cx="3931920" cy="594360"/>
          </a:xfrm>
          <a:prstGeom prst="rect">
            <a:avLst/>
          </a:prstGeom>
          <a:noFill/>
          <a:ln/>
        </p:spPr>
        <p:txBody>
          <a:bodyPr wrap="square" lIns="0" tIns="0" rIns="0" bIns="0" rtlCol="0" anchor="ctr">
            <a:normAutofit/>
          </a:bodyPr>
          <a:lstStyle/>
          <a:p>
            <a:pPr algn="ctr" indent="0" marL="0">
              <a:buNone/>
            </a:pPr>
            <a:r>
              <a:rPr lang="en-US" sz="1400" dirty="0">
                <a:solidFill>
                  <a:srgbClr val="CBD5E1"/>
                </a:solidFill>
                <a:latin typeface="Calibri" pitchFamily="34" charset="0"/>
                <a:ea typeface="Calibri" pitchFamily="34" charset="-122"/>
                <a:cs typeface="Calibri" pitchFamily="34" charset="-120"/>
              </a:rPr>
              <a:t>Two signals. One customer.</a:t>
            </a:r>
            <a:endParaRPr lang="en-US" sz="1400" dirty="0"/>
          </a:p>
          <a:p>
            <a:pPr algn="ctr" indent="0" marL="0">
              <a:buNone/>
            </a:pPr>
            <a:r>
              <a:rPr lang="en-US" sz="1400" dirty="0">
                <a:solidFill>
                  <a:srgbClr val="CBD5E1"/>
                </a:solidFill>
                <a:latin typeface="Calibri" pitchFamily="34" charset="0"/>
                <a:ea typeface="Calibri" pitchFamily="34" charset="-122"/>
                <a:cs typeface="Calibri" pitchFamily="34" charset="-120"/>
              </a:rPr>
              <a:t>Sometimes, two different stories.</a:t>
            </a:r>
            <a:endParaRPr lang="en-US" sz="1400" dirty="0"/>
          </a:p>
        </p:txBody>
      </p:sp>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4A3B8"/>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320040"/>
            <a:ext cx="5029200" cy="182880"/>
          </a:xfrm>
          <a:prstGeom prst="rect">
            <a:avLst/>
          </a:prstGeom>
          <a:noFill/>
          <a:ln/>
        </p:spPr>
        <p:txBody>
          <a:bodyPr wrap="square" lIns="0" tIns="0" rIns="0" bIns="0" rtlCol="0" anchor="ctr"/>
          <a:lstStyle/>
          <a:p>
            <a:pPr indent="0" marL="0">
              <a:buNone/>
            </a:pPr>
            <a:r>
              <a:rPr lang="en-US" sz="1000" b="1" spc="120" kern="0" dirty="0">
                <a:solidFill>
                  <a:srgbClr val="0F766E"/>
                </a:solidFill>
                <a:latin typeface="Calibri" pitchFamily="34" charset="0"/>
                <a:ea typeface="Calibri" pitchFamily="34" charset="-122"/>
                <a:cs typeface="Calibri" pitchFamily="34" charset="-120"/>
              </a:rPr>
              <a:t>PROGRESS SNAPSHOT</a:t>
            </a:r>
            <a:endParaRPr lang="en-US" sz="1000" dirty="0"/>
          </a:p>
        </p:txBody>
      </p:sp>
      <p:sp>
        <p:nvSpPr>
          <p:cNvPr id="3" name="Text 1"/>
          <p:cNvSpPr/>
          <p:nvPr/>
        </p:nvSpPr>
        <p:spPr>
          <a:xfrm>
            <a:off x="640080" y="548640"/>
            <a:ext cx="10881360" cy="502920"/>
          </a:xfrm>
          <a:prstGeom prst="rect">
            <a:avLst/>
          </a:prstGeom>
          <a:noFill/>
          <a:ln/>
        </p:spPr>
        <p:txBody>
          <a:bodyPr wrap="square" lIns="0" tIns="0" rIns="0" bIns="0" rtlCol="0" anchor="ctr">
            <a:normAutofit/>
          </a:bodyPr>
          <a:lstStyle/>
          <a:p>
            <a:pPr indent="0" marL="0">
              <a:buNone/>
            </a:pPr>
            <a:r>
              <a:rPr lang="en-US" sz="2900" b="1" dirty="0">
                <a:solidFill>
                  <a:srgbClr val="172033"/>
                </a:solidFill>
                <a:latin typeface="Cambria" pitchFamily="34" charset="0"/>
                <a:ea typeface="Cambria" pitchFamily="34" charset="-122"/>
                <a:cs typeface="Cambria" pitchFamily="34" charset="-120"/>
              </a:rPr>
              <a:t>Project in one minute</a:t>
            </a:r>
            <a:endParaRPr lang="en-US" sz="2900" dirty="0"/>
          </a:p>
        </p:txBody>
      </p:sp>
      <p:sp>
        <p:nvSpPr>
          <p:cNvPr id="4" name="Shape 2"/>
          <p:cNvSpPr/>
          <p:nvPr/>
        </p:nvSpPr>
        <p:spPr>
          <a:xfrm>
            <a:off x="640080" y="1261872"/>
            <a:ext cx="2606040" cy="1417320"/>
          </a:xfrm>
          <a:prstGeom prst="roundRect">
            <a:avLst>
              <a:gd name="adj" fmla="val 5161"/>
            </a:avLst>
          </a:prstGeom>
          <a:solidFill>
            <a:srgbClr val="FFFFFF"/>
          </a:solidFill>
          <a:ln w="12700">
            <a:solidFill>
              <a:srgbClr val="E2E8F0"/>
            </a:solidFill>
            <a:prstDash val="solid"/>
          </a:ln>
        </p:spPr>
      </p:sp>
      <p:sp>
        <p:nvSpPr>
          <p:cNvPr id="5" name="Shape 3"/>
          <p:cNvSpPr/>
          <p:nvPr/>
        </p:nvSpPr>
        <p:spPr>
          <a:xfrm>
            <a:off x="841248" y="1481328"/>
            <a:ext cx="292608" cy="292608"/>
          </a:xfrm>
          <a:prstGeom prst="ellipse">
            <a:avLst/>
          </a:prstGeom>
          <a:solidFill>
            <a:srgbClr val="14B8A6"/>
          </a:solidFill>
          <a:ln w="12700">
            <a:solidFill>
              <a:srgbClr val="14B8A6"/>
            </a:solidFill>
            <a:prstDash val="solid"/>
          </a:ln>
        </p:spPr>
      </p:sp>
      <p:sp>
        <p:nvSpPr>
          <p:cNvPr id="6" name="Text 4"/>
          <p:cNvSpPr/>
          <p:nvPr/>
        </p:nvSpPr>
        <p:spPr>
          <a:xfrm>
            <a:off x="841248" y="1746504"/>
            <a:ext cx="2203704" cy="438912"/>
          </a:xfrm>
          <a:prstGeom prst="rect">
            <a:avLst/>
          </a:prstGeom>
          <a:noFill/>
          <a:ln/>
        </p:spPr>
        <p:txBody>
          <a:bodyPr wrap="square" lIns="0" tIns="0" rIns="0" bIns="0" rtlCol="0" anchor="ctr">
            <a:normAutofit/>
          </a:bodyPr>
          <a:lstStyle/>
          <a:p>
            <a:pPr indent="0" marL="0">
              <a:buNone/>
            </a:pPr>
            <a:r>
              <a:rPr lang="en-US" sz="2800" b="1" dirty="0">
                <a:solidFill>
                  <a:srgbClr val="172033"/>
                </a:solidFill>
                <a:latin typeface="Cambria" pitchFamily="34" charset="0"/>
                <a:ea typeface="Cambria" pitchFamily="34" charset="-122"/>
                <a:cs typeface="Cambria" pitchFamily="34" charset="-120"/>
              </a:rPr>
              <a:t>15</a:t>
            </a:r>
            <a:endParaRPr lang="en-US" sz="2800" dirty="0"/>
          </a:p>
        </p:txBody>
      </p:sp>
      <p:sp>
        <p:nvSpPr>
          <p:cNvPr id="7" name="Text 5"/>
          <p:cNvSpPr/>
          <p:nvPr/>
        </p:nvSpPr>
        <p:spPr>
          <a:xfrm>
            <a:off x="841248" y="2194560"/>
            <a:ext cx="2203704" cy="219456"/>
          </a:xfrm>
          <a:prstGeom prst="rect">
            <a:avLst/>
          </a:prstGeom>
          <a:noFill/>
          <a:ln/>
        </p:spPr>
        <p:txBody>
          <a:bodyPr wrap="square" lIns="0" tIns="0" rIns="0" bIns="0" rtlCol="0" anchor="ctr">
            <a:normAutofit/>
          </a:bodyPr>
          <a:lstStyle/>
          <a:p>
            <a:pPr indent="0" marL="0">
              <a:buNone/>
            </a:pPr>
            <a:r>
              <a:rPr lang="en-US" sz="1300" b="1" dirty="0">
                <a:solidFill>
                  <a:srgbClr val="475569"/>
                </a:solidFill>
                <a:latin typeface="Calibri" pitchFamily="34" charset="0"/>
                <a:ea typeface="Calibri" pitchFamily="34" charset="-122"/>
                <a:cs typeface="Calibri" pitchFamily="34" charset="-120"/>
              </a:rPr>
              <a:t>core papers</a:t>
            </a:r>
            <a:endParaRPr lang="en-US" sz="1300" dirty="0"/>
          </a:p>
        </p:txBody>
      </p:sp>
      <p:sp>
        <p:nvSpPr>
          <p:cNvPr id="8" name="Text 6"/>
          <p:cNvSpPr/>
          <p:nvPr/>
        </p:nvSpPr>
        <p:spPr>
          <a:xfrm>
            <a:off x="841248" y="2432304"/>
            <a:ext cx="2203704" cy="146304"/>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Calibri" pitchFamily="34" charset="0"/>
                <a:ea typeface="Calibri" pitchFamily="34" charset="-122"/>
                <a:cs typeface="Calibri" pitchFamily="34" charset="-120"/>
              </a:rPr>
              <a:t>across three evidence clusters</a:t>
            </a:r>
            <a:endParaRPr lang="en-US" sz="850" dirty="0"/>
          </a:p>
        </p:txBody>
      </p:sp>
      <p:sp>
        <p:nvSpPr>
          <p:cNvPr id="9" name="Shape 7"/>
          <p:cNvSpPr/>
          <p:nvPr/>
        </p:nvSpPr>
        <p:spPr>
          <a:xfrm>
            <a:off x="3456432" y="1261872"/>
            <a:ext cx="2606040" cy="1417320"/>
          </a:xfrm>
          <a:prstGeom prst="roundRect">
            <a:avLst>
              <a:gd name="adj" fmla="val 5161"/>
            </a:avLst>
          </a:prstGeom>
          <a:solidFill>
            <a:srgbClr val="FFFFFF"/>
          </a:solidFill>
          <a:ln w="12700">
            <a:solidFill>
              <a:srgbClr val="E2E8F0"/>
            </a:solidFill>
            <a:prstDash val="solid"/>
          </a:ln>
        </p:spPr>
      </p:sp>
      <p:sp>
        <p:nvSpPr>
          <p:cNvPr id="10" name="Shape 8"/>
          <p:cNvSpPr/>
          <p:nvPr/>
        </p:nvSpPr>
        <p:spPr>
          <a:xfrm>
            <a:off x="3657600" y="1481328"/>
            <a:ext cx="292608" cy="292608"/>
          </a:xfrm>
          <a:prstGeom prst="ellipse">
            <a:avLst/>
          </a:prstGeom>
          <a:solidFill>
            <a:srgbClr val="2563EB"/>
          </a:solidFill>
          <a:ln w="12700">
            <a:solidFill>
              <a:srgbClr val="2563EB"/>
            </a:solidFill>
            <a:prstDash val="solid"/>
          </a:ln>
        </p:spPr>
      </p:sp>
      <p:sp>
        <p:nvSpPr>
          <p:cNvPr id="11" name="Text 9"/>
          <p:cNvSpPr/>
          <p:nvPr/>
        </p:nvSpPr>
        <p:spPr>
          <a:xfrm>
            <a:off x="3657600" y="1746504"/>
            <a:ext cx="2203704" cy="438912"/>
          </a:xfrm>
          <a:prstGeom prst="rect">
            <a:avLst/>
          </a:prstGeom>
          <a:noFill/>
          <a:ln/>
        </p:spPr>
        <p:txBody>
          <a:bodyPr wrap="square" lIns="0" tIns="0" rIns="0" bIns="0" rtlCol="0" anchor="ctr">
            <a:normAutofit/>
          </a:bodyPr>
          <a:lstStyle/>
          <a:p>
            <a:pPr indent="0" marL="0">
              <a:buNone/>
            </a:pPr>
            <a:r>
              <a:rPr lang="en-US" sz="2800" b="1" dirty="0">
                <a:solidFill>
                  <a:srgbClr val="172033"/>
                </a:solidFill>
                <a:latin typeface="Cambria" pitchFamily="34" charset="0"/>
                <a:ea typeface="Cambria" pitchFamily="34" charset="-122"/>
                <a:cs typeface="Cambria" pitchFamily="34" charset="-120"/>
              </a:rPr>
              <a:t>9,990</a:t>
            </a:r>
            <a:endParaRPr lang="en-US" sz="2800" dirty="0"/>
          </a:p>
        </p:txBody>
      </p:sp>
      <p:sp>
        <p:nvSpPr>
          <p:cNvPr id="12" name="Text 10"/>
          <p:cNvSpPr/>
          <p:nvPr/>
        </p:nvSpPr>
        <p:spPr>
          <a:xfrm>
            <a:off x="3657600" y="2194560"/>
            <a:ext cx="2203704" cy="219456"/>
          </a:xfrm>
          <a:prstGeom prst="rect">
            <a:avLst/>
          </a:prstGeom>
          <a:noFill/>
          <a:ln/>
        </p:spPr>
        <p:txBody>
          <a:bodyPr wrap="square" lIns="0" tIns="0" rIns="0" bIns="0" rtlCol="0" anchor="ctr">
            <a:normAutofit/>
          </a:bodyPr>
          <a:lstStyle/>
          <a:p>
            <a:pPr indent="0" marL="0">
              <a:buNone/>
            </a:pPr>
            <a:r>
              <a:rPr lang="en-US" sz="1300" b="1" dirty="0">
                <a:solidFill>
                  <a:srgbClr val="475569"/>
                </a:solidFill>
                <a:latin typeface="Calibri" pitchFamily="34" charset="0"/>
                <a:ea typeface="Calibri" pitchFamily="34" charset="-122"/>
                <a:cs typeface="Calibri" pitchFamily="34" charset="-120"/>
              </a:rPr>
              <a:t>labeled reviews</a:t>
            </a:r>
            <a:endParaRPr lang="en-US" sz="1300" dirty="0"/>
          </a:p>
        </p:txBody>
      </p:sp>
      <p:sp>
        <p:nvSpPr>
          <p:cNvPr id="13" name="Text 11"/>
          <p:cNvSpPr/>
          <p:nvPr/>
        </p:nvSpPr>
        <p:spPr>
          <a:xfrm>
            <a:off x="3657600" y="2432304"/>
            <a:ext cx="2203704" cy="146304"/>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Calibri" pitchFamily="34" charset="0"/>
                <a:ea typeface="Calibri" pitchFamily="34" charset="-122"/>
                <a:cs typeface="Calibri" pitchFamily="34" charset="-120"/>
              </a:rPr>
              <a:t>TripAdvisor English subset</a:t>
            </a:r>
            <a:endParaRPr lang="en-US" sz="850" dirty="0"/>
          </a:p>
        </p:txBody>
      </p:sp>
      <p:sp>
        <p:nvSpPr>
          <p:cNvPr id="14" name="Shape 12"/>
          <p:cNvSpPr/>
          <p:nvPr/>
        </p:nvSpPr>
        <p:spPr>
          <a:xfrm>
            <a:off x="6281928" y="1261872"/>
            <a:ext cx="2606040" cy="1417320"/>
          </a:xfrm>
          <a:prstGeom prst="roundRect">
            <a:avLst>
              <a:gd name="adj" fmla="val 5161"/>
            </a:avLst>
          </a:prstGeom>
          <a:solidFill>
            <a:srgbClr val="FFFFFF"/>
          </a:solidFill>
          <a:ln w="12700">
            <a:solidFill>
              <a:srgbClr val="E2E8F0"/>
            </a:solidFill>
            <a:prstDash val="solid"/>
          </a:ln>
        </p:spPr>
      </p:sp>
      <p:sp>
        <p:nvSpPr>
          <p:cNvPr id="15" name="Shape 13"/>
          <p:cNvSpPr/>
          <p:nvPr/>
        </p:nvSpPr>
        <p:spPr>
          <a:xfrm>
            <a:off x="6483096" y="1481328"/>
            <a:ext cx="292608" cy="292608"/>
          </a:xfrm>
          <a:prstGeom prst="ellipse">
            <a:avLst/>
          </a:prstGeom>
          <a:solidFill>
            <a:srgbClr val="E11D48"/>
          </a:solidFill>
          <a:ln w="12700">
            <a:solidFill>
              <a:srgbClr val="E11D48"/>
            </a:solidFill>
            <a:prstDash val="solid"/>
          </a:ln>
        </p:spPr>
      </p:sp>
      <p:sp>
        <p:nvSpPr>
          <p:cNvPr id="16" name="Text 14"/>
          <p:cNvSpPr/>
          <p:nvPr/>
        </p:nvSpPr>
        <p:spPr>
          <a:xfrm>
            <a:off x="6483096" y="1746504"/>
            <a:ext cx="2203704" cy="438912"/>
          </a:xfrm>
          <a:prstGeom prst="rect">
            <a:avLst/>
          </a:prstGeom>
          <a:noFill/>
          <a:ln/>
        </p:spPr>
        <p:txBody>
          <a:bodyPr wrap="square" lIns="0" tIns="0" rIns="0" bIns="0" rtlCol="0" anchor="ctr">
            <a:normAutofit/>
          </a:bodyPr>
          <a:lstStyle/>
          <a:p>
            <a:pPr indent="0" marL="0">
              <a:buNone/>
            </a:pPr>
            <a:r>
              <a:rPr lang="en-US" sz="2800" b="1" dirty="0">
                <a:solidFill>
                  <a:srgbClr val="172033"/>
                </a:solidFill>
                <a:latin typeface="Cambria" pitchFamily="34" charset="0"/>
                <a:ea typeface="Cambria" pitchFamily="34" charset="-122"/>
                <a:cs typeface="Cambria" pitchFamily="34" charset="-120"/>
              </a:rPr>
              <a:t>404</a:t>
            </a:r>
            <a:endParaRPr lang="en-US" sz="2800" dirty="0"/>
          </a:p>
        </p:txBody>
      </p:sp>
      <p:sp>
        <p:nvSpPr>
          <p:cNvPr id="17" name="Text 15"/>
          <p:cNvSpPr/>
          <p:nvPr/>
        </p:nvSpPr>
        <p:spPr>
          <a:xfrm>
            <a:off x="6483096" y="2194560"/>
            <a:ext cx="2203704" cy="219456"/>
          </a:xfrm>
          <a:prstGeom prst="rect">
            <a:avLst/>
          </a:prstGeom>
          <a:noFill/>
          <a:ln/>
        </p:spPr>
        <p:txBody>
          <a:bodyPr wrap="square" lIns="0" tIns="0" rIns="0" bIns="0" rtlCol="0" anchor="ctr">
            <a:normAutofit/>
          </a:bodyPr>
          <a:lstStyle/>
          <a:p>
            <a:pPr indent="0" marL="0">
              <a:buNone/>
            </a:pPr>
            <a:r>
              <a:rPr lang="en-US" sz="1300" b="1" dirty="0">
                <a:solidFill>
                  <a:srgbClr val="475569"/>
                </a:solidFill>
                <a:latin typeface="Calibri" pitchFamily="34" charset="0"/>
                <a:ea typeface="Calibri" pitchFamily="34" charset="-122"/>
                <a:cs typeface="Calibri" pitchFamily="34" charset="-120"/>
              </a:rPr>
              <a:t>5-star + negative span</a:t>
            </a:r>
            <a:endParaRPr lang="en-US" sz="1300" dirty="0"/>
          </a:p>
        </p:txBody>
      </p:sp>
      <p:sp>
        <p:nvSpPr>
          <p:cNvPr id="18" name="Text 16"/>
          <p:cNvSpPr/>
          <p:nvPr/>
        </p:nvSpPr>
        <p:spPr>
          <a:xfrm>
            <a:off x="6483096" y="2432304"/>
            <a:ext cx="2203704" cy="146304"/>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Calibri" pitchFamily="34" charset="0"/>
                <a:ea typeface="Calibri" pitchFamily="34" charset="-122"/>
                <a:cs typeface="Calibri" pitchFamily="34" charset="-120"/>
              </a:rPr>
              <a:t>candidate cases, not confirmed</a:t>
            </a:r>
            <a:endParaRPr lang="en-US" sz="850" dirty="0"/>
          </a:p>
        </p:txBody>
      </p:sp>
      <p:sp>
        <p:nvSpPr>
          <p:cNvPr id="19" name="Shape 17"/>
          <p:cNvSpPr/>
          <p:nvPr/>
        </p:nvSpPr>
        <p:spPr>
          <a:xfrm>
            <a:off x="9098280" y="1261872"/>
            <a:ext cx="2450592" cy="1417320"/>
          </a:xfrm>
          <a:prstGeom prst="roundRect">
            <a:avLst>
              <a:gd name="adj" fmla="val 5161"/>
            </a:avLst>
          </a:prstGeom>
          <a:solidFill>
            <a:srgbClr val="FFFFFF"/>
          </a:solidFill>
          <a:ln w="12700">
            <a:solidFill>
              <a:srgbClr val="E2E8F0"/>
            </a:solidFill>
            <a:prstDash val="solid"/>
          </a:ln>
        </p:spPr>
      </p:sp>
      <p:sp>
        <p:nvSpPr>
          <p:cNvPr id="20" name="Shape 18"/>
          <p:cNvSpPr/>
          <p:nvPr/>
        </p:nvSpPr>
        <p:spPr>
          <a:xfrm>
            <a:off x="9299448" y="1481328"/>
            <a:ext cx="292608" cy="292608"/>
          </a:xfrm>
          <a:prstGeom prst="ellipse">
            <a:avLst/>
          </a:prstGeom>
          <a:solidFill>
            <a:srgbClr val="F59E0B"/>
          </a:solidFill>
          <a:ln w="12700">
            <a:solidFill>
              <a:srgbClr val="F59E0B"/>
            </a:solidFill>
            <a:prstDash val="solid"/>
          </a:ln>
        </p:spPr>
      </p:sp>
      <p:sp>
        <p:nvSpPr>
          <p:cNvPr id="21" name="Text 19"/>
          <p:cNvSpPr/>
          <p:nvPr/>
        </p:nvSpPr>
        <p:spPr>
          <a:xfrm>
            <a:off x="9299448" y="1746504"/>
            <a:ext cx="2048256" cy="438912"/>
          </a:xfrm>
          <a:prstGeom prst="rect">
            <a:avLst/>
          </a:prstGeom>
          <a:noFill/>
          <a:ln/>
        </p:spPr>
        <p:txBody>
          <a:bodyPr wrap="square" lIns="0" tIns="0" rIns="0" bIns="0" rtlCol="0" anchor="ctr">
            <a:normAutofit/>
          </a:bodyPr>
          <a:lstStyle/>
          <a:p>
            <a:pPr indent="0" marL="0">
              <a:buNone/>
            </a:pPr>
            <a:r>
              <a:rPr lang="en-US" sz="2800" b="1" dirty="0">
                <a:solidFill>
                  <a:srgbClr val="172033"/>
                </a:solidFill>
                <a:latin typeface="Cambria" pitchFamily="34" charset="0"/>
                <a:ea typeface="Cambria" pitchFamily="34" charset="-122"/>
                <a:cs typeface="Cambria" pitchFamily="34" charset="-120"/>
              </a:rPr>
              <a:t>199</a:t>
            </a:r>
            <a:endParaRPr lang="en-US" sz="2800" dirty="0"/>
          </a:p>
        </p:txBody>
      </p:sp>
      <p:sp>
        <p:nvSpPr>
          <p:cNvPr id="22" name="Text 20"/>
          <p:cNvSpPr/>
          <p:nvPr/>
        </p:nvSpPr>
        <p:spPr>
          <a:xfrm>
            <a:off x="9299448" y="2194560"/>
            <a:ext cx="2048256" cy="219456"/>
          </a:xfrm>
          <a:prstGeom prst="rect">
            <a:avLst/>
          </a:prstGeom>
          <a:noFill/>
          <a:ln/>
        </p:spPr>
        <p:txBody>
          <a:bodyPr wrap="square" lIns="0" tIns="0" rIns="0" bIns="0" rtlCol="0" anchor="ctr">
            <a:normAutofit/>
          </a:bodyPr>
          <a:lstStyle/>
          <a:p>
            <a:pPr indent="0" marL="0">
              <a:buNone/>
            </a:pPr>
            <a:r>
              <a:rPr lang="en-US" sz="1300" b="1" dirty="0">
                <a:solidFill>
                  <a:srgbClr val="475569"/>
                </a:solidFill>
                <a:latin typeface="Calibri" pitchFamily="34" charset="0"/>
                <a:ea typeface="Calibri" pitchFamily="34" charset="-122"/>
                <a:cs typeface="Calibri" pitchFamily="34" charset="-120"/>
              </a:rPr>
              <a:t>1–2 star + positive span</a:t>
            </a:r>
            <a:endParaRPr lang="en-US" sz="1300" dirty="0"/>
          </a:p>
        </p:txBody>
      </p:sp>
      <p:sp>
        <p:nvSpPr>
          <p:cNvPr id="23" name="Text 21"/>
          <p:cNvSpPr/>
          <p:nvPr/>
        </p:nvSpPr>
        <p:spPr>
          <a:xfrm>
            <a:off x="9299448" y="2432304"/>
            <a:ext cx="2048256" cy="146304"/>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Calibri" pitchFamily="34" charset="0"/>
                <a:ea typeface="Calibri" pitchFamily="34" charset="-122"/>
                <a:cs typeface="Calibri" pitchFamily="34" charset="-120"/>
              </a:rPr>
              <a:t>mirror candidates</a:t>
            </a:r>
            <a:endParaRPr lang="en-US" sz="850" dirty="0"/>
          </a:p>
        </p:txBody>
      </p:sp>
      <p:sp>
        <p:nvSpPr>
          <p:cNvPr id="24" name="Text 22"/>
          <p:cNvSpPr/>
          <p:nvPr/>
        </p:nvSpPr>
        <p:spPr>
          <a:xfrm>
            <a:off x="658368" y="3200400"/>
            <a:ext cx="1234440" cy="274320"/>
          </a:xfrm>
          <a:prstGeom prst="rect">
            <a:avLst/>
          </a:prstGeom>
          <a:noFill/>
          <a:ln/>
        </p:spPr>
        <p:txBody>
          <a:bodyPr wrap="square" lIns="0" tIns="0" rIns="0" bIns="0" rtlCol="0" anchor="ctr"/>
          <a:lstStyle/>
          <a:p>
            <a:pPr indent="0" marL="0">
              <a:buNone/>
            </a:pPr>
            <a:r>
              <a:rPr lang="en-US" sz="1400" b="1" dirty="0">
                <a:solidFill>
                  <a:srgbClr val="15803D"/>
                </a:solidFill>
                <a:latin typeface="Calibri" pitchFamily="34" charset="0"/>
                <a:ea typeface="Calibri" pitchFamily="34" charset="-122"/>
                <a:cs typeface="Calibri" pitchFamily="34" charset="-120"/>
              </a:rPr>
              <a:t>Completed</a:t>
            </a:r>
            <a:endParaRPr lang="en-US" sz="1400" dirty="0"/>
          </a:p>
        </p:txBody>
      </p:sp>
      <p:sp>
        <p:nvSpPr>
          <p:cNvPr id="25" name="Text 23"/>
          <p:cNvSpPr/>
          <p:nvPr/>
        </p:nvSpPr>
        <p:spPr>
          <a:xfrm>
            <a:off x="6528816" y="3200400"/>
            <a:ext cx="1371600" cy="274320"/>
          </a:xfrm>
          <a:prstGeom prst="rect">
            <a:avLst/>
          </a:prstGeom>
          <a:noFill/>
          <a:ln/>
        </p:spPr>
        <p:txBody>
          <a:bodyPr wrap="square" lIns="0" tIns="0" rIns="0" bIns="0" rtlCol="0" anchor="ctr"/>
          <a:lstStyle/>
          <a:p>
            <a:pPr indent="0" marL="0">
              <a:buNone/>
            </a:pPr>
            <a:r>
              <a:rPr lang="en-US" sz="1400" b="1" dirty="0">
                <a:solidFill>
                  <a:srgbClr val="D97706"/>
                </a:solidFill>
                <a:latin typeface="Calibri" pitchFamily="34" charset="0"/>
                <a:ea typeface="Calibri" pitchFamily="34" charset="-122"/>
                <a:cs typeface="Calibri" pitchFamily="34" charset="-120"/>
              </a:rPr>
              <a:t>Current gate</a:t>
            </a:r>
            <a:endParaRPr lang="en-US" sz="1400" dirty="0"/>
          </a:p>
        </p:txBody>
      </p:sp>
      <p:sp>
        <p:nvSpPr>
          <p:cNvPr id="26" name="Shape 24"/>
          <p:cNvSpPr/>
          <p:nvPr/>
        </p:nvSpPr>
        <p:spPr>
          <a:xfrm>
            <a:off x="658368" y="3794760"/>
            <a:ext cx="530352" cy="530352"/>
          </a:xfrm>
          <a:prstGeom prst="ellipse">
            <a:avLst/>
          </a:prstGeom>
          <a:solidFill>
            <a:srgbClr val="0F766E"/>
          </a:solidFill>
          <a:ln w="12700">
            <a:solidFill>
              <a:srgbClr val="0F766E"/>
            </a:solidFill>
            <a:prstDash val="solid"/>
          </a:ln>
        </p:spPr>
      </p:sp>
      <p:sp>
        <p:nvSpPr>
          <p:cNvPr id="27" name="Text 25"/>
          <p:cNvSpPr/>
          <p:nvPr/>
        </p:nvSpPr>
        <p:spPr>
          <a:xfrm>
            <a:off x="658368" y="3922776"/>
            <a:ext cx="530352"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8" name="Shape 26"/>
          <p:cNvSpPr/>
          <p:nvPr/>
        </p:nvSpPr>
        <p:spPr>
          <a:xfrm>
            <a:off x="1225296" y="4059936"/>
            <a:ext cx="1481328" cy="0"/>
          </a:xfrm>
          <a:prstGeom prst="line">
            <a:avLst/>
          </a:prstGeom>
          <a:noFill/>
          <a:ln w="38100">
            <a:solidFill>
              <a:srgbClr val="14B8A6"/>
            </a:solidFill>
            <a:prstDash val="solid"/>
            <a:tailEnd type="triangle"/>
          </a:ln>
        </p:spPr>
      </p:sp>
      <p:sp>
        <p:nvSpPr>
          <p:cNvPr id="29" name="Text 27"/>
          <p:cNvSpPr/>
          <p:nvPr/>
        </p:nvSpPr>
        <p:spPr>
          <a:xfrm>
            <a:off x="429768" y="4507992"/>
            <a:ext cx="1005840" cy="219456"/>
          </a:xfrm>
          <a:prstGeom prst="rect">
            <a:avLst/>
          </a:prstGeom>
          <a:noFill/>
          <a:ln/>
        </p:spPr>
        <p:txBody>
          <a:bodyPr wrap="square" lIns="0" tIns="0" rIns="0" bIns="0" rtlCol="0" anchor="ctr"/>
          <a:lstStyle/>
          <a:p>
            <a:pPr algn="ctr" indent="0" marL="0">
              <a:buNone/>
            </a:pPr>
            <a:r>
              <a:rPr lang="en-US" sz="1300" b="1" dirty="0">
                <a:solidFill>
                  <a:srgbClr val="172033"/>
                </a:solidFill>
                <a:latin typeface="Calibri" pitchFamily="34" charset="0"/>
                <a:ea typeface="Calibri" pitchFamily="34" charset="-122"/>
                <a:cs typeface="Calibri" pitchFamily="34" charset="-120"/>
              </a:rPr>
              <a:t>Survey</a:t>
            </a:r>
            <a:endParaRPr lang="en-US" sz="1300" dirty="0"/>
          </a:p>
        </p:txBody>
      </p:sp>
      <p:sp>
        <p:nvSpPr>
          <p:cNvPr id="30" name="Text 28"/>
          <p:cNvSpPr/>
          <p:nvPr/>
        </p:nvSpPr>
        <p:spPr>
          <a:xfrm>
            <a:off x="274320" y="4773168"/>
            <a:ext cx="1325880" cy="201168"/>
          </a:xfrm>
          <a:prstGeom prst="rect">
            <a:avLst/>
          </a:prstGeom>
          <a:noFill/>
          <a:ln/>
        </p:spPr>
        <p:txBody>
          <a:bodyPr wrap="square" lIns="0" tIns="0" rIns="0" bIns="0" rtlCol="0" anchor="ctr">
            <a:normAutofit/>
          </a:bodyPr>
          <a:lstStyle/>
          <a:p>
            <a:pPr algn="ctr" indent="0" marL="0">
              <a:buNone/>
            </a:pPr>
            <a:r>
              <a:rPr lang="en-US" sz="1000" dirty="0">
                <a:solidFill>
                  <a:srgbClr val="64748B"/>
                </a:solidFill>
                <a:latin typeface="Calibri" pitchFamily="34" charset="0"/>
                <a:ea typeface="Calibri" pitchFamily="34" charset="-122"/>
                <a:cs typeface="Calibri" pitchFamily="34" charset="-120"/>
              </a:rPr>
              <a:t>2 rounds</a:t>
            </a:r>
            <a:endParaRPr lang="en-US" sz="1000" dirty="0"/>
          </a:p>
        </p:txBody>
      </p:sp>
      <p:sp>
        <p:nvSpPr>
          <p:cNvPr id="31" name="Shape 29"/>
          <p:cNvSpPr/>
          <p:nvPr/>
        </p:nvSpPr>
        <p:spPr>
          <a:xfrm>
            <a:off x="2743200" y="3794760"/>
            <a:ext cx="530352" cy="530352"/>
          </a:xfrm>
          <a:prstGeom prst="ellipse">
            <a:avLst/>
          </a:prstGeom>
          <a:solidFill>
            <a:srgbClr val="0F766E"/>
          </a:solidFill>
          <a:ln w="12700">
            <a:solidFill>
              <a:srgbClr val="0F766E"/>
            </a:solidFill>
            <a:prstDash val="solid"/>
          </a:ln>
        </p:spPr>
      </p:sp>
      <p:sp>
        <p:nvSpPr>
          <p:cNvPr id="32" name="Text 30"/>
          <p:cNvSpPr/>
          <p:nvPr/>
        </p:nvSpPr>
        <p:spPr>
          <a:xfrm>
            <a:off x="2743200" y="3922776"/>
            <a:ext cx="530352"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3" name="Shape 31"/>
          <p:cNvSpPr/>
          <p:nvPr/>
        </p:nvSpPr>
        <p:spPr>
          <a:xfrm>
            <a:off x="3310128" y="4059936"/>
            <a:ext cx="1481328" cy="0"/>
          </a:xfrm>
          <a:prstGeom prst="line">
            <a:avLst/>
          </a:prstGeom>
          <a:noFill/>
          <a:ln w="38100">
            <a:solidFill>
              <a:srgbClr val="14B8A6"/>
            </a:solidFill>
            <a:prstDash val="solid"/>
            <a:tailEnd type="triangle"/>
          </a:ln>
        </p:spPr>
      </p:sp>
      <p:sp>
        <p:nvSpPr>
          <p:cNvPr id="34" name="Text 32"/>
          <p:cNvSpPr/>
          <p:nvPr/>
        </p:nvSpPr>
        <p:spPr>
          <a:xfrm>
            <a:off x="2514600" y="4507992"/>
            <a:ext cx="1005840" cy="219456"/>
          </a:xfrm>
          <a:prstGeom prst="rect">
            <a:avLst/>
          </a:prstGeom>
          <a:noFill/>
          <a:ln/>
        </p:spPr>
        <p:txBody>
          <a:bodyPr wrap="square" lIns="0" tIns="0" rIns="0" bIns="0" rtlCol="0" anchor="ctr"/>
          <a:lstStyle/>
          <a:p>
            <a:pPr algn="ctr" indent="0" marL="0">
              <a:buNone/>
            </a:pPr>
            <a:r>
              <a:rPr lang="en-US" sz="1300" b="1" dirty="0">
                <a:solidFill>
                  <a:srgbClr val="172033"/>
                </a:solidFill>
                <a:latin typeface="Calibri" pitchFamily="34" charset="0"/>
                <a:ea typeface="Calibri" pitchFamily="34" charset="-122"/>
                <a:cs typeface="Calibri" pitchFamily="34" charset="-120"/>
              </a:rPr>
              <a:t>Gap</a:t>
            </a:r>
            <a:endParaRPr lang="en-US" sz="1300" dirty="0"/>
          </a:p>
        </p:txBody>
      </p:sp>
      <p:sp>
        <p:nvSpPr>
          <p:cNvPr id="35" name="Text 33"/>
          <p:cNvSpPr/>
          <p:nvPr/>
        </p:nvSpPr>
        <p:spPr>
          <a:xfrm>
            <a:off x="2359152" y="4773168"/>
            <a:ext cx="1325880" cy="201168"/>
          </a:xfrm>
          <a:prstGeom prst="rect">
            <a:avLst/>
          </a:prstGeom>
          <a:noFill/>
          <a:ln/>
        </p:spPr>
        <p:txBody>
          <a:bodyPr wrap="square" lIns="0" tIns="0" rIns="0" bIns="0" rtlCol="0" anchor="ctr">
            <a:normAutofit/>
          </a:bodyPr>
          <a:lstStyle/>
          <a:p>
            <a:pPr algn="ctr" indent="0" marL="0">
              <a:buNone/>
            </a:pPr>
            <a:r>
              <a:rPr lang="en-US" sz="1000" dirty="0">
                <a:solidFill>
                  <a:srgbClr val="64748B"/>
                </a:solidFill>
                <a:latin typeface="Calibri" pitchFamily="34" charset="0"/>
                <a:ea typeface="Calibri" pitchFamily="34" charset="-122"/>
                <a:cs typeface="Calibri" pitchFamily="34" charset="-120"/>
              </a:rPr>
              <a:t>defined</a:t>
            </a:r>
            <a:endParaRPr lang="en-US" sz="1000" dirty="0"/>
          </a:p>
        </p:txBody>
      </p:sp>
      <p:sp>
        <p:nvSpPr>
          <p:cNvPr id="36" name="Shape 34"/>
          <p:cNvSpPr/>
          <p:nvPr/>
        </p:nvSpPr>
        <p:spPr>
          <a:xfrm>
            <a:off x="4828032" y="3794760"/>
            <a:ext cx="530352" cy="530352"/>
          </a:xfrm>
          <a:prstGeom prst="ellipse">
            <a:avLst/>
          </a:prstGeom>
          <a:solidFill>
            <a:srgbClr val="0F766E"/>
          </a:solidFill>
          <a:ln w="12700">
            <a:solidFill>
              <a:srgbClr val="0F766E"/>
            </a:solidFill>
            <a:prstDash val="solid"/>
          </a:ln>
        </p:spPr>
      </p:sp>
      <p:sp>
        <p:nvSpPr>
          <p:cNvPr id="37" name="Text 35"/>
          <p:cNvSpPr/>
          <p:nvPr/>
        </p:nvSpPr>
        <p:spPr>
          <a:xfrm>
            <a:off x="4828032" y="3922776"/>
            <a:ext cx="530352"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8" name="Shape 36"/>
          <p:cNvSpPr/>
          <p:nvPr/>
        </p:nvSpPr>
        <p:spPr>
          <a:xfrm>
            <a:off x="5394960" y="4059936"/>
            <a:ext cx="1481328" cy="0"/>
          </a:xfrm>
          <a:prstGeom prst="line">
            <a:avLst/>
          </a:prstGeom>
          <a:noFill/>
          <a:ln w="38100">
            <a:solidFill>
              <a:srgbClr val="14B8A6"/>
            </a:solidFill>
            <a:prstDash val="solid"/>
            <a:tailEnd type="triangle"/>
          </a:ln>
        </p:spPr>
      </p:sp>
      <p:sp>
        <p:nvSpPr>
          <p:cNvPr id="39" name="Text 37"/>
          <p:cNvSpPr/>
          <p:nvPr/>
        </p:nvSpPr>
        <p:spPr>
          <a:xfrm>
            <a:off x="4599432" y="4507992"/>
            <a:ext cx="1005840" cy="219456"/>
          </a:xfrm>
          <a:prstGeom prst="rect">
            <a:avLst/>
          </a:prstGeom>
          <a:noFill/>
          <a:ln/>
        </p:spPr>
        <p:txBody>
          <a:bodyPr wrap="square" lIns="0" tIns="0" rIns="0" bIns="0" rtlCol="0" anchor="ctr"/>
          <a:lstStyle/>
          <a:p>
            <a:pPr algn="ctr" indent="0" marL="0">
              <a:buNone/>
            </a:pPr>
            <a:r>
              <a:rPr lang="en-US" sz="1300" b="1" dirty="0">
                <a:solidFill>
                  <a:srgbClr val="172033"/>
                </a:solidFill>
                <a:latin typeface="Calibri" pitchFamily="34" charset="0"/>
                <a:ea typeface="Calibri" pitchFamily="34" charset="-122"/>
                <a:cs typeface="Calibri" pitchFamily="34" charset="-120"/>
              </a:rPr>
              <a:t>Protocol</a:t>
            </a:r>
            <a:endParaRPr lang="en-US" sz="1300" dirty="0"/>
          </a:p>
        </p:txBody>
      </p:sp>
      <p:sp>
        <p:nvSpPr>
          <p:cNvPr id="40" name="Text 38"/>
          <p:cNvSpPr/>
          <p:nvPr/>
        </p:nvSpPr>
        <p:spPr>
          <a:xfrm>
            <a:off x="4443984" y="4773168"/>
            <a:ext cx="1325880" cy="201168"/>
          </a:xfrm>
          <a:prstGeom prst="rect">
            <a:avLst/>
          </a:prstGeom>
          <a:noFill/>
          <a:ln/>
        </p:spPr>
        <p:txBody>
          <a:bodyPr wrap="square" lIns="0" tIns="0" rIns="0" bIns="0" rtlCol="0" anchor="ctr">
            <a:normAutofit/>
          </a:bodyPr>
          <a:lstStyle/>
          <a:p>
            <a:pPr algn="ctr" indent="0" marL="0">
              <a:buNone/>
            </a:pPr>
            <a:r>
              <a:rPr lang="en-US" sz="1000" dirty="0">
                <a:solidFill>
                  <a:srgbClr val="64748B"/>
                </a:solidFill>
                <a:latin typeface="Calibri" pitchFamily="34" charset="0"/>
                <a:ea typeface="Calibri" pitchFamily="34" charset="-122"/>
                <a:cs typeface="Calibri" pitchFamily="34" charset="-120"/>
              </a:rPr>
              <a:t>documented</a:t>
            </a:r>
            <a:endParaRPr lang="en-US" sz="1000" dirty="0"/>
          </a:p>
        </p:txBody>
      </p:sp>
      <p:sp>
        <p:nvSpPr>
          <p:cNvPr id="41" name="Shape 39"/>
          <p:cNvSpPr/>
          <p:nvPr/>
        </p:nvSpPr>
        <p:spPr>
          <a:xfrm>
            <a:off x="6912864" y="3794760"/>
            <a:ext cx="530352" cy="530352"/>
          </a:xfrm>
          <a:prstGeom prst="ellipse">
            <a:avLst/>
          </a:prstGeom>
          <a:solidFill>
            <a:srgbClr val="D97706"/>
          </a:solidFill>
          <a:ln w="12700">
            <a:solidFill>
              <a:srgbClr val="D97706"/>
            </a:solidFill>
            <a:prstDash val="solid"/>
          </a:ln>
        </p:spPr>
      </p:sp>
      <p:sp>
        <p:nvSpPr>
          <p:cNvPr id="42" name="Text 40"/>
          <p:cNvSpPr/>
          <p:nvPr/>
        </p:nvSpPr>
        <p:spPr>
          <a:xfrm>
            <a:off x="6912864" y="3922776"/>
            <a:ext cx="530352"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3" name="Shape 41"/>
          <p:cNvSpPr/>
          <p:nvPr/>
        </p:nvSpPr>
        <p:spPr>
          <a:xfrm>
            <a:off x="7479792" y="4059936"/>
            <a:ext cx="1481328" cy="0"/>
          </a:xfrm>
          <a:prstGeom prst="line">
            <a:avLst/>
          </a:prstGeom>
          <a:noFill/>
          <a:ln w="38100">
            <a:solidFill>
              <a:srgbClr val="CBD5E1"/>
            </a:solidFill>
            <a:prstDash val="solid"/>
            <a:tailEnd type="triangle"/>
          </a:ln>
        </p:spPr>
      </p:sp>
      <p:sp>
        <p:nvSpPr>
          <p:cNvPr id="44" name="Text 42"/>
          <p:cNvSpPr/>
          <p:nvPr/>
        </p:nvSpPr>
        <p:spPr>
          <a:xfrm>
            <a:off x="6684264" y="4507992"/>
            <a:ext cx="1005840" cy="219456"/>
          </a:xfrm>
          <a:prstGeom prst="rect">
            <a:avLst/>
          </a:prstGeom>
          <a:noFill/>
          <a:ln/>
        </p:spPr>
        <p:txBody>
          <a:bodyPr wrap="square" lIns="0" tIns="0" rIns="0" bIns="0" rtlCol="0" anchor="ctr"/>
          <a:lstStyle/>
          <a:p>
            <a:pPr algn="ctr" indent="0" marL="0">
              <a:buNone/>
            </a:pPr>
            <a:r>
              <a:rPr lang="en-US" sz="1300" b="1" dirty="0">
                <a:solidFill>
                  <a:srgbClr val="172033"/>
                </a:solidFill>
                <a:latin typeface="Calibri" pitchFamily="34" charset="0"/>
                <a:ea typeface="Calibri" pitchFamily="34" charset="-122"/>
                <a:cs typeface="Calibri" pitchFamily="34" charset="-120"/>
              </a:rPr>
              <a:t>Validation</a:t>
            </a:r>
            <a:endParaRPr lang="en-US" sz="1300" dirty="0"/>
          </a:p>
        </p:txBody>
      </p:sp>
      <p:sp>
        <p:nvSpPr>
          <p:cNvPr id="45" name="Text 43"/>
          <p:cNvSpPr/>
          <p:nvPr/>
        </p:nvSpPr>
        <p:spPr>
          <a:xfrm>
            <a:off x="6528816" y="4773168"/>
            <a:ext cx="1325880" cy="201168"/>
          </a:xfrm>
          <a:prstGeom prst="rect">
            <a:avLst/>
          </a:prstGeom>
          <a:noFill/>
          <a:ln/>
        </p:spPr>
        <p:txBody>
          <a:bodyPr wrap="square" lIns="0" tIns="0" rIns="0" bIns="0" rtlCol="0" anchor="ctr">
            <a:normAutofit/>
          </a:bodyPr>
          <a:lstStyle/>
          <a:p>
            <a:pPr algn="ctr" indent="0" marL="0">
              <a:buNone/>
            </a:pPr>
            <a:r>
              <a:rPr lang="en-US" sz="1000" dirty="0">
                <a:solidFill>
                  <a:srgbClr val="64748B"/>
                </a:solidFill>
                <a:latin typeface="Calibri" pitchFamily="34" charset="0"/>
                <a:ea typeface="Calibri" pitchFamily="34" charset="-122"/>
                <a:cs typeface="Calibri" pitchFamily="34" charset="-120"/>
              </a:rPr>
              <a:t>next</a:t>
            </a:r>
            <a:endParaRPr lang="en-US" sz="1000" dirty="0"/>
          </a:p>
        </p:txBody>
      </p:sp>
      <p:sp>
        <p:nvSpPr>
          <p:cNvPr id="46" name="Shape 44"/>
          <p:cNvSpPr/>
          <p:nvPr/>
        </p:nvSpPr>
        <p:spPr>
          <a:xfrm>
            <a:off x="8997696" y="3794760"/>
            <a:ext cx="530352" cy="530352"/>
          </a:xfrm>
          <a:prstGeom prst="ellipse">
            <a:avLst/>
          </a:prstGeom>
          <a:solidFill>
            <a:srgbClr val="CBD5E1"/>
          </a:solidFill>
          <a:ln w="12700">
            <a:solidFill>
              <a:srgbClr val="CBD5E1"/>
            </a:solidFill>
            <a:prstDash val="solid"/>
          </a:ln>
        </p:spPr>
      </p:sp>
      <p:sp>
        <p:nvSpPr>
          <p:cNvPr id="47" name="Text 45"/>
          <p:cNvSpPr/>
          <p:nvPr/>
        </p:nvSpPr>
        <p:spPr>
          <a:xfrm>
            <a:off x="8997696" y="3922776"/>
            <a:ext cx="530352"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8" name="Text 46"/>
          <p:cNvSpPr/>
          <p:nvPr/>
        </p:nvSpPr>
        <p:spPr>
          <a:xfrm>
            <a:off x="8769096" y="4507992"/>
            <a:ext cx="1005840" cy="219456"/>
          </a:xfrm>
          <a:prstGeom prst="rect">
            <a:avLst/>
          </a:prstGeom>
          <a:noFill/>
          <a:ln/>
        </p:spPr>
        <p:txBody>
          <a:bodyPr wrap="square" lIns="0" tIns="0" rIns="0" bIns="0" rtlCol="0" anchor="ctr"/>
          <a:lstStyle/>
          <a:p>
            <a:pPr algn="ctr" indent="0" marL="0">
              <a:buNone/>
            </a:pPr>
            <a:r>
              <a:rPr lang="en-US" sz="1300" b="1" dirty="0">
                <a:solidFill>
                  <a:srgbClr val="172033"/>
                </a:solidFill>
                <a:latin typeface="Calibri" pitchFamily="34" charset="0"/>
                <a:ea typeface="Calibri" pitchFamily="34" charset="-122"/>
                <a:cs typeface="Calibri" pitchFamily="34" charset="-120"/>
              </a:rPr>
              <a:t>Model</a:t>
            </a:r>
            <a:endParaRPr lang="en-US" sz="1300" dirty="0"/>
          </a:p>
        </p:txBody>
      </p:sp>
      <p:sp>
        <p:nvSpPr>
          <p:cNvPr id="49" name="Text 47"/>
          <p:cNvSpPr/>
          <p:nvPr/>
        </p:nvSpPr>
        <p:spPr>
          <a:xfrm>
            <a:off x="8613648" y="4773168"/>
            <a:ext cx="1325880" cy="201168"/>
          </a:xfrm>
          <a:prstGeom prst="rect">
            <a:avLst/>
          </a:prstGeom>
          <a:noFill/>
          <a:ln/>
        </p:spPr>
        <p:txBody>
          <a:bodyPr wrap="square" lIns="0" tIns="0" rIns="0" bIns="0" rtlCol="0" anchor="ctr">
            <a:normAutofit/>
          </a:bodyPr>
          <a:lstStyle/>
          <a:p>
            <a:pPr algn="ctr" indent="0" marL="0">
              <a:buNone/>
            </a:pPr>
            <a:r>
              <a:rPr lang="en-US" sz="1000" dirty="0">
                <a:solidFill>
                  <a:srgbClr val="64748B"/>
                </a:solidFill>
                <a:latin typeface="Calibri" pitchFamily="34" charset="0"/>
                <a:ea typeface="Calibri" pitchFamily="34" charset="-122"/>
                <a:cs typeface="Calibri" pitchFamily="34" charset="-120"/>
              </a:rPr>
              <a:t>after RDR-0003</a:t>
            </a:r>
            <a:endParaRPr lang="en-US" sz="1000" dirty="0"/>
          </a:p>
        </p:txBody>
      </p:sp>
      <p:sp>
        <p:nvSpPr>
          <p:cNvPr id="50" name="Shape 48"/>
          <p:cNvSpPr/>
          <p:nvPr/>
        </p:nvSpPr>
        <p:spPr>
          <a:xfrm>
            <a:off x="658368" y="5303520"/>
            <a:ext cx="10881360" cy="566928"/>
          </a:xfrm>
          <a:prstGeom prst="roundRect">
            <a:avLst>
              <a:gd name="adj" fmla="val 12903"/>
            </a:avLst>
          </a:prstGeom>
          <a:solidFill>
            <a:srgbClr val="CCFBF1"/>
          </a:solidFill>
          <a:ln w="12700">
            <a:solidFill>
              <a:srgbClr val="CCFBF1"/>
            </a:solidFill>
            <a:prstDash val="solid"/>
          </a:ln>
        </p:spPr>
      </p:sp>
      <p:sp>
        <p:nvSpPr>
          <p:cNvPr id="51" name="Text 49"/>
          <p:cNvSpPr/>
          <p:nvPr/>
        </p:nvSpPr>
        <p:spPr>
          <a:xfrm>
            <a:off x="914400" y="5468112"/>
            <a:ext cx="10378440" cy="219456"/>
          </a:xfrm>
          <a:prstGeom prst="rect">
            <a:avLst/>
          </a:prstGeom>
          <a:noFill/>
          <a:ln/>
        </p:spPr>
        <p:txBody>
          <a:bodyPr wrap="square" lIns="0" tIns="0" rIns="0" bIns="0" rtlCol="0" anchor="ctr">
            <a:normAutofit/>
          </a:bodyPr>
          <a:lstStyle/>
          <a:p>
            <a:pPr algn="ctr" indent="0" marL="0">
              <a:buNone/>
            </a:pPr>
            <a:r>
              <a:rPr lang="en-US" sz="1500" b="1" dirty="0">
                <a:solidFill>
                  <a:srgbClr val="0F766E"/>
                </a:solidFill>
                <a:latin typeface="Calibri" pitchFamily="34" charset="0"/>
                <a:ea typeface="Calibri" pitchFamily="34" charset="-122"/>
                <a:cs typeface="Calibri" pitchFamily="34" charset="-120"/>
              </a:rPr>
              <a:t>Survey result: enough evidence to design targeted validation — not enough evidence to lock the final measure.</a:t>
            </a:r>
            <a:endParaRPr lang="en-US" sz="1500" dirty="0"/>
          </a:p>
        </p:txBody>
      </p:sp>
      <p:sp>
        <p:nvSpPr>
          <p:cNvPr id="52" name="Text 50"/>
          <p:cNvSpPr/>
          <p:nvPr/>
        </p:nvSpPr>
        <p:spPr>
          <a:xfrm>
            <a:off x="640080" y="6172200"/>
            <a:ext cx="10607040" cy="164592"/>
          </a:xfrm>
          <a:prstGeom prst="rect">
            <a:avLst/>
          </a:prstGeom>
          <a:noFill/>
          <a:ln/>
        </p:spPr>
        <p:txBody>
          <a:bodyPr wrap="square" lIns="0" tIns="0" rIns="0" bIns="0" rtlCol="0" anchor="ctr">
            <a:normAutofit/>
          </a:bodyPr>
          <a:lstStyle/>
          <a:p>
            <a:pPr indent="0" marL="0">
              <a:buNone/>
            </a:pPr>
            <a:r>
              <a:rPr lang="en-US" sz="850" i="1" dirty="0">
                <a:solidFill>
                  <a:srgbClr val="64748B"/>
                </a:solidFill>
                <a:latin typeface="Calibri" pitchFamily="34" charset="0"/>
                <a:ea typeface="Calibri" pitchFamily="34" charset="-122"/>
                <a:cs typeface="Calibri" pitchFamily="34" charset="-120"/>
              </a:rPr>
              <a:t>Sources: STATUS.md; survey synthesis; direct audit of data/TripAdvisor_EN.json (404 and 199 counts).</a:t>
            </a:r>
            <a:endParaRPr lang="en-US" sz="850" dirty="0"/>
          </a:p>
        </p:txBody>
      </p:sp>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320040"/>
            <a:ext cx="5029200" cy="182880"/>
          </a:xfrm>
          <a:prstGeom prst="rect">
            <a:avLst/>
          </a:prstGeom>
          <a:noFill/>
          <a:ln/>
        </p:spPr>
        <p:txBody>
          <a:bodyPr wrap="square" lIns="0" tIns="0" rIns="0" bIns="0" rtlCol="0" anchor="ctr"/>
          <a:lstStyle/>
          <a:p>
            <a:pPr indent="0" marL="0">
              <a:buNone/>
            </a:pPr>
            <a:r>
              <a:rPr lang="en-US" sz="1000" b="1" spc="120" kern="0" dirty="0">
                <a:solidFill>
                  <a:srgbClr val="0F766E"/>
                </a:solidFill>
                <a:latin typeface="Calibri" pitchFamily="34" charset="0"/>
                <a:ea typeface="Calibri" pitchFamily="34" charset="-122"/>
                <a:cs typeface="Calibri" pitchFamily="34" charset="-120"/>
              </a:rPr>
              <a:t>THE PHENOMENON</a:t>
            </a:r>
            <a:endParaRPr lang="en-US" sz="1000" dirty="0"/>
          </a:p>
        </p:txBody>
      </p:sp>
      <p:sp>
        <p:nvSpPr>
          <p:cNvPr id="3" name="Text 1"/>
          <p:cNvSpPr/>
          <p:nvPr/>
        </p:nvSpPr>
        <p:spPr>
          <a:xfrm>
            <a:off x="640080" y="548640"/>
            <a:ext cx="10881360" cy="502920"/>
          </a:xfrm>
          <a:prstGeom prst="rect">
            <a:avLst/>
          </a:prstGeom>
          <a:noFill/>
          <a:ln/>
        </p:spPr>
        <p:txBody>
          <a:bodyPr wrap="square" lIns="0" tIns="0" rIns="0" bIns="0" rtlCol="0" anchor="ctr">
            <a:normAutofit/>
          </a:bodyPr>
          <a:lstStyle/>
          <a:p>
            <a:pPr indent="0" marL="0">
              <a:buNone/>
            </a:pPr>
            <a:r>
              <a:rPr lang="en-US" sz="2900" b="1" dirty="0">
                <a:solidFill>
                  <a:srgbClr val="172033"/>
                </a:solidFill>
                <a:latin typeface="Cambria" pitchFamily="34" charset="0"/>
                <a:ea typeface="Cambria" pitchFamily="34" charset="-122"/>
                <a:cs typeface="Cambria" pitchFamily="34" charset="-120"/>
              </a:rPr>
              <a:t>Why a keyword match is not enough</a:t>
            </a:r>
            <a:endParaRPr lang="en-US" sz="2900" dirty="0"/>
          </a:p>
        </p:txBody>
      </p:sp>
      <p:sp>
        <p:nvSpPr>
          <p:cNvPr id="4" name="Shape 2"/>
          <p:cNvSpPr/>
          <p:nvPr/>
        </p:nvSpPr>
        <p:spPr>
          <a:xfrm>
            <a:off x="640080" y="1234440"/>
            <a:ext cx="5349240" cy="4297680"/>
          </a:xfrm>
          <a:prstGeom prst="roundRect">
            <a:avLst>
              <a:gd name="adj" fmla="val 1702"/>
            </a:avLst>
          </a:prstGeom>
          <a:solidFill>
            <a:srgbClr val="FFFFFF"/>
          </a:solidFill>
          <a:ln w="12700">
            <a:solidFill>
              <a:srgbClr val="D1FAE5"/>
            </a:solidFill>
            <a:prstDash val="solid"/>
          </a:ln>
        </p:spPr>
      </p:sp>
      <p:sp>
        <p:nvSpPr>
          <p:cNvPr id="5" name="Shape 3"/>
          <p:cNvSpPr/>
          <p:nvPr/>
        </p:nvSpPr>
        <p:spPr>
          <a:xfrm>
            <a:off x="896112" y="1527048"/>
            <a:ext cx="1234440" cy="310896"/>
          </a:xfrm>
          <a:prstGeom prst="roundRect">
            <a:avLst>
              <a:gd name="adj" fmla="val 23529"/>
            </a:avLst>
          </a:prstGeom>
          <a:solidFill>
            <a:srgbClr val="DCFCE7"/>
          </a:solidFill>
          <a:ln w="12700">
            <a:solidFill>
              <a:srgbClr val="DCFCE7">
                <a:alpha val="0"/>
              </a:srgbClr>
            </a:solidFill>
            <a:prstDash val="solid"/>
          </a:ln>
        </p:spPr>
      </p:sp>
      <p:sp>
        <p:nvSpPr>
          <p:cNvPr id="6" name="Text 4"/>
          <p:cNvSpPr/>
          <p:nvPr/>
        </p:nvSpPr>
        <p:spPr>
          <a:xfrm>
            <a:off x="969264" y="1581912"/>
            <a:ext cx="1088136" cy="146304"/>
          </a:xfrm>
          <a:prstGeom prst="rect">
            <a:avLst/>
          </a:prstGeom>
          <a:noFill/>
          <a:ln/>
        </p:spPr>
        <p:txBody>
          <a:bodyPr wrap="square" lIns="0" tIns="0" rIns="0" bIns="0" rtlCol="0" anchor="ctr">
            <a:normAutofit/>
          </a:bodyPr>
          <a:lstStyle/>
          <a:p>
            <a:pPr algn="ctr" indent="0" marL="0">
              <a:buNone/>
            </a:pPr>
            <a:r>
              <a:rPr lang="en-US" sz="950" b="1" dirty="0">
                <a:solidFill>
                  <a:srgbClr val="15803D"/>
                </a:solidFill>
                <a:latin typeface="Calibri" pitchFamily="34" charset="0"/>
                <a:ea typeface="Calibri" pitchFamily="34" charset="-122"/>
                <a:cs typeface="Calibri" pitchFamily="34" charset="-120"/>
              </a:rPr>
              <a:t>5.0 RATING</a:t>
            </a:r>
            <a:endParaRPr lang="en-US" sz="950" dirty="0"/>
          </a:p>
        </p:txBody>
      </p:sp>
      <p:sp>
        <p:nvSpPr>
          <p:cNvPr id="7" name="Text 5"/>
          <p:cNvSpPr/>
          <p:nvPr/>
        </p:nvSpPr>
        <p:spPr>
          <a:xfrm>
            <a:off x="896112" y="2148840"/>
            <a:ext cx="4828032" cy="1051560"/>
          </a:xfrm>
          <a:prstGeom prst="rect">
            <a:avLst/>
          </a:prstGeom>
          <a:noFill/>
          <a:ln/>
        </p:spPr>
        <p:txBody>
          <a:bodyPr wrap="square" lIns="508" tIns="508" rIns="508" bIns="508" rtlCol="0" anchor="ctr">
            <a:normAutofit/>
          </a:bodyPr>
          <a:lstStyle/>
          <a:p>
            <a:pPr indent="0" marL="0">
              <a:buNone/>
            </a:pPr>
            <a:r>
              <a:rPr lang="en-US" sz="1900" i="1" dirty="0">
                <a:solidFill>
                  <a:srgbClr val="172033"/>
                </a:solidFill>
                <a:latin typeface="Cambria" pitchFamily="34" charset="0"/>
                <a:ea typeface="Cambria" pitchFamily="34" charset="-122"/>
                <a:cs typeface="Cambria" pitchFamily="34" charset="-120"/>
              </a:rPr>
              <a:t>“...we had a problem with the door on the first room, it was instantly changed to an equivalent room.”</a:t>
            </a:r>
            <a:endParaRPr lang="en-US" sz="1900" dirty="0"/>
          </a:p>
        </p:txBody>
      </p:sp>
      <p:sp>
        <p:nvSpPr>
          <p:cNvPr id="8" name="Text 6"/>
          <p:cNvSpPr/>
          <p:nvPr/>
        </p:nvSpPr>
        <p:spPr>
          <a:xfrm>
            <a:off x="896112" y="3429000"/>
            <a:ext cx="4663440" cy="384048"/>
          </a:xfrm>
          <a:prstGeom prst="rect">
            <a:avLst/>
          </a:prstGeom>
          <a:noFill/>
          <a:ln/>
        </p:spPr>
        <p:txBody>
          <a:bodyPr wrap="square" lIns="0" tIns="0" rIns="0" bIns="0" rtlCol="0" anchor="ctr">
            <a:normAutofit/>
          </a:bodyPr>
          <a:lstStyle/>
          <a:p>
            <a:pPr indent="0" marL="0">
              <a:buNone/>
            </a:pPr>
            <a:r>
              <a:rPr lang="en-US" sz="1500" b="1" dirty="0">
                <a:solidFill>
                  <a:srgbClr val="0F766E"/>
                </a:solidFill>
                <a:latin typeface="Calibri" pitchFamily="34" charset="0"/>
                <a:ea typeface="Calibri" pitchFamily="34" charset="-122"/>
                <a:cs typeface="Calibri" pitchFamily="34" charset="-120"/>
              </a:rPr>
              <a:t>Positive service recovery may buffer a facility failure.</a:t>
            </a:r>
            <a:endParaRPr lang="en-US" sz="1500" dirty="0"/>
          </a:p>
        </p:txBody>
      </p:sp>
      <p:sp>
        <p:nvSpPr>
          <p:cNvPr id="9" name="Text 7"/>
          <p:cNvSpPr/>
          <p:nvPr/>
        </p:nvSpPr>
        <p:spPr>
          <a:xfrm>
            <a:off x="896112" y="4014216"/>
            <a:ext cx="4663440" cy="292608"/>
          </a:xfrm>
          <a:prstGeom prst="rect">
            <a:avLst/>
          </a:prstGeom>
          <a:noFill/>
          <a:ln/>
        </p:spPr>
        <p:txBody>
          <a:bodyPr wrap="square" lIns="0" tIns="0" rIns="0" bIns="0" rtlCol="0" anchor="ctr"/>
          <a:lstStyle/>
          <a:p>
            <a:pPr indent="0" marL="0">
              <a:buNone/>
            </a:pPr>
            <a:r>
              <a:rPr lang="en-US" sz="1250" dirty="0">
                <a:solidFill>
                  <a:srgbClr val="475569"/>
                </a:solidFill>
                <a:latin typeface="Calibri" pitchFamily="34" charset="0"/>
                <a:ea typeface="Calibri" pitchFamily="34" charset="-122"/>
                <a:cs typeface="Calibri" pitchFamily="34" charset="-120"/>
              </a:rPr>
              <a:t>Candidate mechanism: buffering / forgiveness</a:t>
            </a:r>
            <a:endParaRPr lang="en-US" sz="1250" dirty="0"/>
          </a:p>
        </p:txBody>
      </p:sp>
      <p:sp>
        <p:nvSpPr>
          <p:cNvPr id="10" name="Shape 8"/>
          <p:cNvSpPr/>
          <p:nvPr/>
        </p:nvSpPr>
        <p:spPr>
          <a:xfrm>
            <a:off x="914400" y="4736592"/>
            <a:ext cx="4526280" cy="0"/>
          </a:xfrm>
          <a:prstGeom prst="line">
            <a:avLst/>
          </a:prstGeom>
          <a:noFill/>
          <a:ln w="25400">
            <a:solidFill>
              <a:srgbClr val="D1FAE5"/>
            </a:solidFill>
            <a:prstDash val="solid"/>
          </a:ln>
        </p:spPr>
      </p:sp>
      <p:sp>
        <p:nvSpPr>
          <p:cNvPr id="11" name="Text 9"/>
          <p:cNvSpPr/>
          <p:nvPr/>
        </p:nvSpPr>
        <p:spPr>
          <a:xfrm>
            <a:off x="896112" y="4919472"/>
            <a:ext cx="4754880" cy="256032"/>
          </a:xfrm>
          <a:prstGeom prst="rect">
            <a:avLst/>
          </a:prstGeom>
          <a:noFill/>
          <a:ln/>
        </p:spPr>
        <p:txBody>
          <a:bodyPr wrap="square" lIns="0" tIns="0" rIns="0" bIns="0" rtlCol="0" anchor="ctr">
            <a:normAutofit/>
          </a:bodyPr>
          <a:lstStyle/>
          <a:p>
            <a:pPr indent="0" marL="0">
              <a:buNone/>
            </a:pPr>
            <a:r>
              <a:rPr lang="en-US" sz="1150" dirty="0">
                <a:solidFill>
                  <a:srgbClr val="64748B"/>
                </a:solidFill>
                <a:latin typeface="Calibri" pitchFamily="34" charset="0"/>
                <a:ea typeface="Calibri" pitchFamily="34" charset="-122"/>
                <a:cs typeface="Calibri" pitchFamily="34" charset="-120"/>
              </a:rPr>
              <a:t>Negative span exists, but context changes its meaning.</a:t>
            </a:r>
            <a:endParaRPr lang="en-US" sz="1150" dirty="0"/>
          </a:p>
        </p:txBody>
      </p:sp>
      <p:sp>
        <p:nvSpPr>
          <p:cNvPr id="12" name="Shape 10"/>
          <p:cNvSpPr/>
          <p:nvPr/>
        </p:nvSpPr>
        <p:spPr>
          <a:xfrm>
            <a:off x="6199632" y="1234440"/>
            <a:ext cx="5349240" cy="4297680"/>
          </a:xfrm>
          <a:prstGeom prst="roundRect">
            <a:avLst>
              <a:gd name="adj" fmla="val 1702"/>
            </a:avLst>
          </a:prstGeom>
          <a:solidFill>
            <a:srgbClr val="FFFFFF"/>
          </a:solidFill>
          <a:ln w="12700">
            <a:solidFill>
              <a:srgbClr val="FDE68A"/>
            </a:solidFill>
            <a:prstDash val="solid"/>
          </a:ln>
        </p:spPr>
      </p:sp>
      <p:sp>
        <p:nvSpPr>
          <p:cNvPr id="13" name="Shape 11"/>
          <p:cNvSpPr/>
          <p:nvPr/>
        </p:nvSpPr>
        <p:spPr>
          <a:xfrm>
            <a:off x="6455664" y="1527048"/>
            <a:ext cx="1234440" cy="310896"/>
          </a:xfrm>
          <a:prstGeom prst="roundRect">
            <a:avLst>
              <a:gd name="adj" fmla="val 23529"/>
            </a:avLst>
          </a:prstGeom>
          <a:solidFill>
            <a:srgbClr val="FEF3C7"/>
          </a:solidFill>
          <a:ln w="12700">
            <a:solidFill>
              <a:srgbClr val="FEF3C7">
                <a:alpha val="0"/>
              </a:srgbClr>
            </a:solidFill>
            <a:prstDash val="solid"/>
          </a:ln>
        </p:spPr>
      </p:sp>
      <p:sp>
        <p:nvSpPr>
          <p:cNvPr id="14" name="Text 12"/>
          <p:cNvSpPr/>
          <p:nvPr/>
        </p:nvSpPr>
        <p:spPr>
          <a:xfrm>
            <a:off x="6528816" y="1581912"/>
            <a:ext cx="1088136" cy="146304"/>
          </a:xfrm>
          <a:prstGeom prst="rect">
            <a:avLst/>
          </a:prstGeom>
          <a:noFill/>
          <a:ln/>
        </p:spPr>
        <p:txBody>
          <a:bodyPr wrap="square" lIns="0" tIns="0" rIns="0" bIns="0" rtlCol="0" anchor="ctr">
            <a:normAutofit/>
          </a:bodyPr>
          <a:lstStyle/>
          <a:p>
            <a:pPr algn="ctr" indent="0" marL="0">
              <a:buNone/>
            </a:pPr>
            <a:r>
              <a:rPr lang="en-US" sz="950" b="1" dirty="0">
                <a:solidFill>
                  <a:srgbClr val="D97706"/>
                </a:solidFill>
                <a:latin typeface="Calibri" pitchFamily="34" charset="0"/>
                <a:ea typeface="Calibri" pitchFamily="34" charset="-122"/>
                <a:cs typeface="Calibri" pitchFamily="34" charset="-120"/>
              </a:rPr>
              <a:t>2.0 RATING</a:t>
            </a:r>
            <a:endParaRPr lang="en-US" sz="950" dirty="0"/>
          </a:p>
        </p:txBody>
      </p:sp>
      <p:sp>
        <p:nvSpPr>
          <p:cNvPr id="15" name="Text 13"/>
          <p:cNvSpPr/>
          <p:nvPr/>
        </p:nvSpPr>
        <p:spPr>
          <a:xfrm>
            <a:off x="6455664" y="2148840"/>
            <a:ext cx="4828032" cy="1051560"/>
          </a:xfrm>
          <a:prstGeom prst="rect">
            <a:avLst/>
          </a:prstGeom>
          <a:noFill/>
          <a:ln/>
        </p:spPr>
        <p:txBody>
          <a:bodyPr wrap="square" lIns="508" tIns="508" rIns="508" bIns="508" rtlCol="0" anchor="ctr">
            <a:normAutofit/>
          </a:bodyPr>
          <a:lstStyle/>
          <a:p>
            <a:pPr indent="0" marL="0">
              <a:buNone/>
            </a:pPr>
            <a:r>
              <a:rPr lang="en-US" sz="1900" i="1" dirty="0">
                <a:solidFill>
                  <a:srgbClr val="172033"/>
                </a:solidFill>
                <a:latin typeface="Cambria" pitchFamily="34" charset="0"/>
                <a:ea typeface="Cambria" pitchFamily="34" charset="-122"/>
                <a:cs typeface="Cambria" pitchFamily="34" charset="-120"/>
              </a:rPr>
              <a:t>“Staff is very friendly... [but] the room was not very clean... the air conditioner made loud knocking noise.”</a:t>
            </a:r>
            <a:endParaRPr lang="en-US" sz="1900" dirty="0"/>
          </a:p>
        </p:txBody>
      </p:sp>
      <p:sp>
        <p:nvSpPr>
          <p:cNvPr id="16" name="Text 14"/>
          <p:cNvSpPr/>
          <p:nvPr/>
        </p:nvSpPr>
        <p:spPr>
          <a:xfrm>
            <a:off x="6455664" y="3429000"/>
            <a:ext cx="4663440" cy="457200"/>
          </a:xfrm>
          <a:prstGeom prst="rect">
            <a:avLst/>
          </a:prstGeom>
          <a:noFill/>
          <a:ln/>
        </p:spPr>
        <p:txBody>
          <a:bodyPr wrap="square" lIns="0" tIns="0" rIns="0" bIns="0" rtlCol="0" anchor="ctr">
            <a:normAutofit/>
          </a:bodyPr>
          <a:lstStyle/>
          <a:p>
            <a:pPr indent="0" marL="0">
              <a:buNone/>
            </a:pPr>
            <a:r>
              <a:rPr lang="en-US" sz="1500" b="1" dirty="0">
                <a:solidFill>
                  <a:srgbClr val="D97706"/>
                </a:solidFill>
                <a:latin typeface="Calibri" pitchFamily="34" charset="0"/>
                <a:ea typeface="Calibri" pitchFamily="34" charset="-122"/>
                <a:cs typeface="Calibri" pitchFamily="34" charset="-120"/>
              </a:rPr>
              <a:t>Positive and negative aspects can coexist without inconsistency.</a:t>
            </a:r>
            <a:endParaRPr lang="en-US" sz="1500" dirty="0"/>
          </a:p>
        </p:txBody>
      </p:sp>
      <p:sp>
        <p:nvSpPr>
          <p:cNvPr id="17" name="Text 15"/>
          <p:cNvSpPr/>
          <p:nvPr/>
        </p:nvSpPr>
        <p:spPr>
          <a:xfrm>
            <a:off x="6455664" y="4014216"/>
            <a:ext cx="4663440" cy="292608"/>
          </a:xfrm>
          <a:prstGeom prst="rect">
            <a:avLst/>
          </a:prstGeom>
          <a:noFill/>
          <a:ln/>
        </p:spPr>
        <p:txBody>
          <a:bodyPr wrap="square" lIns="0" tIns="0" rIns="0" bIns="0" rtlCol="0" anchor="ctr"/>
          <a:lstStyle/>
          <a:p>
            <a:pPr indent="0" marL="0">
              <a:buNone/>
            </a:pPr>
            <a:r>
              <a:rPr lang="en-US" sz="1250" dirty="0">
                <a:solidFill>
                  <a:srgbClr val="475569"/>
                </a:solidFill>
                <a:latin typeface="Calibri" pitchFamily="34" charset="0"/>
                <a:ea typeface="Calibri" pitchFamily="34" charset="-122"/>
                <a:cs typeface="Calibri" pitchFamily="34" charset="-120"/>
              </a:rPr>
              <a:t>Candidate case: mixed, likely rating-consistent</a:t>
            </a:r>
            <a:endParaRPr lang="en-US" sz="1250" dirty="0"/>
          </a:p>
        </p:txBody>
      </p:sp>
      <p:sp>
        <p:nvSpPr>
          <p:cNvPr id="18" name="Shape 16"/>
          <p:cNvSpPr/>
          <p:nvPr/>
        </p:nvSpPr>
        <p:spPr>
          <a:xfrm>
            <a:off x="6473952" y="4736592"/>
            <a:ext cx="4526280" cy="0"/>
          </a:xfrm>
          <a:prstGeom prst="line">
            <a:avLst/>
          </a:prstGeom>
          <a:noFill/>
          <a:ln w="25400">
            <a:solidFill>
              <a:srgbClr val="FDE68A"/>
            </a:solidFill>
            <a:prstDash val="solid"/>
          </a:ln>
        </p:spPr>
      </p:sp>
      <p:sp>
        <p:nvSpPr>
          <p:cNvPr id="19" name="Text 17"/>
          <p:cNvSpPr/>
          <p:nvPr/>
        </p:nvSpPr>
        <p:spPr>
          <a:xfrm>
            <a:off x="6455664" y="4919472"/>
            <a:ext cx="4754880" cy="256032"/>
          </a:xfrm>
          <a:prstGeom prst="rect">
            <a:avLst/>
          </a:prstGeom>
          <a:noFill/>
          <a:ln/>
        </p:spPr>
        <p:txBody>
          <a:bodyPr wrap="square" lIns="0" tIns="0" rIns="0" bIns="0" rtlCol="0" anchor="ctr">
            <a:normAutofit/>
          </a:bodyPr>
          <a:lstStyle/>
          <a:p>
            <a:pPr indent="0" marL="0">
              <a:buNone/>
            </a:pPr>
            <a:r>
              <a:rPr lang="en-US" sz="1150" dirty="0">
                <a:solidFill>
                  <a:srgbClr val="64748B"/>
                </a:solidFill>
                <a:latin typeface="Calibri" pitchFamily="34" charset="0"/>
                <a:ea typeface="Calibri" pitchFamily="34" charset="-122"/>
                <a:cs typeface="Calibri" pitchFamily="34" charset="-120"/>
              </a:rPr>
              <a:t>A positive span alone does not imply punitive rating.</a:t>
            </a:r>
            <a:endParaRPr lang="en-US" sz="1150" dirty="0"/>
          </a:p>
        </p:txBody>
      </p:sp>
      <p:sp>
        <p:nvSpPr>
          <p:cNvPr id="20" name="Text 18"/>
          <p:cNvSpPr/>
          <p:nvPr/>
        </p:nvSpPr>
        <p:spPr>
          <a:xfrm>
            <a:off x="1234440" y="5742432"/>
            <a:ext cx="9738360" cy="292608"/>
          </a:xfrm>
          <a:prstGeom prst="rect">
            <a:avLst/>
          </a:prstGeom>
          <a:noFill/>
          <a:ln/>
        </p:spPr>
        <p:txBody>
          <a:bodyPr wrap="square" lIns="0" tIns="0" rIns="0" bIns="0" rtlCol="0" anchor="ctr">
            <a:normAutofit/>
          </a:bodyPr>
          <a:lstStyle/>
          <a:p>
            <a:pPr algn="ctr" indent="0" marL="0">
              <a:buNone/>
            </a:pPr>
            <a:r>
              <a:rPr lang="en-US" sz="1500" b="1" dirty="0">
                <a:solidFill>
                  <a:srgbClr val="E11D48"/>
                </a:solidFill>
                <a:latin typeface="Calibri" pitchFamily="34" charset="0"/>
                <a:ea typeface="Calibri" pitchFamily="34" charset="-122"/>
                <a:cs typeface="Calibri" pitchFamily="34" charset="-120"/>
              </a:rPr>
              <a:t>Human labels must separate true mismatch, mixed experience, recovery, and annotation error.</a:t>
            </a:r>
            <a:endParaRPr lang="en-US" sz="1500" dirty="0"/>
          </a:p>
        </p:txBody>
      </p:sp>
      <p:sp>
        <p:nvSpPr>
          <p:cNvPr id="21" name="Text 19"/>
          <p:cNvSpPr/>
          <p:nvPr/>
        </p:nvSpPr>
        <p:spPr>
          <a:xfrm>
            <a:off x="640080" y="6172200"/>
            <a:ext cx="10607040" cy="164592"/>
          </a:xfrm>
          <a:prstGeom prst="rect">
            <a:avLst/>
          </a:prstGeom>
          <a:noFill/>
          <a:ln/>
        </p:spPr>
        <p:txBody>
          <a:bodyPr wrap="square" lIns="0" tIns="0" rIns="0" bIns="0" rtlCol="0" anchor="ctr">
            <a:normAutofit/>
          </a:bodyPr>
          <a:lstStyle/>
          <a:p>
            <a:pPr indent="0" marL="0">
              <a:buNone/>
            </a:pPr>
            <a:r>
              <a:rPr lang="en-US" sz="850" i="1" dirty="0">
                <a:solidFill>
                  <a:srgbClr val="64748B"/>
                </a:solidFill>
                <a:latin typeface="Calibri" pitchFamily="34" charset="0"/>
                <a:ea typeface="Calibri" pitchFamily="34" charset="-122"/>
                <a:cs typeface="Calibri" pitchFamily="34" charset="-120"/>
              </a:rPr>
              <a:t>Examples drawn from the labeled TripAdvisor subset; wording shortened only for display.</a:t>
            </a:r>
            <a:endParaRPr lang="en-US" sz="850" dirty="0"/>
          </a:p>
        </p:txBody>
      </p:sp>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320040"/>
            <a:ext cx="5029200" cy="182880"/>
          </a:xfrm>
          <a:prstGeom prst="rect">
            <a:avLst/>
          </a:prstGeom>
          <a:noFill/>
          <a:ln/>
        </p:spPr>
        <p:txBody>
          <a:bodyPr wrap="square" lIns="0" tIns="0" rIns="0" bIns="0" rtlCol="0" anchor="ctr"/>
          <a:lstStyle/>
          <a:p>
            <a:pPr indent="0" marL="0">
              <a:buNone/>
            </a:pPr>
            <a:r>
              <a:rPr lang="en-US" sz="1000" b="1" spc="120" kern="0" dirty="0">
                <a:solidFill>
                  <a:srgbClr val="0F766E"/>
                </a:solidFill>
                <a:latin typeface="Calibri" pitchFamily="34" charset="0"/>
                <a:ea typeface="Calibri" pitchFamily="34" charset="-122"/>
                <a:cs typeface="Calibri" pitchFamily="34" charset="-120"/>
              </a:rPr>
              <a:t>BASELINE AND LIMITATION</a:t>
            </a:r>
            <a:endParaRPr lang="en-US" sz="1000" dirty="0"/>
          </a:p>
        </p:txBody>
      </p:sp>
      <p:sp>
        <p:nvSpPr>
          <p:cNvPr id="3" name="Text 1"/>
          <p:cNvSpPr/>
          <p:nvPr/>
        </p:nvSpPr>
        <p:spPr>
          <a:xfrm>
            <a:off x="640080" y="548640"/>
            <a:ext cx="10881360" cy="502920"/>
          </a:xfrm>
          <a:prstGeom prst="rect">
            <a:avLst/>
          </a:prstGeom>
          <a:noFill/>
          <a:ln/>
        </p:spPr>
        <p:txBody>
          <a:bodyPr wrap="square" lIns="0" tIns="0" rIns="0" bIns="0" rtlCol="0" anchor="ctr">
            <a:normAutofit/>
          </a:bodyPr>
          <a:lstStyle/>
          <a:p>
            <a:pPr indent="0" marL="0">
              <a:buNone/>
            </a:pPr>
            <a:r>
              <a:rPr lang="en-US" sz="2900" b="1" dirty="0">
                <a:solidFill>
                  <a:srgbClr val="172033"/>
                </a:solidFill>
                <a:latin typeface="Cambria" pitchFamily="34" charset="0"/>
                <a:ea typeface="Cambria" pitchFamily="34" charset="-122"/>
                <a:cs typeface="Cambria" pitchFamily="34" charset="-120"/>
              </a:rPr>
              <a:t>Starting point: the 2026 root paper</a:t>
            </a:r>
            <a:endParaRPr lang="en-US" sz="2900" dirty="0"/>
          </a:p>
        </p:txBody>
      </p:sp>
      <p:sp>
        <p:nvSpPr>
          <p:cNvPr id="4" name="Text 2"/>
          <p:cNvSpPr/>
          <p:nvPr/>
        </p:nvSpPr>
        <p:spPr>
          <a:xfrm>
            <a:off x="658368" y="1170432"/>
            <a:ext cx="4023360" cy="274320"/>
          </a:xfrm>
          <a:prstGeom prst="rect">
            <a:avLst/>
          </a:prstGeom>
          <a:noFill/>
          <a:ln/>
        </p:spPr>
        <p:txBody>
          <a:bodyPr wrap="square" lIns="0" tIns="0" rIns="0" bIns="0" rtlCol="0" anchor="ctr"/>
          <a:lstStyle/>
          <a:p>
            <a:pPr indent="0" marL="0">
              <a:buNone/>
            </a:pPr>
            <a:r>
              <a:rPr lang="en-US" sz="1500" b="1" dirty="0">
                <a:solidFill>
                  <a:srgbClr val="475569"/>
                </a:solidFill>
                <a:latin typeface="Calibri" pitchFamily="34" charset="0"/>
                <a:ea typeface="Calibri" pitchFamily="34" charset="-122"/>
                <a:cs typeface="Calibri" pitchFamily="34" charset="-120"/>
              </a:rPr>
              <a:t>Published pipeline</a:t>
            </a:r>
            <a:endParaRPr lang="en-US" sz="1500" dirty="0"/>
          </a:p>
        </p:txBody>
      </p:sp>
      <p:sp>
        <p:nvSpPr>
          <p:cNvPr id="5" name="Shape 3"/>
          <p:cNvSpPr/>
          <p:nvPr/>
        </p:nvSpPr>
        <p:spPr>
          <a:xfrm>
            <a:off x="658368" y="1664208"/>
            <a:ext cx="960120" cy="658368"/>
          </a:xfrm>
          <a:prstGeom prst="roundRect">
            <a:avLst>
              <a:gd name="adj" fmla="val 8333"/>
            </a:avLst>
          </a:prstGeom>
          <a:solidFill>
            <a:srgbClr val="F1F5F9"/>
          </a:solidFill>
          <a:ln w="12700">
            <a:solidFill>
              <a:srgbClr val="CBD5E1"/>
            </a:solidFill>
            <a:prstDash val="solid"/>
          </a:ln>
        </p:spPr>
      </p:sp>
      <p:sp>
        <p:nvSpPr>
          <p:cNvPr id="6" name="Text 4"/>
          <p:cNvSpPr/>
          <p:nvPr/>
        </p:nvSpPr>
        <p:spPr>
          <a:xfrm>
            <a:off x="658368" y="1874520"/>
            <a:ext cx="960120" cy="182880"/>
          </a:xfrm>
          <a:prstGeom prst="rect">
            <a:avLst/>
          </a:prstGeom>
          <a:noFill/>
          <a:ln/>
        </p:spPr>
        <p:txBody>
          <a:bodyPr wrap="square" lIns="0" tIns="0" rIns="0" bIns="0" rtlCol="0" anchor="ctr">
            <a:normAutofit/>
          </a:bodyPr>
          <a:lstStyle/>
          <a:p>
            <a:pPr algn="ctr" indent="0" marL="0">
              <a:buNone/>
            </a:pPr>
            <a:r>
              <a:rPr lang="en-US" sz="1100" b="1" dirty="0">
                <a:solidFill>
                  <a:srgbClr val="172033"/>
                </a:solidFill>
                <a:latin typeface="Calibri" pitchFamily="34" charset="0"/>
                <a:ea typeface="Calibri" pitchFamily="34" charset="-122"/>
                <a:cs typeface="Calibri" pitchFamily="34" charset="-120"/>
              </a:rPr>
              <a:t>Reviews</a:t>
            </a:r>
            <a:endParaRPr lang="en-US" sz="1100" dirty="0"/>
          </a:p>
        </p:txBody>
      </p:sp>
      <p:sp>
        <p:nvSpPr>
          <p:cNvPr id="7" name="Shape 5"/>
          <p:cNvSpPr/>
          <p:nvPr/>
        </p:nvSpPr>
        <p:spPr>
          <a:xfrm>
            <a:off x="1636776" y="1993392"/>
            <a:ext cx="164592" cy="0"/>
          </a:xfrm>
          <a:prstGeom prst="line">
            <a:avLst/>
          </a:prstGeom>
          <a:noFill/>
          <a:ln w="19050">
            <a:solidFill>
              <a:srgbClr val="64748B"/>
            </a:solidFill>
            <a:prstDash val="solid"/>
            <a:tailEnd type="triangle"/>
          </a:ln>
        </p:spPr>
      </p:sp>
      <p:sp>
        <p:nvSpPr>
          <p:cNvPr id="8" name="Shape 6"/>
          <p:cNvSpPr/>
          <p:nvPr/>
        </p:nvSpPr>
        <p:spPr>
          <a:xfrm>
            <a:off x="1828800" y="1664208"/>
            <a:ext cx="960120" cy="658368"/>
          </a:xfrm>
          <a:prstGeom prst="roundRect">
            <a:avLst>
              <a:gd name="adj" fmla="val 8333"/>
            </a:avLst>
          </a:prstGeom>
          <a:solidFill>
            <a:srgbClr val="F1F5F9"/>
          </a:solidFill>
          <a:ln w="12700">
            <a:solidFill>
              <a:srgbClr val="CBD5E1"/>
            </a:solidFill>
            <a:prstDash val="solid"/>
          </a:ln>
        </p:spPr>
      </p:sp>
      <p:sp>
        <p:nvSpPr>
          <p:cNvPr id="9" name="Text 7"/>
          <p:cNvSpPr/>
          <p:nvPr/>
        </p:nvSpPr>
        <p:spPr>
          <a:xfrm>
            <a:off x="1828800" y="1874520"/>
            <a:ext cx="960120" cy="182880"/>
          </a:xfrm>
          <a:prstGeom prst="rect">
            <a:avLst/>
          </a:prstGeom>
          <a:noFill/>
          <a:ln/>
        </p:spPr>
        <p:txBody>
          <a:bodyPr wrap="square" lIns="0" tIns="0" rIns="0" bIns="0" rtlCol="0" anchor="ctr">
            <a:normAutofit/>
          </a:bodyPr>
          <a:lstStyle/>
          <a:p>
            <a:pPr algn="ctr" indent="0" marL="0">
              <a:buNone/>
            </a:pPr>
            <a:r>
              <a:rPr lang="en-US" sz="1100" b="1" dirty="0">
                <a:solidFill>
                  <a:srgbClr val="172033"/>
                </a:solidFill>
                <a:latin typeface="Calibri" pitchFamily="34" charset="0"/>
                <a:ea typeface="Calibri" pitchFamily="34" charset="-122"/>
                <a:cs typeface="Calibri" pitchFamily="34" charset="-120"/>
              </a:rPr>
              <a:t>BERTopic</a:t>
            </a:r>
            <a:endParaRPr lang="en-US" sz="1100" dirty="0"/>
          </a:p>
        </p:txBody>
      </p:sp>
      <p:sp>
        <p:nvSpPr>
          <p:cNvPr id="10" name="Shape 8"/>
          <p:cNvSpPr/>
          <p:nvPr/>
        </p:nvSpPr>
        <p:spPr>
          <a:xfrm>
            <a:off x="2807208" y="1993392"/>
            <a:ext cx="164592" cy="0"/>
          </a:xfrm>
          <a:prstGeom prst="line">
            <a:avLst/>
          </a:prstGeom>
          <a:noFill/>
          <a:ln w="19050">
            <a:solidFill>
              <a:srgbClr val="64748B"/>
            </a:solidFill>
            <a:prstDash val="solid"/>
            <a:tailEnd type="triangle"/>
          </a:ln>
        </p:spPr>
      </p:sp>
      <p:sp>
        <p:nvSpPr>
          <p:cNvPr id="11" name="Shape 9"/>
          <p:cNvSpPr/>
          <p:nvPr/>
        </p:nvSpPr>
        <p:spPr>
          <a:xfrm>
            <a:off x="2999232" y="1664208"/>
            <a:ext cx="960120" cy="658368"/>
          </a:xfrm>
          <a:prstGeom prst="roundRect">
            <a:avLst>
              <a:gd name="adj" fmla="val 8333"/>
            </a:avLst>
          </a:prstGeom>
          <a:solidFill>
            <a:srgbClr val="F1F5F9"/>
          </a:solidFill>
          <a:ln w="12700">
            <a:solidFill>
              <a:srgbClr val="CBD5E1"/>
            </a:solidFill>
            <a:prstDash val="solid"/>
          </a:ln>
        </p:spPr>
      </p:sp>
      <p:sp>
        <p:nvSpPr>
          <p:cNvPr id="12" name="Text 10"/>
          <p:cNvSpPr/>
          <p:nvPr/>
        </p:nvSpPr>
        <p:spPr>
          <a:xfrm>
            <a:off x="2999232" y="1874520"/>
            <a:ext cx="960120" cy="182880"/>
          </a:xfrm>
          <a:prstGeom prst="rect">
            <a:avLst/>
          </a:prstGeom>
          <a:noFill/>
          <a:ln/>
        </p:spPr>
        <p:txBody>
          <a:bodyPr wrap="square" lIns="0" tIns="0" rIns="0" bIns="0" rtlCol="0" anchor="ctr">
            <a:normAutofit/>
          </a:bodyPr>
          <a:lstStyle/>
          <a:p>
            <a:pPr algn="ctr" indent="0" marL="0">
              <a:buNone/>
            </a:pPr>
            <a:r>
              <a:rPr lang="en-US" sz="1100" b="1" dirty="0">
                <a:solidFill>
                  <a:srgbClr val="172033"/>
                </a:solidFill>
                <a:latin typeface="Calibri" pitchFamily="34" charset="0"/>
                <a:ea typeface="Calibri" pitchFamily="34" charset="-122"/>
                <a:cs typeface="Calibri" pitchFamily="34" charset="-120"/>
              </a:rPr>
              <a:t>SBERT</a:t>
            </a:r>
            <a:endParaRPr lang="en-US" sz="1100" dirty="0"/>
          </a:p>
        </p:txBody>
      </p:sp>
      <p:sp>
        <p:nvSpPr>
          <p:cNvPr id="13" name="Shape 11"/>
          <p:cNvSpPr/>
          <p:nvPr/>
        </p:nvSpPr>
        <p:spPr>
          <a:xfrm>
            <a:off x="3977640" y="1993392"/>
            <a:ext cx="164592" cy="0"/>
          </a:xfrm>
          <a:prstGeom prst="line">
            <a:avLst/>
          </a:prstGeom>
          <a:noFill/>
          <a:ln w="19050">
            <a:solidFill>
              <a:srgbClr val="64748B"/>
            </a:solidFill>
            <a:prstDash val="solid"/>
            <a:tailEnd type="triangle"/>
          </a:ln>
        </p:spPr>
      </p:sp>
      <p:sp>
        <p:nvSpPr>
          <p:cNvPr id="14" name="Shape 12"/>
          <p:cNvSpPr/>
          <p:nvPr/>
        </p:nvSpPr>
        <p:spPr>
          <a:xfrm>
            <a:off x="4169664" y="1664208"/>
            <a:ext cx="960120" cy="658368"/>
          </a:xfrm>
          <a:prstGeom prst="roundRect">
            <a:avLst>
              <a:gd name="adj" fmla="val 8333"/>
            </a:avLst>
          </a:prstGeom>
          <a:solidFill>
            <a:srgbClr val="F1F5F9"/>
          </a:solidFill>
          <a:ln w="12700">
            <a:solidFill>
              <a:srgbClr val="CBD5E1"/>
            </a:solidFill>
            <a:prstDash val="solid"/>
          </a:ln>
        </p:spPr>
      </p:sp>
      <p:sp>
        <p:nvSpPr>
          <p:cNvPr id="15" name="Text 13"/>
          <p:cNvSpPr/>
          <p:nvPr/>
        </p:nvSpPr>
        <p:spPr>
          <a:xfrm>
            <a:off x="4169664" y="1874520"/>
            <a:ext cx="960120" cy="182880"/>
          </a:xfrm>
          <a:prstGeom prst="rect">
            <a:avLst/>
          </a:prstGeom>
          <a:noFill/>
          <a:ln/>
        </p:spPr>
        <p:txBody>
          <a:bodyPr wrap="square" lIns="0" tIns="0" rIns="0" bIns="0" rtlCol="0" anchor="ctr">
            <a:normAutofit/>
          </a:bodyPr>
          <a:lstStyle/>
          <a:p>
            <a:pPr algn="ctr" indent="0" marL="0">
              <a:buNone/>
            </a:pPr>
            <a:r>
              <a:rPr lang="en-US" sz="1100" b="1" dirty="0">
                <a:solidFill>
                  <a:srgbClr val="172033"/>
                </a:solidFill>
                <a:latin typeface="Calibri" pitchFamily="34" charset="0"/>
                <a:ea typeface="Calibri" pitchFamily="34" charset="-122"/>
                <a:cs typeface="Calibri" pitchFamily="34" charset="-120"/>
              </a:rPr>
              <a:t>VADER</a:t>
            </a:r>
            <a:endParaRPr lang="en-US" sz="1100" dirty="0"/>
          </a:p>
        </p:txBody>
      </p:sp>
      <p:sp>
        <p:nvSpPr>
          <p:cNvPr id="16" name="Shape 14"/>
          <p:cNvSpPr/>
          <p:nvPr/>
        </p:nvSpPr>
        <p:spPr>
          <a:xfrm>
            <a:off x="5148072" y="1993392"/>
            <a:ext cx="164592" cy="0"/>
          </a:xfrm>
          <a:prstGeom prst="line">
            <a:avLst/>
          </a:prstGeom>
          <a:noFill/>
          <a:ln w="19050">
            <a:solidFill>
              <a:srgbClr val="64748B"/>
            </a:solidFill>
            <a:prstDash val="solid"/>
            <a:tailEnd type="triangle"/>
          </a:ln>
        </p:spPr>
      </p:sp>
      <p:sp>
        <p:nvSpPr>
          <p:cNvPr id="17" name="Shape 15"/>
          <p:cNvSpPr/>
          <p:nvPr/>
        </p:nvSpPr>
        <p:spPr>
          <a:xfrm>
            <a:off x="5340096" y="1664208"/>
            <a:ext cx="960120" cy="658368"/>
          </a:xfrm>
          <a:prstGeom prst="roundRect">
            <a:avLst>
              <a:gd name="adj" fmla="val 8333"/>
            </a:avLst>
          </a:prstGeom>
          <a:solidFill>
            <a:srgbClr val="DBEAFE"/>
          </a:solidFill>
          <a:ln w="12700">
            <a:solidFill>
              <a:srgbClr val="2563EB"/>
            </a:solidFill>
            <a:prstDash val="solid"/>
          </a:ln>
        </p:spPr>
      </p:sp>
      <p:sp>
        <p:nvSpPr>
          <p:cNvPr id="18" name="Text 16"/>
          <p:cNvSpPr/>
          <p:nvPr/>
        </p:nvSpPr>
        <p:spPr>
          <a:xfrm>
            <a:off x="5340096" y="1874520"/>
            <a:ext cx="960120" cy="182880"/>
          </a:xfrm>
          <a:prstGeom prst="rect">
            <a:avLst/>
          </a:prstGeom>
          <a:noFill/>
          <a:ln/>
        </p:spPr>
        <p:txBody>
          <a:bodyPr wrap="square" lIns="0" tIns="0" rIns="0" bIns="0" rtlCol="0" anchor="ctr">
            <a:normAutofit/>
          </a:bodyPr>
          <a:lstStyle/>
          <a:p>
            <a:pPr algn="ctr" indent="0" marL="0">
              <a:buNone/>
            </a:pPr>
            <a:r>
              <a:rPr lang="en-US" sz="1100" b="1" dirty="0">
                <a:solidFill>
                  <a:srgbClr val="2563EB"/>
                </a:solidFill>
                <a:latin typeface="Calibri" pitchFamily="34" charset="0"/>
                <a:ea typeface="Calibri" pitchFamily="34" charset="-122"/>
                <a:cs typeface="Calibri" pitchFamily="34" charset="-120"/>
              </a:rPr>
              <a:t>WMLR</a:t>
            </a:r>
            <a:endParaRPr lang="en-US" sz="1100" dirty="0"/>
          </a:p>
        </p:txBody>
      </p:sp>
      <p:sp>
        <p:nvSpPr>
          <p:cNvPr id="19" name="Shape 17"/>
          <p:cNvSpPr/>
          <p:nvPr/>
        </p:nvSpPr>
        <p:spPr>
          <a:xfrm>
            <a:off x="658368" y="2697480"/>
            <a:ext cx="5669280" cy="2423160"/>
          </a:xfrm>
          <a:prstGeom prst="roundRect">
            <a:avLst>
              <a:gd name="adj" fmla="val 3019"/>
            </a:avLst>
          </a:prstGeom>
          <a:solidFill>
            <a:srgbClr val="FFFFFF"/>
          </a:solidFill>
          <a:ln w="12700">
            <a:solidFill>
              <a:srgbClr val="E2E8F0"/>
            </a:solidFill>
            <a:prstDash val="solid"/>
          </a:ln>
        </p:spPr>
      </p:sp>
      <p:sp>
        <p:nvSpPr>
          <p:cNvPr id="20" name="Text 18"/>
          <p:cNvSpPr/>
          <p:nvPr/>
        </p:nvSpPr>
        <p:spPr>
          <a:xfrm>
            <a:off x="914400" y="2990088"/>
            <a:ext cx="1554480" cy="475488"/>
          </a:xfrm>
          <a:prstGeom prst="rect">
            <a:avLst/>
          </a:prstGeom>
          <a:noFill/>
          <a:ln/>
        </p:spPr>
        <p:txBody>
          <a:bodyPr wrap="square" lIns="0" tIns="0" rIns="0" bIns="0" rtlCol="0" anchor="ctr"/>
          <a:lstStyle/>
          <a:p>
            <a:pPr indent="0" marL="0">
              <a:buNone/>
            </a:pPr>
            <a:r>
              <a:rPr lang="en-US" sz="2900" b="1" dirty="0">
                <a:solidFill>
                  <a:srgbClr val="2563EB"/>
                </a:solidFill>
                <a:latin typeface="Cambria" pitchFamily="34" charset="0"/>
                <a:ea typeface="Cambria" pitchFamily="34" charset="-122"/>
                <a:cs typeface="Cambria" pitchFamily="34" charset="-120"/>
              </a:rPr>
              <a:t>1.39M</a:t>
            </a:r>
            <a:endParaRPr lang="en-US" sz="2900" dirty="0"/>
          </a:p>
        </p:txBody>
      </p:sp>
      <p:sp>
        <p:nvSpPr>
          <p:cNvPr id="21" name="Text 19"/>
          <p:cNvSpPr/>
          <p:nvPr/>
        </p:nvSpPr>
        <p:spPr>
          <a:xfrm>
            <a:off x="2240280" y="3072384"/>
            <a:ext cx="3520440" cy="274320"/>
          </a:xfrm>
          <a:prstGeom prst="rect">
            <a:avLst/>
          </a:prstGeom>
          <a:noFill/>
          <a:ln/>
        </p:spPr>
        <p:txBody>
          <a:bodyPr wrap="square" lIns="0" tIns="0" rIns="0" bIns="0" rtlCol="0" anchor="ctr"/>
          <a:lstStyle/>
          <a:p>
            <a:pPr indent="0" marL="0">
              <a:buNone/>
            </a:pPr>
            <a:r>
              <a:rPr lang="en-US" sz="1400" dirty="0">
                <a:solidFill>
                  <a:srgbClr val="475569"/>
                </a:solidFill>
                <a:latin typeface="Calibri" pitchFamily="34" charset="0"/>
                <a:ea typeface="Calibri" pitchFamily="34" charset="-122"/>
                <a:cs typeface="Calibri" pitchFamily="34" charset="-120"/>
              </a:rPr>
              <a:t>Booking + TripAdvisor reviews</a:t>
            </a:r>
            <a:endParaRPr lang="en-US" sz="1400" dirty="0"/>
          </a:p>
        </p:txBody>
      </p:sp>
      <p:sp>
        <p:nvSpPr>
          <p:cNvPr id="22" name="Text 20"/>
          <p:cNvSpPr/>
          <p:nvPr/>
        </p:nvSpPr>
        <p:spPr>
          <a:xfrm>
            <a:off x="914400" y="3703320"/>
            <a:ext cx="1097280" cy="22860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Pseudo R²</a:t>
            </a:r>
            <a:endParaRPr lang="en-US" sz="1200" dirty="0"/>
          </a:p>
        </p:txBody>
      </p:sp>
      <p:sp>
        <p:nvSpPr>
          <p:cNvPr id="23" name="Text 21"/>
          <p:cNvSpPr/>
          <p:nvPr/>
        </p:nvSpPr>
        <p:spPr>
          <a:xfrm>
            <a:off x="2240280" y="3657600"/>
            <a:ext cx="1600200" cy="329184"/>
          </a:xfrm>
          <a:prstGeom prst="rect">
            <a:avLst/>
          </a:prstGeom>
          <a:noFill/>
          <a:ln/>
        </p:spPr>
        <p:txBody>
          <a:bodyPr wrap="square" lIns="0" tIns="0" rIns="0" bIns="0" rtlCol="0" anchor="ctr"/>
          <a:lstStyle/>
          <a:p>
            <a:pPr indent="0" marL="0">
              <a:buNone/>
            </a:pPr>
            <a:r>
              <a:rPr lang="en-US" sz="1800" b="1" dirty="0">
                <a:solidFill>
                  <a:srgbClr val="172033"/>
                </a:solidFill>
                <a:latin typeface="Cambria" pitchFamily="34" charset="0"/>
                <a:ea typeface="Cambria" pitchFamily="34" charset="-122"/>
                <a:cs typeface="Cambria" pitchFamily="34" charset="-120"/>
              </a:rPr>
              <a:t>0.462  Booking</a:t>
            </a:r>
            <a:endParaRPr lang="en-US" sz="1800" dirty="0"/>
          </a:p>
        </p:txBody>
      </p:sp>
      <p:sp>
        <p:nvSpPr>
          <p:cNvPr id="24" name="Text 22"/>
          <p:cNvSpPr/>
          <p:nvPr/>
        </p:nvSpPr>
        <p:spPr>
          <a:xfrm>
            <a:off x="3977640" y="3657600"/>
            <a:ext cx="1828800" cy="329184"/>
          </a:xfrm>
          <a:prstGeom prst="rect">
            <a:avLst/>
          </a:prstGeom>
          <a:noFill/>
          <a:ln/>
        </p:spPr>
        <p:txBody>
          <a:bodyPr wrap="square" lIns="0" tIns="0" rIns="0" bIns="0" rtlCol="0" anchor="ctr"/>
          <a:lstStyle/>
          <a:p>
            <a:pPr indent="0" marL="0">
              <a:buNone/>
            </a:pPr>
            <a:r>
              <a:rPr lang="en-US" sz="1800" b="1" dirty="0">
                <a:solidFill>
                  <a:srgbClr val="172033"/>
                </a:solidFill>
                <a:latin typeface="Cambria" pitchFamily="34" charset="0"/>
                <a:ea typeface="Cambria" pitchFamily="34" charset="-122"/>
                <a:cs typeface="Cambria" pitchFamily="34" charset="-120"/>
              </a:rPr>
              <a:t>0.590  TripAdvisor</a:t>
            </a:r>
            <a:endParaRPr lang="en-US" sz="1800" dirty="0"/>
          </a:p>
        </p:txBody>
      </p:sp>
      <p:sp>
        <p:nvSpPr>
          <p:cNvPr id="25" name="Text 23"/>
          <p:cNvSpPr/>
          <p:nvPr/>
        </p:nvSpPr>
        <p:spPr>
          <a:xfrm>
            <a:off x="914400" y="4315968"/>
            <a:ext cx="4846320" cy="274320"/>
          </a:xfrm>
          <a:prstGeom prst="rect">
            <a:avLst/>
          </a:prstGeom>
          <a:noFill/>
          <a:ln/>
        </p:spPr>
        <p:txBody>
          <a:bodyPr wrap="square" lIns="0" tIns="0" rIns="0" bIns="0" rtlCol="0" anchor="ctr"/>
          <a:lstStyle/>
          <a:p>
            <a:pPr indent="0" marL="0">
              <a:buNone/>
            </a:pPr>
            <a:r>
              <a:rPr lang="en-US" sz="1400" b="1" dirty="0">
                <a:solidFill>
                  <a:srgbClr val="7C3AED"/>
                </a:solidFill>
                <a:latin typeface="Calibri" pitchFamily="34" charset="0"/>
                <a:ea typeface="Calibri" pitchFamily="34" charset="-122"/>
                <a:cs typeface="Calibri" pitchFamily="34" charset="-120"/>
              </a:rPr>
              <a:t>Strongest published signal: Loyalty language</a:t>
            </a:r>
            <a:endParaRPr lang="en-US" sz="1400" dirty="0"/>
          </a:p>
        </p:txBody>
      </p:sp>
      <p:sp>
        <p:nvSpPr>
          <p:cNvPr id="26" name="Text 24"/>
          <p:cNvSpPr/>
          <p:nvPr/>
        </p:nvSpPr>
        <p:spPr>
          <a:xfrm>
            <a:off x="914400" y="4645152"/>
            <a:ext cx="1920240" cy="256032"/>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|β| up to 2.741</a:t>
            </a:r>
            <a:endParaRPr lang="en-US" sz="1300" dirty="0"/>
          </a:p>
        </p:txBody>
      </p:sp>
      <p:sp>
        <p:nvSpPr>
          <p:cNvPr id="27" name="Shape 25"/>
          <p:cNvSpPr/>
          <p:nvPr/>
        </p:nvSpPr>
        <p:spPr>
          <a:xfrm>
            <a:off x="6675120" y="1207008"/>
            <a:ext cx="4864608" cy="3913632"/>
          </a:xfrm>
          <a:prstGeom prst="roundRect">
            <a:avLst>
              <a:gd name="adj" fmla="val 1869"/>
            </a:avLst>
          </a:prstGeom>
          <a:solidFill>
            <a:srgbClr val="FFE4E6"/>
          </a:solidFill>
          <a:ln w="12700">
            <a:solidFill>
              <a:srgbClr val="FFE4E6"/>
            </a:solidFill>
            <a:prstDash val="solid"/>
          </a:ln>
        </p:spPr>
      </p:sp>
      <p:sp>
        <p:nvSpPr>
          <p:cNvPr id="28" name="Text 26"/>
          <p:cNvSpPr/>
          <p:nvPr/>
        </p:nvSpPr>
        <p:spPr>
          <a:xfrm>
            <a:off x="6995160" y="1572768"/>
            <a:ext cx="4251960" cy="347472"/>
          </a:xfrm>
          <a:prstGeom prst="rect">
            <a:avLst/>
          </a:prstGeom>
          <a:noFill/>
          <a:ln/>
        </p:spPr>
        <p:txBody>
          <a:bodyPr wrap="square" lIns="0" tIns="0" rIns="0" bIns="0" rtlCol="0" anchor="ctr"/>
          <a:lstStyle/>
          <a:p>
            <a:pPr indent="0" marL="0">
              <a:buNone/>
            </a:pPr>
            <a:r>
              <a:rPr lang="en-US" sz="2200" b="1" dirty="0">
                <a:solidFill>
                  <a:srgbClr val="E11D48"/>
                </a:solidFill>
                <a:latin typeface="Cambria" pitchFamily="34" charset="0"/>
                <a:ea typeface="Cambria" pitchFamily="34" charset="-122"/>
                <a:cs typeface="Cambria" pitchFamily="34" charset="-120"/>
              </a:rPr>
              <a:t>Our critical appraisal</a:t>
            </a:r>
            <a:endParaRPr lang="en-US" sz="2200" dirty="0"/>
          </a:p>
        </p:txBody>
      </p:sp>
      <p:sp>
        <p:nvSpPr>
          <p:cNvPr id="29" name="Text 27"/>
          <p:cNvSpPr/>
          <p:nvPr/>
        </p:nvSpPr>
        <p:spPr>
          <a:xfrm>
            <a:off x="7004304" y="2194560"/>
            <a:ext cx="329184" cy="329184"/>
          </a:xfrm>
          <a:prstGeom prst="rect">
            <a:avLst/>
          </a:prstGeom>
          <a:solidFill>
            <a:srgbClr val="E11D48"/>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30" name="Text 28"/>
          <p:cNvSpPr/>
          <p:nvPr/>
        </p:nvSpPr>
        <p:spPr>
          <a:xfrm>
            <a:off x="7498080" y="2185416"/>
            <a:ext cx="1920240" cy="256032"/>
          </a:xfrm>
          <a:prstGeom prst="rect">
            <a:avLst/>
          </a:prstGeom>
          <a:noFill/>
          <a:ln/>
        </p:spPr>
        <p:txBody>
          <a:bodyPr wrap="square" lIns="0" tIns="0" rIns="0" bIns="0" rtlCol="0" anchor="ctr"/>
          <a:lstStyle/>
          <a:p>
            <a:pPr indent="0" marL="0">
              <a:buNone/>
            </a:pPr>
            <a:r>
              <a:rPr lang="en-US" sz="1500" b="1" dirty="0">
                <a:solidFill>
                  <a:srgbClr val="172033"/>
                </a:solidFill>
                <a:latin typeface="Calibri" pitchFamily="34" charset="0"/>
                <a:ea typeface="Calibri" pitchFamily="34" charset="-122"/>
                <a:cs typeface="Calibri" pitchFamily="34" charset="-120"/>
              </a:rPr>
              <a:t>Tautology risk</a:t>
            </a:r>
            <a:endParaRPr lang="en-US" sz="1500" dirty="0"/>
          </a:p>
        </p:txBody>
      </p:sp>
      <p:sp>
        <p:nvSpPr>
          <p:cNvPr id="31" name="Text 29"/>
          <p:cNvSpPr/>
          <p:nvPr/>
        </p:nvSpPr>
        <p:spPr>
          <a:xfrm>
            <a:off x="7498080" y="2523744"/>
            <a:ext cx="3593592" cy="594360"/>
          </a:xfrm>
          <a:prstGeom prst="rect">
            <a:avLst/>
          </a:prstGeom>
          <a:noFill/>
          <a:ln/>
        </p:spPr>
        <p:txBody>
          <a:bodyPr wrap="square" lIns="0" tIns="0" rIns="0" bIns="0" rtlCol="0" anchor="ctr">
            <a:normAutofit/>
          </a:bodyPr>
          <a:lstStyle/>
          <a:p>
            <a:pPr indent="0" marL="0">
              <a:buNone/>
            </a:pPr>
            <a:r>
              <a:rPr lang="en-US" sz="1250" dirty="0">
                <a:solidFill>
                  <a:srgbClr val="475569"/>
                </a:solidFill>
                <a:latin typeface="Calibri" pitchFamily="34" charset="0"/>
                <a:ea typeface="Calibri" pitchFamily="34" charset="-122"/>
                <a:cs typeface="Calibri" pitchFamily="34" charset="-120"/>
              </a:rPr>
              <a:t>“Recommend / never again” language is used to explain the rating recorded in the same review.</a:t>
            </a:r>
            <a:endParaRPr lang="en-US" sz="1250" dirty="0"/>
          </a:p>
        </p:txBody>
      </p:sp>
      <p:sp>
        <p:nvSpPr>
          <p:cNvPr id="32" name="Text 30"/>
          <p:cNvSpPr/>
          <p:nvPr/>
        </p:nvSpPr>
        <p:spPr>
          <a:xfrm>
            <a:off x="7004304" y="3429000"/>
            <a:ext cx="329184" cy="329184"/>
          </a:xfrm>
          <a:prstGeom prst="rect">
            <a:avLst/>
          </a:prstGeom>
          <a:solidFill>
            <a:srgbClr val="E11D48"/>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33" name="Text 31"/>
          <p:cNvSpPr/>
          <p:nvPr/>
        </p:nvSpPr>
        <p:spPr>
          <a:xfrm>
            <a:off x="7498080" y="3419856"/>
            <a:ext cx="2560320" cy="256032"/>
          </a:xfrm>
          <a:prstGeom prst="rect">
            <a:avLst/>
          </a:prstGeom>
          <a:noFill/>
          <a:ln/>
        </p:spPr>
        <p:txBody>
          <a:bodyPr wrap="square" lIns="0" tIns="0" rIns="0" bIns="0" rtlCol="0" anchor="ctr"/>
          <a:lstStyle/>
          <a:p>
            <a:pPr indent="0" marL="0">
              <a:buNone/>
            </a:pPr>
            <a:r>
              <a:rPr lang="en-US" sz="1500" b="1" dirty="0">
                <a:solidFill>
                  <a:srgbClr val="172033"/>
                </a:solidFill>
                <a:latin typeface="Calibri" pitchFamily="34" charset="0"/>
                <a:ea typeface="Calibri" pitchFamily="34" charset="-122"/>
                <a:cs typeface="Calibri" pitchFamily="34" charset="-120"/>
              </a:rPr>
              <a:t>Mismatch is unmodeled</a:t>
            </a:r>
            <a:endParaRPr lang="en-US" sz="1500" dirty="0"/>
          </a:p>
        </p:txBody>
      </p:sp>
      <p:sp>
        <p:nvSpPr>
          <p:cNvPr id="34" name="Text 32"/>
          <p:cNvSpPr/>
          <p:nvPr/>
        </p:nvSpPr>
        <p:spPr>
          <a:xfrm>
            <a:off x="7498080" y="3758184"/>
            <a:ext cx="3593592" cy="594360"/>
          </a:xfrm>
          <a:prstGeom prst="rect">
            <a:avLst/>
          </a:prstGeom>
          <a:noFill/>
          <a:ln/>
        </p:spPr>
        <p:txBody>
          <a:bodyPr wrap="square" lIns="0" tIns="0" rIns="0" bIns="0" rtlCol="0" anchor="ctr">
            <a:normAutofit/>
          </a:bodyPr>
          <a:lstStyle/>
          <a:p>
            <a:pPr indent="0" marL="0">
              <a:buNone/>
            </a:pPr>
            <a:r>
              <a:rPr lang="en-US" sz="1250" dirty="0">
                <a:solidFill>
                  <a:srgbClr val="475569"/>
                </a:solidFill>
                <a:latin typeface="Calibri" pitchFamily="34" charset="0"/>
                <a:ea typeface="Calibri" pitchFamily="34" charset="-122"/>
                <a:cs typeface="Calibri" pitchFamily="34" charset="-120"/>
              </a:rPr>
              <a:t>The linear framing cannot explain why negative facility experiences coexist with maximum ratings.</a:t>
            </a:r>
            <a:endParaRPr lang="en-US" sz="1250" dirty="0"/>
          </a:p>
        </p:txBody>
      </p:sp>
      <p:sp>
        <p:nvSpPr>
          <p:cNvPr id="35" name="Text 33"/>
          <p:cNvSpPr/>
          <p:nvPr/>
        </p:nvSpPr>
        <p:spPr>
          <a:xfrm>
            <a:off x="7004304" y="4590288"/>
            <a:ext cx="1325880" cy="219456"/>
          </a:xfrm>
          <a:prstGeom prst="rect">
            <a:avLst/>
          </a:prstGeom>
          <a:noFill/>
          <a:ln/>
        </p:spPr>
        <p:txBody>
          <a:bodyPr wrap="square" lIns="0" tIns="0" rIns="0" bIns="0" rtlCol="0" anchor="ctr"/>
          <a:lstStyle/>
          <a:p>
            <a:pPr indent="0" marL="0">
              <a:buNone/>
            </a:pPr>
            <a:r>
              <a:rPr lang="en-US" sz="1100" b="1" dirty="0">
                <a:solidFill>
                  <a:srgbClr val="E11D48"/>
                </a:solidFill>
                <a:latin typeface="Calibri" pitchFamily="34" charset="0"/>
                <a:ea typeface="Calibri" pitchFamily="34" charset="-122"/>
                <a:cs typeface="Calibri" pitchFamily="34" charset="-120"/>
              </a:rPr>
              <a:t>Extension target</a:t>
            </a:r>
            <a:endParaRPr lang="en-US" sz="1100" dirty="0"/>
          </a:p>
        </p:txBody>
      </p:sp>
      <p:sp>
        <p:nvSpPr>
          <p:cNvPr id="36" name="Text 34"/>
          <p:cNvSpPr/>
          <p:nvPr/>
        </p:nvSpPr>
        <p:spPr>
          <a:xfrm>
            <a:off x="8302752" y="4572000"/>
            <a:ext cx="2788920" cy="256032"/>
          </a:xfrm>
          <a:prstGeom prst="rect">
            <a:avLst/>
          </a:prstGeom>
          <a:noFill/>
          <a:ln/>
        </p:spPr>
        <p:txBody>
          <a:bodyPr wrap="square" lIns="0" tIns="0" rIns="0" bIns="0" rtlCol="0" anchor="ctr">
            <a:normAutofit/>
          </a:bodyPr>
          <a:lstStyle/>
          <a:p>
            <a:pPr indent="0" marL="0">
              <a:buNone/>
            </a:pPr>
            <a:r>
              <a:rPr lang="en-US" sz="1300" b="1" dirty="0">
                <a:solidFill>
                  <a:srgbClr val="172033"/>
                </a:solidFill>
                <a:latin typeface="Calibri" pitchFamily="34" charset="0"/>
                <a:ea typeface="Calibri" pitchFamily="34" charset="-122"/>
                <a:cs typeface="Calibri" pitchFamily="34" charset="-120"/>
              </a:rPr>
              <a:t>Explain the disagreement — do not discard it.</a:t>
            </a:r>
            <a:endParaRPr lang="en-US" sz="1300" dirty="0"/>
          </a:p>
        </p:txBody>
      </p:sp>
      <p:sp>
        <p:nvSpPr>
          <p:cNvPr id="37" name="Text 35"/>
          <p:cNvSpPr/>
          <p:nvPr/>
        </p:nvSpPr>
        <p:spPr>
          <a:xfrm>
            <a:off x="640080" y="6172200"/>
            <a:ext cx="10607040" cy="164592"/>
          </a:xfrm>
          <a:prstGeom prst="rect">
            <a:avLst/>
          </a:prstGeom>
          <a:noFill/>
          <a:ln/>
        </p:spPr>
        <p:txBody>
          <a:bodyPr wrap="square" lIns="0" tIns="0" rIns="0" bIns="0" rtlCol="0" anchor="ctr">
            <a:normAutofit/>
          </a:bodyPr>
          <a:lstStyle/>
          <a:p>
            <a:pPr indent="0" marL="0">
              <a:buNone/>
            </a:pPr>
            <a:r>
              <a:rPr lang="en-US" sz="850" i="1" dirty="0">
                <a:solidFill>
                  <a:srgbClr val="64748B"/>
                </a:solidFill>
                <a:latin typeface="Calibri" pitchFamily="34" charset="0"/>
                <a:ea typeface="Calibri" pitchFamily="34" charset="-122"/>
                <a:cs typeface="Calibri" pitchFamily="34" charset="-120"/>
              </a:rPr>
              <a:t>Source: Le, Nguyen, &amp; Nguyen (2026), International Journal of Hospitality Management 134, 104574; project factsheet.</a:t>
            </a:r>
            <a:endParaRPr lang="en-US" sz="850" dirty="0"/>
          </a:p>
        </p:txBody>
      </p:sp>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320040"/>
            <a:ext cx="5029200" cy="182880"/>
          </a:xfrm>
          <a:prstGeom prst="rect">
            <a:avLst/>
          </a:prstGeom>
          <a:noFill/>
          <a:ln/>
        </p:spPr>
        <p:txBody>
          <a:bodyPr wrap="square" lIns="0" tIns="0" rIns="0" bIns="0" rtlCol="0" anchor="ctr"/>
          <a:lstStyle/>
          <a:p>
            <a:pPr indent="0" marL="0">
              <a:buNone/>
            </a:pPr>
            <a:r>
              <a:rPr lang="en-US" sz="1000" b="1" spc="120" kern="0" dirty="0">
                <a:solidFill>
                  <a:srgbClr val="0F766E"/>
                </a:solidFill>
                <a:latin typeface="Calibri" pitchFamily="34" charset="0"/>
                <a:ea typeface="Calibri" pitchFamily="34" charset="-122"/>
                <a:cs typeface="Calibri" pitchFamily="34" charset="-120"/>
              </a:rPr>
              <a:t>TWO ROUNDS, LATEST-FIRST</a:t>
            </a:r>
            <a:endParaRPr lang="en-US" sz="1000" dirty="0"/>
          </a:p>
        </p:txBody>
      </p:sp>
      <p:sp>
        <p:nvSpPr>
          <p:cNvPr id="3" name="Text 1"/>
          <p:cNvSpPr/>
          <p:nvPr/>
        </p:nvSpPr>
        <p:spPr>
          <a:xfrm>
            <a:off x="640080" y="548640"/>
            <a:ext cx="10881360" cy="502920"/>
          </a:xfrm>
          <a:prstGeom prst="rect">
            <a:avLst/>
          </a:prstGeom>
          <a:noFill/>
          <a:ln/>
        </p:spPr>
        <p:txBody>
          <a:bodyPr wrap="square" lIns="0" tIns="0" rIns="0" bIns="0" rtlCol="0" anchor="ctr">
            <a:normAutofit/>
          </a:bodyPr>
          <a:lstStyle/>
          <a:p>
            <a:pPr indent="0" marL="0">
              <a:buNone/>
            </a:pPr>
            <a:r>
              <a:rPr lang="en-US" sz="2900" b="1" dirty="0">
                <a:solidFill>
                  <a:srgbClr val="172033"/>
                </a:solidFill>
                <a:latin typeface="Cambria" pitchFamily="34" charset="0"/>
                <a:ea typeface="Cambria" pitchFamily="34" charset="-122"/>
                <a:cs typeface="Cambria" pitchFamily="34" charset="-120"/>
              </a:rPr>
              <a:t>What the literature survey covered</a:t>
            </a:r>
            <a:endParaRPr lang="en-US" sz="2900" dirty="0"/>
          </a:p>
        </p:txBody>
      </p:sp>
      <p:sp>
        <p:nvSpPr>
          <p:cNvPr id="4" name="Text 2"/>
          <p:cNvSpPr/>
          <p:nvPr/>
        </p:nvSpPr>
        <p:spPr>
          <a:xfrm>
            <a:off x="658368" y="1143000"/>
            <a:ext cx="2743200" cy="274320"/>
          </a:xfrm>
          <a:prstGeom prst="rect">
            <a:avLst/>
          </a:prstGeom>
          <a:noFill/>
          <a:ln/>
        </p:spPr>
        <p:txBody>
          <a:bodyPr wrap="square" lIns="0" tIns="0" rIns="0" bIns="0" rtlCol="0" anchor="ctr"/>
          <a:lstStyle/>
          <a:p>
            <a:pPr indent="0" marL="0">
              <a:buNone/>
            </a:pPr>
            <a:r>
              <a:rPr lang="en-US" sz="1500" b="1" dirty="0">
                <a:solidFill>
                  <a:srgbClr val="475569"/>
                </a:solidFill>
                <a:latin typeface="Calibri" pitchFamily="34" charset="0"/>
                <a:ea typeface="Calibri" pitchFamily="34" charset="-122"/>
                <a:cs typeface="Calibri" pitchFamily="34" charset="-120"/>
              </a:rPr>
              <a:t>Core evidence set</a:t>
            </a:r>
            <a:endParaRPr lang="en-US" sz="1500" dirty="0"/>
          </a:p>
        </p:txBody>
      </p:sp>
      <p:sp>
        <p:nvSpPr>
          <p:cNvPr id="5" name="Shape 3"/>
          <p:cNvSpPr/>
          <p:nvPr/>
        </p:nvSpPr>
        <p:spPr>
          <a:xfrm>
            <a:off x="658368" y="1572768"/>
            <a:ext cx="3456432" cy="2084832"/>
          </a:xfrm>
          <a:prstGeom prst="roundRect">
            <a:avLst>
              <a:gd name="adj" fmla="val 3509"/>
            </a:avLst>
          </a:prstGeom>
          <a:solidFill>
            <a:srgbClr val="FFE4E6"/>
          </a:solidFill>
          <a:ln w="12700">
            <a:solidFill>
              <a:srgbClr val="FFE4E6"/>
            </a:solidFill>
            <a:prstDash val="solid"/>
          </a:ln>
        </p:spPr>
      </p:sp>
      <p:sp>
        <p:nvSpPr>
          <p:cNvPr id="6" name="Shape 4"/>
          <p:cNvSpPr/>
          <p:nvPr/>
        </p:nvSpPr>
        <p:spPr>
          <a:xfrm>
            <a:off x="877824" y="1847088"/>
            <a:ext cx="749808" cy="749808"/>
          </a:xfrm>
          <a:prstGeom prst="ellipse">
            <a:avLst/>
          </a:prstGeom>
          <a:solidFill>
            <a:srgbClr val="E11D48"/>
          </a:solidFill>
          <a:ln w="12700">
            <a:solidFill>
              <a:srgbClr val="E11D48"/>
            </a:solidFill>
            <a:prstDash val="solid"/>
          </a:ln>
        </p:spPr>
      </p:sp>
      <p:sp>
        <p:nvSpPr>
          <p:cNvPr id="7" name="Text 5"/>
          <p:cNvSpPr/>
          <p:nvPr/>
        </p:nvSpPr>
        <p:spPr>
          <a:xfrm>
            <a:off x="877824" y="2029968"/>
            <a:ext cx="749808" cy="29260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7</a:t>
            </a:r>
            <a:endParaRPr lang="en-US" sz="2200" dirty="0"/>
          </a:p>
        </p:txBody>
      </p:sp>
      <p:sp>
        <p:nvSpPr>
          <p:cNvPr id="8" name="Text 6"/>
          <p:cNvSpPr/>
          <p:nvPr/>
        </p:nvSpPr>
        <p:spPr>
          <a:xfrm>
            <a:off x="1828800" y="1828800"/>
            <a:ext cx="1965960" cy="475488"/>
          </a:xfrm>
          <a:prstGeom prst="rect">
            <a:avLst/>
          </a:prstGeom>
          <a:noFill/>
          <a:ln/>
        </p:spPr>
        <p:txBody>
          <a:bodyPr wrap="square" lIns="0" tIns="0" rIns="0" bIns="0" rtlCol="0" anchor="ctr">
            <a:normAutofit/>
          </a:bodyPr>
          <a:lstStyle/>
          <a:p>
            <a:pPr indent="0" marL="0">
              <a:buNone/>
            </a:pPr>
            <a:r>
              <a:rPr lang="en-US" sz="1600" b="1" dirty="0">
                <a:solidFill>
                  <a:srgbClr val="172033"/>
                </a:solidFill>
                <a:latin typeface="Calibri" pitchFamily="34" charset="0"/>
                <a:ea typeface="Calibri" pitchFamily="34" charset="-122"/>
                <a:cs typeface="Calibri" pitchFamily="34" charset="-120"/>
              </a:rPr>
              <a:t>Review inconsistency</a:t>
            </a:r>
            <a:endParaRPr lang="en-US" sz="1600" dirty="0"/>
          </a:p>
        </p:txBody>
      </p:sp>
      <p:sp>
        <p:nvSpPr>
          <p:cNvPr id="9" name="Text 7"/>
          <p:cNvSpPr/>
          <p:nvPr/>
        </p:nvSpPr>
        <p:spPr>
          <a:xfrm>
            <a:off x="896112" y="2788920"/>
            <a:ext cx="2926080" cy="457200"/>
          </a:xfrm>
          <a:prstGeom prst="rect">
            <a:avLst/>
          </a:prstGeom>
          <a:noFill/>
          <a:ln/>
        </p:spPr>
        <p:txBody>
          <a:bodyPr wrap="square" lIns="0" tIns="0" rIns="0" bIns="0" rtlCol="0" anchor="ctr">
            <a:normAutofit/>
          </a:bodyPr>
          <a:lstStyle/>
          <a:p>
            <a:pPr indent="0" marL="0">
              <a:buNone/>
            </a:pPr>
            <a:r>
              <a:rPr lang="en-US" sz="1250" dirty="0">
                <a:solidFill>
                  <a:srgbClr val="475569"/>
                </a:solidFill>
                <a:latin typeface="Calibri" pitchFamily="34" charset="0"/>
                <a:ea typeface="Calibri" pitchFamily="34" charset="-122"/>
                <a:cs typeface="Calibri" pitchFamily="34" charset="-120"/>
              </a:rPr>
              <a:t>definition, direction, magnitude</a:t>
            </a:r>
            <a:endParaRPr lang="en-US" sz="1250" dirty="0"/>
          </a:p>
        </p:txBody>
      </p:sp>
      <p:sp>
        <p:nvSpPr>
          <p:cNvPr id="10" name="Shape 8"/>
          <p:cNvSpPr/>
          <p:nvPr/>
        </p:nvSpPr>
        <p:spPr>
          <a:xfrm>
            <a:off x="4361688" y="1572768"/>
            <a:ext cx="3456432" cy="2084832"/>
          </a:xfrm>
          <a:prstGeom prst="roundRect">
            <a:avLst>
              <a:gd name="adj" fmla="val 3509"/>
            </a:avLst>
          </a:prstGeom>
          <a:solidFill>
            <a:srgbClr val="DBEAFE"/>
          </a:solidFill>
          <a:ln w="12700">
            <a:solidFill>
              <a:srgbClr val="DBEAFE"/>
            </a:solidFill>
            <a:prstDash val="solid"/>
          </a:ln>
        </p:spPr>
      </p:sp>
      <p:sp>
        <p:nvSpPr>
          <p:cNvPr id="11" name="Shape 9"/>
          <p:cNvSpPr/>
          <p:nvPr/>
        </p:nvSpPr>
        <p:spPr>
          <a:xfrm>
            <a:off x="4581144" y="1847088"/>
            <a:ext cx="749808" cy="749808"/>
          </a:xfrm>
          <a:prstGeom prst="ellipse">
            <a:avLst/>
          </a:prstGeom>
          <a:solidFill>
            <a:srgbClr val="2563EB"/>
          </a:solidFill>
          <a:ln w="12700">
            <a:solidFill>
              <a:srgbClr val="2563EB"/>
            </a:solidFill>
            <a:prstDash val="solid"/>
          </a:ln>
        </p:spPr>
      </p:sp>
      <p:sp>
        <p:nvSpPr>
          <p:cNvPr id="12" name="Text 10"/>
          <p:cNvSpPr/>
          <p:nvPr/>
        </p:nvSpPr>
        <p:spPr>
          <a:xfrm>
            <a:off x="4581144" y="2029968"/>
            <a:ext cx="749808" cy="29260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3" name="Text 11"/>
          <p:cNvSpPr/>
          <p:nvPr/>
        </p:nvSpPr>
        <p:spPr>
          <a:xfrm>
            <a:off x="5532120" y="1828800"/>
            <a:ext cx="1965960" cy="475488"/>
          </a:xfrm>
          <a:prstGeom prst="rect">
            <a:avLst/>
          </a:prstGeom>
          <a:noFill/>
          <a:ln/>
        </p:spPr>
        <p:txBody>
          <a:bodyPr wrap="square" lIns="0" tIns="0" rIns="0" bIns="0" rtlCol="0" anchor="ctr">
            <a:normAutofit/>
          </a:bodyPr>
          <a:lstStyle/>
          <a:p>
            <a:pPr indent="0" marL="0">
              <a:buNone/>
            </a:pPr>
            <a:r>
              <a:rPr lang="en-US" sz="1600" b="1" dirty="0">
                <a:solidFill>
                  <a:srgbClr val="172033"/>
                </a:solidFill>
                <a:latin typeface="Calibri" pitchFamily="34" charset="0"/>
                <a:ea typeface="Calibri" pitchFamily="34" charset="-122"/>
                <a:cs typeface="Calibri" pitchFamily="34" charset="-120"/>
              </a:rPr>
              <a:t>Hospitality ABSA</a:t>
            </a:r>
            <a:endParaRPr lang="en-US" sz="1600" dirty="0"/>
          </a:p>
        </p:txBody>
      </p:sp>
      <p:sp>
        <p:nvSpPr>
          <p:cNvPr id="14" name="Text 12"/>
          <p:cNvSpPr/>
          <p:nvPr/>
        </p:nvSpPr>
        <p:spPr>
          <a:xfrm>
            <a:off x="4599432" y="2788920"/>
            <a:ext cx="2926080" cy="457200"/>
          </a:xfrm>
          <a:prstGeom prst="rect">
            <a:avLst/>
          </a:prstGeom>
          <a:noFill/>
          <a:ln/>
        </p:spPr>
        <p:txBody>
          <a:bodyPr wrap="square" lIns="0" tIns="0" rIns="0" bIns="0" rtlCol="0" anchor="ctr">
            <a:normAutofit/>
          </a:bodyPr>
          <a:lstStyle/>
          <a:p>
            <a:pPr indent="0" marL="0">
              <a:buNone/>
            </a:pPr>
            <a:r>
              <a:rPr lang="en-US" sz="1250" dirty="0">
                <a:solidFill>
                  <a:srgbClr val="475569"/>
                </a:solidFill>
                <a:latin typeface="Calibri" pitchFamily="34" charset="0"/>
                <a:ea typeface="Calibri" pitchFamily="34" charset="-122"/>
                <a:cs typeface="Calibri" pitchFamily="34" charset="-120"/>
              </a:rPr>
              <a:t>aspects, sentiment, rating baselines</a:t>
            </a:r>
            <a:endParaRPr lang="en-US" sz="1250" dirty="0"/>
          </a:p>
        </p:txBody>
      </p:sp>
      <p:sp>
        <p:nvSpPr>
          <p:cNvPr id="15" name="Shape 13"/>
          <p:cNvSpPr/>
          <p:nvPr/>
        </p:nvSpPr>
        <p:spPr>
          <a:xfrm>
            <a:off x="8065008" y="1572768"/>
            <a:ext cx="3456432" cy="2084832"/>
          </a:xfrm>
          <a:prstGeom prst="roundRect">
            <a:avLst>
              <a:gd name="adj" fmla="val 3509"/>
            </a:avLst>
          </a:prstGeom>
          <a:solidFill>
            <a:srgbClr val="CCFBF1"/>
          </a:solidFill>
          <a:ln w="12700">
            <a:solidFill>
              <a:srgbClr val="CCFBF1"/>
            </a:solidFill>
            <a:prstDash val="solid"/>
          </a:ln>
        </p:spPr>
      </p:sp>
      <p:sp>
        <p:nvSpPr>
          <p:cNvPr id="16" name="Shape 14"/>
          <p:cNvSpPr/>
          <p:nvPr/>
        </p:nvSpPr>
        <p:spPr>
          <a:xfrm>
            <a:off x="8284464" y="1847088"/>
            <a:ext cx="749808" cy="749808"/>
          </a:xfrm>
          <a:prstGeom prst="ellipse">
            <a:avLst/>
          </a:prstGeom>
          <a:solidFill>
            <a:srgbClr val="0F766E"/>
          </a:solidFill>
          <a:ln w="12700">
            <a:solidFill>
              <a:srgbClr val="0F766E"/>
            </a:solidFill>
            <a:prstDash val="solid"/>
          </a:ln>
        </p:spPr>
      </p:sp>
      <p:sp>
        <p:nvSpPr>
          <p:cNvPr id="17" name="Text 15"/>
          <p:cNvSpPr/>
          <p:nvPr/>
        </p:nvSpPr>
        <p:spPr>
          <a:xfrm>
            <a:off x="8284464" y="2029968"/>
            <a:ext cx="749808" cy="29260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18" name="Text 16"/>
          <p:cNvSpPr/>
          <p:nvPr/>
        </p:nvSpPr>
        <p:spPr>
          <a:xfrm>
            <a:off x="9235440" y="1828800"/>
            <a:ext cx="1965960" cy="475488"/>
          </a:xfrm>
          <a:prstGeom prst="rect">
            <a:avLst/>
          </a:prstGeom>
          <a:noFill/>
          <a:ln/>
        </p:spPr>
        <p:txBody>
          <a:bodyPr wrap="square" lIns="0" tIns="0" rIns="0" bIns="0" rtlCol="0" anchor="ctr">
            <a:normAutofit/>
          </a:bodyPr>
          <a:lstStyle/>
          <a:p>
            <a:pPr indent="0" marL="0">
              <a:buNone/>
            </a:pPr>
            <a:r>
              <a:rPr lang="en-US" sz="1600" b="1" dirty="0">
                <a:solidFill>
                  <a:srgbClr val="172033"/>
                </a:solidFill>
                <a:latin typeface="Calibri" pitchFamily="34" charset="0"/>
                <a:ea typeface="Calibri" pitchFamily="34" charset="-122"/>
                <a:cs typeface="Calibri" pitchFamily="34" charset="-120"/>
              </a:rPr>
              <a:t>Forgiveness &amp; buffering</a:t>
            </a:r>
            <a:endParaRPr lang="en-US" sz="1600" dirty="0"/>
          </a:p>
        </p:txBody>
      </p:sp>
      <p:sp>
        <p:nvSpPr>
          <p:cNvPr id="19" name="Text 17"/>
          <p:cNvSpPr/>
          <p:nvPr/>
        </p:nvSpPr>
        <p:spPr>
          <a:xfrm>
            <a:off x="8302752" y="2788920"/>
            <a:ext cx="2926080" cy="457200"/>
          </a:xfrm>
          <a:prstGeom prst="rect">
            <a:avLst/>
          </a:prstGeom>
          <a:noFill/>
          <a:ln/>
        </p:spPr>
        <p:txBody>
          <a:bodyPr wrap="square" lIns="0" tIns="0" rIns="0" bIns="0" rtlCol="0" anchor="ctr">
            <a:normAutofit/>
          </a:bodyPr>
          <a:lstStyle/>
          <a:p>
            <a:pPr indent="0" marL="0">
              <a:buNone/>
            </a:pPr>
            <a:r>
              <a:rPr lang="en-US" sz="1250" dirty="0">
                <a:solidFill>
                  <a:srgbClr val="475569"/>
                </a:solidFill>
                <a:latin typeface="Calibri" pitchFamily="34" charset="0"/>
                <a:ea typeface="Calibri" pitchFamily="34" charset="-122"/>
                <a:cs typeface="Calibri" pitchFamily="34" charset="-120"/>
              </a:rPr>
              <a:t>justice, empathy, recovery mechanisms</a:t>
            </a:r>
            <a:endParaRPr lang="en-US" sz="1250" dirty="0"/>
          </a:p>
        </p:txBody>
      </p:sp>
      <p:sp>
        <p:nvSpPr>
          <p:cNvPr id="20" name="Shape 18"/>
          <p:cNvSpPr/>
          <p:nvPr/>
        </p:nvSpPr>
        <p:spPr>
          <a:xfrm>
            <a:off x="658368" y="4069080"/>
            <a:ext cx="10881360" cy="1371600"/>
          </a:xfrm>
          <a:prstGeom prst="roundRect">
            <a:avLst>
              <a:gd name="adj" fmla="val 5333"/>
            </a:avLst>
          </a:prstGeom>
          <a:solidFill>
            <a:srgbClr val="FFFFFF"/>
          </a:solidFill>
          <a:ln w="12700">
            <a:solidFill>
              <a:srgbClr val="E2E8F0"/>
            </a:solidFill>
            <a:prstDash val="solid"/>
          </a:ln>
        </p:spPr>
      </p:sp>
      <p:sp>
        <p:nvSpPr>
          <p:cNvPr id="21" name="Text 19"/>
          <p:cNvSpPr/>
          <p:nvPr/>
        </p:nvSpPr>
        <p:spPr>
          <a:xfrm>
            <a:off x="896112" y="4370832"/>
            <a:ext cx="2103120" cy="384048"/>
          </a:xfrm>
          <a:prstGeom prst="rect">
            <a:avLst/>
          </a:prstGeom>
          <a:noFill/>
          <a:ln/>
        </p:spPr>
        <p:txBody>
          <a:bodyPr wrap="square" lIns="0" tIns="0" rIns="0" bIns="0" rtlCol="0" anchor="ctr">
            <a:normAutofit/>
          </a:bodyPr>
          <a:lstStyle/>
          <a:p>
            <a:pPr algn="ctr" indent="0" marL="0">
              <a:buNone/>
            </a:pPr>
            <a:r>
              <a:rPr lang="en-US" sz="2300" b="1" dirty="0">
                <a:solidFill>
                  <a:srgbClr val="172033"/>
                </a:solidFill>
                <a:latin typeface="Cambria" pitchFamily="34" charset="0"/>
                <a:ea typeface="Cambria" pitchFamily="34" charset="-122"/>
                <a:cs typeface="Cambria" pitchFamily="34" charset="-120"/>
              </a:rPr>
              <a:t>36 months</a:t>
            </a:r>
            <a:endParaRPr lang="en-US" sz="2300" dirty="0"/>
          </a:p>
        </p:txBody>
      </p:sp>
      <p:sp>
        <p:nvSpPr>
          <p:cNvPr id="22" name="Text 20"/>
          <p:cNvSpPr/>
          <p:nvPr/>
        </p:nvSpPr>
        <p:spPr>
          <a:xfrm>
            <a:off x="896112" y="4828032"/>
            <a:ext cx="2103120" cy="310896"/>
          </a:xfrm>
          <a:prstGeom prst="rect">
            <a:avLst/>
          </a:prstGeom>
          <a:noFill/>
          <a:ln/>
        </p:spPr>
        <p:txBody>
          <a:bodyPr wrap="square" lIns="0" tIns="0" rIns="0" bIns="0" rtlCol="0" anchor="ctr">
            <a:normAutofit/>
          </a:bodyPr>
          <a:lstStyle/>
          <a:p>
            <a:pPr algn="ctr" indent="0" marL="0">
              <a:buNone/>
            </a:pPr>
            <a:r>
              <a:rPr lang="en-US" sz="1150" dirty="0">
                <a:solidFill>
                  <a:srgbClr val="475569"/>
                </a:solidFill>
                <a:latin typeface="Calibri" pitchFamily="34" charset="0"/>
                <a:ea typeface="Calibri" pitchFamily="34" charset="-122"/>
                <a:cs typeface="Calibri" pitchFamily="34" charset="-120"/>
              </a:rPr>
              <a:t>active search window</a:t>
            </a:r>
            <a:endParaRPr lang="en-US" sz="1150" dirty="0"/>
          </a:p>
        </p:txBody>
      </p:sp>
      <p:sp>
        <p:nvSpPr>
          <p:cNvPr id="23" name="Text 21"/>
          <p:cNvSpPr/>
          <p:nvPr/>
        </p:nvSpPr>
        <p:spPr>
          <a:xfrm>
            <a:off x="3575304" y="4370832"/>
            <a:ext cx="2103120" cy="384048"/>
          </a:xfrm>
          <a:prstGeom prst="rect">
            <a:avLst/>
          </a:prstGeom>
          <a:noFill/>
          <a:ln/>
        </p:spPr>
        <p:txBody>
          <a:bodyPr wrap="square" lIns="0" tIns="0" rIns="0" bIns="0" rtlCol="0" anchor="ctr">
            <a:normAutofit/>
          </a:bodyPr>
          <a:lstStyle/>
          <a:p>
            <a:pPr algn="ctr" indent="0" marL="0">
              <a:buNone/>
            </a:pPr>
            <a:r>
              <a:rPr lang="en-US" sz="2300" b="1" dirty="0">
                <a:solidFill>
                  <a:srgbClr val="172033"/>
                </a:solidFill>
                <a:latin typeface="Cambria" pitchFamily="34" charset="0"/>
                <a:ea typeface="Cambria" pitchFamily="34" charset="-122"/>
                <a:cs typeface="Cambria" pitchFamily="34" charset="-120"/>
              </a:rPr>
              <a:t>6</a:t>
            </a:r>
            <a:endParaRPr lang="en-US" sz="2300" dirty="0"/>
          </a:p>
        </p:txBody>
      </p:sp>
      <p:sp>
        <p:nvSpPr>
          <p:cNvPr id="24" name="Text 22"/>
          <p:cNvSpPr/>
          <p:nvPr/>
        </p:nvSpPr>
        <p:spPr>
          <a:xfrm>
            <a:off x="3575304" y="4828032"/>
            <a:ext cx="2103120" cy="310896"/>
          </a:xfrm>
          <a:prstGeom prst="rect">
            <a:avLst/>
          </a:prstGeom>
          <a:noFill/>
          <a:ln/>
        </p:spPr>
        <p:txBody>
          <a:bodyPr wrap="square" lIns="0" tIns="0" rIns="0" bIns="0" rtlCol="0" anchor="ctr">
            <a:normAutofit/>
          </a:bodyPr>
          <a:lstStyle/>
          <a:p>
            <a:pPr algn="ctr" indent="0" marL="0">
              <a:buNone/>
            </a:pPr>
            <a:r>
              <a:rPr lang="en-US" sz="1150" dirty="0">
                <a:solidFill>
                  <a:srgbClr val="475569"/>
                </a:solidFill>
                <a:latin typeface="Calibri" pitchFamily="34" charset="0"/>
                <a:ea typeface="Calibri" pitchFamily="34" charset="-122"/>
                <a:cs typeface="Calibri" pitchFamily="34" charset="-120"/>
              </a:rPr>
              <a:t>new core sources in Round 2</a:t>
            </a:r>
            <a:endParaRPr lang="en-US" sz="1150" dirty="0"/>
          </a:p>
        </p:txBody>
      </p:sp>
      <p:sp>
        <p:nvSpPr>
          <p:cNvPr id="25" name="Text 23"/>
          <p:cNvSpPr/>
          <p:nvPr/>
        </p:nvSpPr>
        <p:spPr>
          <a:xfrm>
            <a:off x="6254496" y="4370832"/>
            <a:ext cx="2103120" cy="384048"/>
          </a:xfrm>
          <a:prstGeom prst="rect">
            <a:avLst/>
          </a:prstGeom>
          <a:noFill/>
          <a:ln/>
        </p:spPr>
        <p:txBody>
          <a:bodyPr wrap="square" lIns="0" tIns="0" rIns="0" bIns="0" rtlCol="0" anchor="ctr">
            <a:normAutofit/>
          </a:bodyPr>
          <a:lstStyle/>
          <a:p>
            <a:pPr algn="ctr" indent="0" marL="0">
              <a:buNone/>
            </a:pPr>
            <a:r>
              <a:rPr lang="en-US" sz="2300" b="1" dirty="0">
                <a:solidFill>
                  <a:srgbClr val="172033"/>
                </a:solidFill>
                <a:latin typeface="Cambria" pitchFamily="34" charset="0"/>
                <a:ea typeface="Cambria" pitchFamily="34" charset="-122"/>
                <a:cs typeface="Cambria" pitchFamily="34" charset="-120"/>
              </a:rPr>
              <a:t>3</a:t>
            </a:r>
            <a:endParaRPr lang="en-US" sz="2300" dirty="0"/>
          </a:p>
        </p:txBody>
      </p:sp>
      <p:sp>
        <p:nvSpPr>
          <p:cNvPr id="26" name="Text 24"/>
          <p:cNvSpPr/>
          <p:nvPr/>
        </p:nvSpPr>
        <p:spPr>
          <a:xfrm>
            <a:off x="6254496" y="4828032"/>
            <a:ext cx="2103120" cy="310896"/>
          </a:xfrm>
          <a:prstGeom prst="rect">
            <a:avLst/>
          </a:prstGeom>
          <a:noFill/>
          <a:ln/>
        </p:spPr>
        <p:txBody>
          <a:bodyPr wrap="square" lIns="0" tIns="0" rIns="0" bIns="0" rtlCol="0" anchor="ctr">
            <a:normAutofit/>
          </a:bodyPr>
          <a:lstStyle/>
          <a:p>
            <a:pPr algn="ctr" indent="0" marL="0">
              <a:buNone/>
            </a:pPr>
            <a:r>
              <a:rPr lang="en-US" sz="1150" dirty="0">
                <a:solidFill>
                  <a:srgbClr val="475569"/>
                </a:solidFill>
                <a:latin typeface="Calibri" pitchFamily="34" charset="0"/>
                <a:ea typeface="Calibri" pitchFamily="34" charset="-122"/>
                <a:cs typeface="Calibri" pitchFamily="34" charset="-120"/>
              </a:rPr>
              <a:t>technical watchlist papers</a:t>
            </a:r>
            <a:endParaRPr lang="en-US" sz="1150" dirty="0"/>
          </a:p>
        </p:txBody>
      </p:sp>
      <p:sp>
        <p:nvSpPr>
          <p:cNvPr id="27" name="Text 25"/>
          <p:cNvSpPr/>
          <p:nvPr/>
        </p:nvSpPr>
        <p:spPr>
          <a:xfrm>
            <a:off x="8933688" y="4370832"/>
            <a:ext cx="2103120" cy="384048"/>
          </a:xfrm>
          <a:prstGeom prst="rect">
            <a:avLst/>
          </a:prstGeom>
          <a:noFill/>
          <a:ln/>
        </p:spPr>
        <p:txBody>
          <a:bodyPr wrap="square" lIns="0" tIns="0" rIns="0" bIns="0" rtlCol="0" anchor="ctr">
            <a:normAutofit/>
          </a:bodyPr>
          <a:lstStyle/>
          <a:p>
            <a:pPr algn="ctr" indent="0" marL="0">
              <a:buNone/>
            </a:pPr>
            <a:r>
              <a:rPr lang="en-US" sz="2300" b="1" dirty="0">
                <a:solidFill>
                  <a:srgbClr val="0F766E"/>
                </a:solidFill>
                <a:latin typeface="Cambria" pitchFamily="34" charset="0"/>
                <a:ea typeface="Cambria" pitchFamily="34" charset="-122"/>
                <a:cs typeface="Cambria" pitchFamily="34" charset="-120"/>
              </a:rPr>
              <a:t>15</a:t>
            </a:r>
            <a:endParaRPr lang="en-US" sz="2300" dirty="0"/>
          </a:p>
        </p:txBody>
      </p:sp>
      <p:sp>
        <p:nvSpPr>
          <p:cNvPr id="28" name="Text 26"/>
          <p:cNvSpPr/>
          <p:nvPr/>
        </p:nvSpPr>
        <p:spPr>
          <a:xfrm>
            <a:off x="8933688" y="4828032"/>
            <a:ext cx="2103120" cy="310896"/>
          </a:xfrm>
          <a:prstGeom prst="rect">
            <a:avLst/>
          </a:prstGeom>
          <a:noFill/>
          <a:ln/>
        </p:spPr>
        <p:txBody>
          <a:bodyPr wrap="square" lIns="0" tIns="0" rIns="0" bIns="0" rtlCol="0" anchor="ctr">
            <a:normAutofit/>
          </a:bodyPr>
          <a:lstStyle/>
          <a:p>
            <a:pPr algn="ctr" indent="0" marL="0">
              <a:buNone/>
            </a:pPr>
            <a:r>
              <a:rPr lang="en-US" sz="1150" dirty="0">
                <a:solidFill>
                  <a:srgbClr val="475569"/>
                </a:solidFill>
                <a:latin typeface="Calibri" pitchFamily="34" charset="0"/>
                <a:ea typeface="Calibri" pitchFamily="34" charset="-122"/>
                <a:cs typeface="Calibri" pitchFamily="34" charset="-120"/>
              </a:rPr>
              <a:t>core-paper cap reached</a:t>
            </a:r>
            <a:endParaRPr lang="en-US" sz="1150" dirty="0"/>
          </a:p>
        </p:txBody>
      </p:sp>
      <p:sp>
        <p:nvSpPr>
          <p:cNvPr id="29" name="Text 27"/>
          <p:cNvSpPr/>
          <p:nvPr/>
        </p:nvSpPr>
        <p:spPr>
          <a:xfrm>
            <a:off x="1353312" y="5687568"/>
            <a:ext cx="9509760" cy="274320"/>
          </a:xfrm>
          <a:prstGeom prst="rect">
            <a:avLst/>
          </a:prstGeom>
          <a:noFill/>
          <a:ln/>
        </p:spPr>
        <p:txBody>
          <a:bodyPr wrap="square" lIns="0" tIns="0" rIns="0" bIns="0" rtlCol="0" anchor="ctr">
            <a:normAutofit/>
          </a:bodyPr>
          <a:lstStyle/>
          <a:p>
            <a:pPr algn="ctr" indent="0" marL="0">
              <a:buNone/>
            </a:pPr>
            <a:r>
              <a:rPr lang="en-US" sz="1500" b="1" dirty="0">
                <a:solidFill>
                  <a:srgbClr val="0F766E"/>
                </a:solidFill>
                <a:latin typeface="Calibri" pitchFamily="34" charset="0"/>
                <a:ea typeface="Calibri" pitchFamily="34" charset="-122"/>
                <a:cs typeface="Calibri" pitchFamily="34" charset="-120"/>
              </a:rPr>
              <a:t>Broad search paused: the next uncertainty is empirical, not bibliographic.</a:t>
            </a:r>
            <a:endParaRPr lang="en-US" sz="1500" dirty="0"/>
          </a:p>
        </p:txBody>
      </p:sp>
      <p:sp>
        <p:nvSpPr>
          <p:cNvPr id="30" name="Text 28"/>
          <p:cNvSpPr/>
          <p:nvPr/>
        </p:nvSpPr>
        <p:spPr>
          <a:xfrm>
            <a:off x="640080" y="6172200"/>
            <a:ext cx="10607040" cy="164592"/>
          </a:xfrm>
          <a:prstGeom prst="rect">
            <a:avLst/>
          </a:prstGeom>
          <a:noFill/>
          <a:ln/>
        </p:spPr>
        <p:txBody>
          <a:bodyPr wrap="square" lIns="0" tIns="0" rIns="0" bIns="0" rtlCol="0" anchor="ctr">
            <a:normAutofit/>
          </a:bodyPr>
          <a:lstStyle/>
          <a:p>
            <a:pPr indent="0" marL="0">
              <a:buNone/>
            </a:pPr>
            <a:r>
              <a:rPr lang="en-US" sz="850" i="1" dirty="0">
                <a:solidFill>
                  <a:srgbClr val="64748B"/>
                </a:solidFill>
                <a:latin typeface="Calibri" pitchFamily="34" charset="0"/>
                <a:ea typeface="Calibri" pitchFamily="34" charset="-122"/>
                <a:cs typeface="Calibri" pitchFamily="34" charset="-120"/>
              </a:rPr>
              <a:t>Sources: RDR-0001, RDR-0002, survey matrices Round 1–2, refs/INDEX.md.</a:t>
            </a:r>
            <a:endParaRPr lang="en-US" sz="850" dirty="0"/>
          </a:p>
        </p:txBody>
      </p:sp>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320040"/>
            <a:ext cx="5029200" cy="182880"/>
          </a:xfrm>
          <a:prstGeom prst="rect">
            <a:avLst/>
          </a:prstGeom>
          <a:noFill/>
          <a:ln/>
        </p:spPr>
        <p:txBody>
          <a:bodyPr wrap="square" lIns="0" tIns="0" rIns="0" bIns="0" rtlCol="0" anchor="ctr"/>
          <a:lstStyle/>
          <a:p>
            <a:pPr indent="0" marL="0">
              <a:buNone/>
            </a:pPr>
            <a:r>
              <a:rPr lang="en-US" sz="1000" b="1" spc="120" kern="0" dirty="0">
                <a:solidFill>
                  <a:srgbClr val="0F766E"/>
                </a:solidFill>
                <a:latin typeface="Calibri" pitchFamily="34" charset="0"/>
                <a:ea typeface="Calibri" pitchFamily="34" charset="-122"/>
                <a:cs typeface="Calibri" pitchFamily="34" charset="-120"/>
              </a:rPr>
              <a:t>WHAT IS NOW SUPPORTED</a:t>
            </a:r>
            <a:endParaRPr lang="en-US" sz="1000" dirty="0"/>
          </a:p>
        </p:txBody>
      </p:sp>
      <p:sp>
        <p:nvSpPr>
          <p:cNvPr id="3" name="Text 1"/>
          <p:cNvSpPr/>
          <p:nvPr/>
        </p:nvSpPr>
        <p:spPr>
          <a:xfrm>
            <a:off x="640080" y="548640"/>
            <a:ext cx="10881360" cy="502920"/>
          </a:xfrm>
          <a:prstGeom prst="rect">
            <a:avLst/>
          </a:prstGeom>
          <a:noFill/>
          <a:ln/>
        </p:spPr>
        <p:txBody>
          <a:bodyPr wrap="square" lIns="0" tIns="0" rIns="0" bIns="0" rtlCol="0" anchor="ctr">
            <a:normAutofit/>
          </a:bodyPr>
          <a:lstStyle/>
          <a:p>
            <a:pPr indent="0" marL="0">
              <a:buNone/>
            </a:pPr>
            <a:r>
              <a:rPr lang="en-US" sz="2900" b="1" dirty="0">
                <a:solidFill>
                  <a:srgbClr val="172033"/>
                </a:solidFill>
                <a:latin typeface="Cambria" pitchFamily="34" charset="0"/>
                <a:ea typeface="Cambria" pitchFamily="34" charset="-122"/>
                <a:cs typeface="Cambria" pitchFamily="34" charset="-120"/>
              </a:rPr>
              <a:t>Survey result #1: mismatch is a signal, not automatic noise</a:t>
            </a:r>
            <a:endParaRPr lang="en-US" sz="2900" dirty="0"/>
          </a:p>
        </p:txBody>
      </p:sp>
      <p:sp>
        <p:nvSpPr>
          <p:cNvPr id="4" name="Shape 2"/>
          <p:cNvSpPr/>
          <p:nvPr/>
        </p:nvSpPr>
        <p:spPr>
          <a:xfrm>
            <a:off x="658368" y="1280160"/>
            <a:ext cx="5102352" cy="1627632"/>
          </a:xfrm>
          <a:prstGeom prst="roundRect">
            <a:avLst>
              <a:gd name="adj" fmla="val 4494"/>
            </a:avLst>
          </a:prstGeom>
          <a:solidFill>
            <a:srgbClr val="FFE4E6"/>
          </a:solidFill>
          <a:ln w="12700">
            <a:solidFill>
              <a:srgbClr val="FFE4E6"/>
            </a:solidFill>
            <a:prstDash val="solid"/>
          </a:ln>
        </p:spPr>
      </p:sp>
      <p:sp>
        <p:nvSpPr>
          <p:cNvPr id="5" name="Shape 3"/>
          <p:cNvSpPr/>
          <p:nvPr/>
        </p:nvSpPr>
        <p:spPr>
          <a:xfrm>
            <a:off x="886968" y="1527048"/>
            <a:ext cx="402336" cy="402336"/>
          </a:xfrm>
          <a:prstGeom prst="ellipse">
            <a:avLst/>
          </a:prstGeom>
          <a:solidFill>
            <a:srgbClr val="E11D48"/>
          </a:solidFill>
          <a:ln w="12700">
            <a:solidFill>
              <a:srgbClr val="E11D48"/>
            </a:solidFill>
            <a:prstDash val="solid"/>
          </a:ln>
        </p:spPr>
      </p:sp>
      <p:sp>
        <p:nvSpPr>
          <p:cNvPr id="6" name="Text 4"/>
          <p:cNvSpPr/>
          <p:nvPr/>
        </p:nvSpPr>
        <p:spPr>
          <a:xfrm>
            <a:off x="886968" y="1618488"/>
            <a:ext cx="402336"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p:nvPr/>
        </p:nvSpPr>
        <p:spPr>
          <a:xfrm>
            <a:off x="1463040" y="1508760"/>
            <a:ext cx="3977640" cy="320040"/>
          </a:xfrm>
          <a:prstGeom prst="rect">
            <a:avLst/>
          </a:prstGeom>
          <a:noFill/>
          <a:ln/>
        </p:spPr>
        <p:txBody>
          <a:bodyPr wrap="square" lIns="0" tIns="0" rIns="0" bIns="0" rtlCol="0" anchor="ctr"/>
          <a:lstStyle/>
          <a:p>
            <a:pPr indent="0" marL="0">
              <a:buNone/>
            </a:pPr>
            <a:r>
              <a:rPr lang="en-US" sz="1600" b="1" dirty="0">
                <a:solidFill>
                  <a:srgbClr val="172033"/>
                </a:solidFill>
                <a:latin typeface="Calibri" pitchFamily="34" charset="0"/>
                <a:ea typeface="Calibri" pitchFamily="34" charset="-122"/>
                <a:cs typeface="Calibri" pitchFamily="34" charset="-120"/>
              </a:rPr>
              <a:t>Structured minority</a:t>
            </a:r>
            <a:endParaRPr lang="en-US" sz="1600" dirty="0"/>
          </a:p>
        </p:txBody>
      </p:sp>
      <p:sp>
        <p:nvSpPr>
          <p:cNvPr id="8" name="Text 6"/>
          <p:cNvSpPr/>
          <p:nvPr/>
        </p:nvSpPr>
        <p:spPr>
          <a:xfrm>
            <a:off x="1463040" y="1947672"/>
            <a:ext cx="3886200" cy="658368"/>
          </a:xfrm>
          <a:prstGeom prst="rect">
            <a:avLst/>
          </a:prstGeom>
          <a:noFill/>
          <a:ln/>
        </p:spPr>
        <p:txBody>
          <a:bodyPr wrap="square" lIns="0" tIns="0" rIns="0" bIns="0" rtlCol="0" anchor="ctr">
            <a:normAutofit/>
          </a:bodyPr>
          <a:lstStyle/>
          <a:p>
            <a:pPr indent="0" marL="0">
              <a:buNone/>
            </a:pPr>
            <a:r>
              <a:rPr lang="en-US" sz="1250" dirty="0">
                <a:solidFill>
                  <a:srgbClr val="475569"/>
                </a:solidFill>
                <a:latin typeface="Calibri" pitchFamily="34" charset="0"/>
                <a:ea typeface="Calibri" pitchFamily="34" charset="-122"/>
                <a:cs typeface="Calibri" pitchFamily="34" charset="-120"/>
              </a:rPr>
              <a:t>External evidence reports recurring directional patterns; one tourism study found 18.6% incongruent reviews.</a:t>
            </a:r>
            <a:endParaRPr lang="en-US" sz="1250" dirty="0"/>
          </a:p>
        </p:txBody>
      </p:sp>
      <p:sp>
        <p:nvSpPr>
          <p:cNvPr id="9" name="Shape 7"/>
          <p:cNvSpPr/>
          <p:nvPr/>
        </p:nvSpPr>
        <p:spPr>
          <a:xfrm>
            <a:off x="6190488" y="1280160"/>
            <a:ext cx="5102352" cy="1627632"/>
          </a:xfrm>
          <a:prstGeom prst="roundRect">
            <a:avLst>
              <a:gd name="adj" fmla="val 4494"/>
            </a:avLst>
          </a:prstGeom>
          <a:solidFill>
            <a:srgbClr val="DBEAFE"/>
          </a:solidFill>
          <a:ln w="12700">
            <a:solidFill>
              <a:srgbClr val="DBEAFE"/>
            </a:solidFill>
            <a:prstDash val="solid"/>
          </a:ln>
        </p:spPr>
      </p:sp>
      <p:sp>
        <p:nvSpPr>
          <p:cNvPr id="10" name="Shape 8"/>
          <p:cNvSpPr/>
          <p:nvPr/>
        </p:nvSpPr>
        <p:spPr>
          <a:xfrm>
            <a:off x="6419088" y="1527048"/>
            <a:ext cx="402336" cy="402336"/>
          </a:xfrm>
          <a:prstGeom prst="ellipse">
            <a:avLst/>
          </a:prstGeom>
          <a:solidFill>
            <a:srgbClr val="2563EB"/>
          </a:solidFill>
          <a:ln w="12700">
            <a:solidFill>
              <a:srgbClr val="2563EB"/>
            </a:solidFill>
            <a:prstDash val="solid"/>
          </a:ln>
        </p:spPr>
      </p:sp>
      <p:sp>
        <p:nvSpPr>
          <p:cNvPr id="11" name="Text 9"/>
          <p:cNvSpPr/>
          <p:nvPr/>
        </p:nvSpPr>
        <p:spPr>
          <a:xfrm>
            <a:off x="6419088" y="1618488"/>
            <a:ext cx="402336"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6995160" y="1508760"/>
            <a:ext cx="3977640" cy="320040"/>
          </a:xfrm>
          <a:prstGeom prst="rect">
            <a:avLst/>
          </a:prstGeom>
          <a:noFill/>
          <a:ln/>
        </p:spPr>
        <p:txBody>
          <a:bodyPr wrap="square" lIns="0" tIns="0" rIns="0" bIns="0" rtlCol="0" anchor="ctr"/>
          <a:lstStyle/>
          <a:p>
            <a:pPr indent="0" marL="0">
              <a:buNone/>
            </a:pPr>
            <a:r>
              <a:rPr lang="en-US" sz="1600" b="1" dirty="0">
                <a:solidFill>
                  <a:srgbClr val="172033"/>
                </a:solidFill>
                <a:latin typeface="Calibri" pitchFamily="34" charset="0"/>
                <a:ea typeface="Calibri" pitchFamily="34" charset="-122"/>
                <a:cs typeface="Calibri" pitchFamily="34" charset="-120"/>
              </a:rPr>
              <a:t>Rating ≠ sentiment label</a:t>
            </a:r>
            <a:endParaRPr lang="en-US" sz="1600" dirty="0"/>
          </a:p>
        </p:txBody>
      </p:sp>
      <p:sp>
        <p:nvSpPr>
          <p:cNvPr id="13" name="Text 11"/>
          <p:cNvSpPr/>
          <p:nvPr/>
        </p:nvSpPr>
        <p:spPr>
          <a:xfrm>
            <a:off x="6995160" y="1947672"/>
            <a:ext cx="3886200" cy="658368"/>
          </a:xfrm>
          <a:prstGeom prst="rect">
            <a:avLst/>
          </a:prstGeom>
          <a:noFill/>
          <a:ln/>
        </p:spPr>
        <p:txBody>
          <a:bodyPr wrap="square" lIns="0" tIns="0" rIns="0" bIns="0" rtlCol="0" anchor="ctr">
            <a:normAutofit/>
          </a:bodyPr>
          <a:lstStyle/>
          <a:p>
            <a:pPr indent="0" marL="0">
              <a:buNone/>
            </a:pPr>
            <a:r>
              <a:rPr lang="en-US" sz="1250" dirty="0">
                <a:solidFill>
                  <a:srgbClr val="475569"/>
                </a:solidFill>
                <a:latin typeface="Calibri" pitchFamily="34" charset="0"/>
                <a:ea typeface="Calibri" pitchFamily="34" charset="-122"/>
                <a:cs typeface="Calibri" pitchFamily="34" charset="-120"/>
              </a:rPr>
              <a:t>Using stars as ground truth without checking agreement can inject weak-label noise into supervised models.</a:t>
            </a:r>
            <a:endParaRPr lang="en-US" sz="1250" dirty="0"/>
          </a:p>
        </p:txBody>
      </p:sp>
      <p:sp>
        <p:nvSpPr>
          <p:cNvPr id="14" name="Shape 12"/>
          <p:cNvSpPr/>
          <p:nvPr/>
        </p:nvSpPr>
        <p:spPr>
          <a:xfrm>
            <a:off x="658368" y="3310128"/>
            <a:ext cx="5102352" cy="1627632"/>
          </a:xfrm>
          <a:prstGeom prst="roundRect">
            <a:avLst>
              <a:gd name="adj" fmla="val 4494"/>
            </a:avLst>
          </a:prstGeom>
          <a:solidFill>
            <a:srgbClr val="FEF3C7"/>
          </a:solidFill>
          <a:ln w="12700">
            <a:solidFill>
              <a:srgbClr val="FEF3C7"/>
            </a:solidFill>
            <a:prstDash val="solid"/>
          </a:ln>
        </p:spPr>
      </p:sp>
      <p:sp>
        <p:nvSpPr>
          <p:cNvPr id="15" name="Shape 13"/>
          <p:cNvSpPr/>
          <p:nvPr/>
        </p:nvSpPr>
        <p:spPr>
          <a:xfrm>
            <a:off x="886968" y="3557016"/>
            <a:ext cx="402336" cy="402336"/>
          </a:xfrm>
          <a:prstGeom prst="ellipse">
            <a:avLst/>
          </a:prstGeom>
          <a:solidFill>
            <a:srgbClr val="D97706"/>
          </a:solidFill>
          <a:ln w="12700">
            <a:solidFill>
              <a:srgbClr val="D97706"/>
            </a:solidFill>
            <a:prstDash val="solid"/>
          </a:ln>
        </p:spPr>
      </p:sp>
      <p:sp>
        <p:nvSpPr>
          <p:cNvPr id="16" name="Text 14"/>
          <p:cNvSpPr/>
          <p:nvPr/>
        </p:nvSpPr>
        <p:spPr>
          <a:xfrm>
            <a:off x="886968" y="3648456"/>
            <a:ext cx="402336"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5"/>
          <p:cNvSpPr/>
          <p:nvPr/>
        </p:nvSpPr>
        <p:spPr>
          <a:xfrm>
            <a:off x="1463040" y="3538728"/>
            <a:ext cx="3977640" cy="320040"/>
          </a:xfrm>
          <a:prstGeom prst="rect">
            <a:avLst/>
          </a:prstGeom>
          <a:noFill/>
          <a:ln/>
        </p:spPr>
        <p:txBody>
          <a:bodyPr wrap="square" lIns="0" tIns="0" rIns="0" bIns="0" rtlCol="0" anchor="ctr"/>
          <a:lstStyle/>
          <a:p>
            <a:pPr indent="0" marL="0">
              <a:buNone/>
            </a:pPr>
            <a:r>
              <a:rPr lang="en-US" sz="1600" b="1" dirty="0">
                <a:solidFill>
                  <a:srgbClr val="172033"/>
                </a:solidFill>
                <a:latin typeface="Calibri" pitchFamily="34" charset="0"/>
                <a:ea typeface="Calibri" pitchFamily="34" charset="-122"/>
                <a:cs typeface="Calibri" pitchFamily="34" charset="-120"/>
              </a:rPr>
              <a:t>Mixed ≠ inconsistent</a:t>
            </a:r>
            <a:endParaRPr lang="en-US" sz="1600" dirty="0"/>
          </a:p>
        </p:txBody>
      </p:sp>
      <p:sp>
        <p:nvSpPr>
          <p:cNvPr id="18" name="Text 16"/>
          <p:cNvSpPr/>
          <p:nvPr/>
        </p:nvSpPr>
        <p:spPr>
          <a:xfrm>
            <a:off x="1463040" y="3977640"/>
            <a:ext cx="3886200" cy="658368"/>
          </a:xfrm>
          <a:prstGeom prst="rect">
            <a:avLst/>
          </a:prstGeom>
          <a:noFill/>
          <a:ln/>
        </p:spPr>
        <p:txBody>
          <a:bodyPr wrap="square" lIns="0" tIns="0" rIns="0" bIns="0" rtlCol="0" anchor="ctr">
            <a:normAutofit/>
          </a:bodyPr>
          <a:lstStyle/>
          <a:p>
            <a:pPr indent="0" marL="0">
              <a:buNone/>
            </a:pPr>
            <a:r>
              <a:rPr lang="en-US" sz="1250" dirty="0">
                <a:solidFill>
                  <a:srgbClr val="475569"/>
                </a:solidFill>
                <a:latin typeface="Calibri" pitchFamily="34" charset="0"/>
                <a:ea typeface="Calibri" pitchFamily="34" charset="-122"/>
                <a:cs typeface="Calibri" pitchFamily="34" charset="-120"/>
              </a:rPr>
              <a:t>Positive and negative aspects may coexist and compensate. A negative span in a 5-star review is only a candidate.</a:t>
            </a:r>
            <a:endParaRPr lang="en-US" sz="1250" dirty="0"/>
          </a:p>
        </p:txBody>
      </p:sp>
      <p:sp>
        <p:nvSpPr>
          <p:cNvPr id="19" name="Shape 17"/>
          <p:cNvSpPr/>
          <p:nvPr/>
        </p:nvSpPr>
        <p:spPr>
          <a:xfrm>
            <a:off x="6190488" y="3310128"/>
            <a:ext cx="5102352" cy="1627632"/>
          </a:xfrm>
          <a:prstGeom prst="roundRect">
            <a:avLst>
              <a:gd name="adj" fmla="val 4494"/>
            </a:avLst>
          </a:prstGeom>
          <a:solidFill>
            <a:srgbClr val="CCFBF1"/>
          </a:solidFill>
          <a:ln w="12700">
            <a:solidFill>
              <a:srgbClr val="CCFBF1"/>
            </a:solidFill>
            <a:prstDash val="solid"/>
          </a:ln>
        </p:spPr>
      </p:sp>
      <p:sp>
        <p:nvSpPr>
          <p:cNvPr id="20" name="Shape 18"/>
          <p:cNvSpPr/>
          <p:nvPr/>
        </p:nvSpPr>
        <p:spPr>
          <a:xfrm>
            <a:off x="6419088" y="3557016"/>
            <a:ext cx="402336" cy="402336"/>
          </a:xfrm>
          <a:prstGeom prst="ellipse">
            <a:avLst/>
          </a:prstGeom>
          <a:solidFill>
            <a:srgbClr val="0F766E"/>
          </a:solidFill>
          <a:ln w="12700">
            <a:solidFill>
              <a:srgbClr val="0F766E"/>
            </a:solidFill>
            <a:prstDash val="solid"/>
          </a:ln>
        </p:spPr>
      </p:sp>
      <p:sp>
        <p:nvSpPr>
          <p:cNvPr id="21" name="Text 19"/>
          <p:cNvSpPr/>
          <p:nvPr/>
        </p:nvSpPr>
        <p:spPr>
          <a:xfrm>
            <a:off x="6419088" y="3648456"/>
            <a:ext cx="402336"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20"/>
          <p:cNvSpPr/>
          <p:nvPr/>
        </p:nvSpPr>
        <p:spPr>
          <a:xfrm>
            <a:off x="6995160" y="3538728"/>
            <a:ext cx="3977640" cy="320040"/>
          </a:xfrm>
          <a:prstGeom prst="rect">
            <a:avLst/>
          </a:prstGeom>
          <a:noFill/>
          <a:ln/>
        </p:spPr>
        <p:txBody>
          <a:bodyPr wrap="square" lIns="0" tIns="0" rIns="0" bIns="0" rtlCol="0" anchor="ctr"/>
          <a:lstStyle/>
          <a:p>
            <a:pPr indent="0" marL="0">
              <a:buNone/>
            </a:pPr>
            <a:r>
              <a:rPr lang="en-US" sz="1600" b="1" dirty="0">
                <a:solidFill>
                  <a:srgbClr val="172033"/>
                </a:solidFill>
                <a:latin typeface="Calibri" pitchFamily="34" charset="0"/>
                <a:ea typeface="Calibri" pitchFamily="34" charset="-122"/>
                <a:cs typeface="Calibri" pitchFamily="34" charset="-120"/>
              </a:rPr>
              <a:t>Direction matters</a:t>
            </a:r>
            <a:endParaRPr lang="en-US" sz="1600" dirty="0"/>
          </a:p>
        </p:txBody>
      </p:sp>
      <p:sp>
        <p:nvSpPr>
          <p:cNvPr id="23" name="Text 21"/>
          <p:cNvSpPr/>
          <p:nvPr/>
        </p:nvSpPr>
        <p:spPr>
          <a:xfrm>
            <a:off x="6995160" y="3977640"/>
            <a:ext cx="3886200" cy="658368"/>
          </a:xfrm>
          <a:prstGeom prst="rect">
            <a:avLst/>
          </a:prstGeom>
          <a:noFill/>
          <a:ln/>
        </p:spPr>
        <p:txBody>
          <a:bodyPr wrap="square" lIns="0" tIns="0" rIns="0" bIns="0" rtlCol="0" anchor="ctr">
            <a:normAutofit/>
          </a:bodyPr>
          <a:lstStyle/>
          <a:p>
            <a:pPr indent="0" marL="0">
              <a:buNone/>
            </a:pPr>
            <a:r>
              <a:rPr lang="en-US" sz="1250" dirty="0">
                <a:solidFill>
                  <a:srgbClr val="475569"/>
                </a:solidFill>
                <a:latin typeface="Calibri" pitchFamily="34" charset="0"/>
                <a:ea typeface="Calibri" pitchFamily="34" charset="-122"/>
                <a:cs typeface="Calibri" pitchFamily="34" charset="-120"/>
              </a:rPr>
              <a:t>High-rating / negative-text and low-rating / positive-text represent different behavioral mechanisms.</a:t>
            </a:r>
            <a:endParaRPr lang="en-US" sz="1250" dirty="0"/>
          </a:p>
        </p:txBody>
      </p:sp>
      <p:sp>
        <p:nvSpPr>
          <p:cNvPr id="24" name="Shape 22"/>
          <p:cNvSpPr/>
          <p:nvPr/>
        </p:nvSpPr>
        <p:spPr>
          <a:xfrm>
            <a:off x="1536192" y="5330952"/>
            <a:ext cx="9125712" cy="576072"/>
          </a:xfrm>
          <a:prstGeom prst="roundRect">
            <a:avLst>
              <a:gd name="adj" fmla="val 12698"/>
            </a:avLst>
          </a:prstGeom>
          <a:solidFill>
            <a:srgbClr val="0B1220"/>
          </a:solidFill>
          <a:ln w="12700">
            <a:solidFill>
              <a:srgbClr val="0B1220"/>
            </a:solidFill>
            <a:prstDash val="solid"/>
          </a:ln>
        </p:spPr>
      </p:sp>
      <p:sp>
        <p:nvSpPr>
          <p:cNvPr id="25" name="Text 23"/>
          <p:cNvSpPr/>
          <p:nvPr/>
        </p:nvSpPr>
        <p:spPr>
          <a:xfrm>
            <a:off x="1792224" y="5486400"/>
            <a:ext cx="8613648" cy="256032"/>
          </a:xfrm>
          <a:prstGeom prst="rect">
            <a:avLst/>
          </a:prstGeom>
          <a:noFill/>
          <a:ln/>
        </p:spPr>
        <p:txBody>
          <a:bodyPr wrap="square" lIns="0" tIns="0" rIns="0" bIns="0" rtlCol="0" anchor="ctr">
            <a:normAutofit/>
          </a:bodyPr>
          <a:lstStyle/>
          <a:p>
            <a:pPr algn="ctr" indent="0" marL="0">
              <a:buNone/>
            </a:pPr>
            <a:r>
              <a:rPr lang="en-US" sz="1450" b="1" dirty="0">
                <a:solidFill>
                  <a:srgbClr val="FFFFFF"/>
                </a:solidFill>
                <a:latin typeface="Calibri" pitchFamily="34" charset="0"/>
                <a:ea typeface="Calibri" pitchFamily="34" charset="-122"/>
                <a:cs typeface="Calibri" pitchFamily="34" charset="-120"/>
              </a:rPr>
              <a:t>Implication: preserve candidate cases, then adjudicate context — do not filter them out before analysis.</a:t>
            </a:r>
            <a:endParaRPr lang="en-US" sz="1450" dirty="0"/>
          </a:p>
        </p:txBody>
      </p:sp>
      <p:sp>
        <p:nvSpPr>
          <p:cNvPr id="26" name="Text 24"/>
          <p:cNvSpPr/>
          <p:nvPr/>
        </p:nvSpPr>
        <p:spPr>
          <a:xfrm>
            <a:off x="640080" y="6172200"/>
            <a:ext cx="10607040" cy="164592"/>
          </a:xfrm>
          <a:prstGeom prst="rect">
            <a:avLst/>
          </a:prstGeom>
          <a:noFill/>
          <a:ln/>
        </p:spPr>
        <p:txBody>
          <a:bodyPr wrap="square" lIns="0" tIns="0" rIns="0" bIns="0" rtlCol="0" anchor="ctr">
            <a:normAutofit/>
          </a:bodyPr>
          <a:lstStyle/>
          <a:p>
            <a:pPr indent="0" marL="0">
              <a:buNone/>
            </a:pPr>
            <a:r>
              <a:rPr lang="en-US" sz="850" i="1" dirty="0">
                <a:solidFill>
                  <a:srgbClr val="64748B"/>
                </a:solidFill>
                <a:latin typeface="Calibri" pitchFamily="34" charset="0"/>
                <a:ea typeface="Calibri" pitchFamily="34" charset="-122"/>
                <a:cs typeface="Calibri" pitchFamily="34" charset="-120"/>
              </a:rPr>
              <a:t>Evidence: Almansour et al. (2022); Bigne et al. (2023); Kwon et al. (2025); Abaiyan et al. (2026, preprint).</a:t>
            </a:r>
            <a:endParaRPr lang="en-US" sz="850" dirty="0"/>
          </a:p>
        </p:txBody>
      </p:sp>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320040"/>
            <a:ext cx="5029200" cy="182880"/>
          </a:xfrm>
          <a:prstGeom prst="rect">
            <a:avLst/>
          </a:prstGeom>
          <a:noFill/>
          <a:ln/>
        </p:spPr>
        <p:txBody>
          <a:bodyPr wrap="square" lIns="0" tIns="0" rIns="0" bIns="0" rtlCol="0" anchor="ctr"/>
          <a:lstStyle/>
          <a:p>
            <a:pPr indent="0" marL="0">
              <a:buNone/>
            </a:pPr>
            <a:r>
              <a:rPr lang="en-US" sz="1000" b="1" spc="120" kern="0" dirty="0">
                <a:solidFill>
                  <a:srgbClr val="0F766E"/>
                </a:solidFill>
                <a:latin typeface="Calibri" pitchFamily="34" charset="0"/>
                <a:ea typeface="Calibri" pitchFamily="34" charset="-122"/>
                <a:cs typeface="Calibri" pitchFamily="34" charset="-120"/>
              </a:rPr>
              <a:t>MEASUREMENT LANDSCAPE</a:t>
            </a:r>
            <a:endParaRPr lang="en-US" sz="1000" dirty="0"/>
          </a:p>
        </p:txBody>
      </p:sp>
      <p:sp>
        <p:nvSpPr>
          <p:cNvPr id="3" name="Text 1"/>
          <p:cNvSpPr/>
          <p:nvPr/>
        </p:nvSpPr>
        <p:spPr>
          <a:xfrm>
            <a:off x="640080" y="548640"/>
            <a:ext cx="10881360" cy="502920"/>
          </a:xfrm>
          <a:prstGeom prst="rect">
            <a:avLst/>
          </a:prstGeom>
          <a:noFill/>
          <a:ln/>
        </p:spPr>
        <p:txBody>
          <a:bodyPr wrap="square" lIns="0" tIns="0" rIns="0" bIns="0" rtlCol="0" anchor="ctr">
            <a:normAutofit/>
          </a:bodyPr>
          <a:lstStyle/>
          <a:p>
            <a:pPr indent="0" marL="0">
              <a:buNone/>
            </a:pPr>
            <a:r>
              <a:rPr lang="en-US" sz="2900" b="1" dirty="0">
                <a:solidFill>
                  <a:srgbClr val="172033"/>
                </a:solidFill>
                <a:latin typeface="Cambria" pitchFamily="34" charset="0"/>
                <a:ea typeface="Cambria" pitchFamily="34" charset="-122"/>
                <a:cs typeface="Cambria" pitchFamily="34" charset="-120"/>
              </a:rPr>
              <a:t>Survey result #2: no published measure covers all three needs</a:t>
            </a:r>
            <a:endParaRPr lang="en-US" sz="2900" dirty="0"/>
          </a:p>
        </p:txBody>
      </p:sp>
      <p:sp>
        <p:nvSpPr>
          <p:cNvPr id="4" name="Shape 2"/>
          <p:cNvSpPr/>
          <p:nvPr/>
        </p:nvSpPr>
        <p:spPr>
          <a:xfrm>
            <a:off x="658368" y="1261872"/>
            <a:ext cx="3218688" cy="566928"/>
          </a:xfrm>
          <a:prstGeom prst="rect">
            <a:avLst/>
          </a:prstGeom>
          <a:solidFill>
            <a:srgbClr val="0B1220"/>
          </a:solidFill>
          <a:ln w="12700">
            <a:solidFill>
              <a:srgbClr val="0B1220"/>
            </a:solidFill>
            <a:prstDash val="solid"/>
          </a:ln>
        </p:spPr>
      </p:sp>
      <p:sp>
        <p:nvSpPr>
          <p:cNvPr id="5" name="Text 3"/>
          <p:cNvSpPr/>
          <p:nvPr/>
        </p:nvSpPr>
        <p:spPr>
          <a:xfrm>
            <a:off x="731520" y="1444752"/>
            <a:ext cx="3072384" cy="182880"/>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Calibri" pitchFamily="34" charset="0"/>
                <a:ea typeface="Calibri" pitchFamily="34" charset="-122"/>
                <a:cs typeface="Calibri" pitchFamily="34" charset="-120"/>
              </a:rPr>
              <a:t>Formulation</a:t>
            </a:r>
            <a:endParaRPr lang="en-US" sz="1250" dirty="0"/>
          </a:p>
        </p:txBody>
      </p:sp>
      <p:sp>
        <p:nvSpPr>
          <p:cNvPr id="6" name="Shape 4"/>
          <p:cNvSpPr/>
          <p:nvPr/>
        </p:nvSpPr>
        <p:spPr>
          <a:xfrm>
            <a:off x="3877056" y="1261872"/>
            <a:ext cx="1874520" cy="566928"/>
          </a:xfrm>
          <a:prstGeom prst="rect">
            <a:avLst/>
          </a:prstGeom>
          <a:solidFill>
            <a:srgbClr val="0B1220"/>
          </a:solidFill>
          <a:ln w="12700">
            <a:solidFill>
              <a:srgbClr val="0B1220"/>
            </a:solidFill>
            <a:prstDash val="solid"/>
          </a:ln>
        </p:spPr>
      </p:sp>
      <p:sp>
        <p:nvSpPr>
          <p:cNvPr id="7" name="Text 5"/>
          <p:cNvSpPr/>
          <p:nvPr/>
        </p:nvSpPr>
        <p:spPr>
          <a:xfrm>
            <a:off x="3950208" y="1444752"/>
            <a:ext cx="1728216" cy="182880"/>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Magnitude</a:t>
            </a:r>
            <a:endParaRPr lang="en-US" sz="1250" dirty="0"/>
          </a:p>
        </p:txBody>
      </p:sp>
      <p:sp>
        <p:nvSpPr>
          <p:cNvPr id="8" name="Shape 6"/>
          <p:cNvSpPr/>
          <p:nvPr/>
        </p:nvSpPr>
        <p:spPr>
          <a:xfrm>
            <a:off x="5751576" y="1261872"/>
            <a:ext cx="1874520" cy="566928"/>
          </a:xfrm>
          <a:prstGeom prst="rect">
            <a:avLst/>
          </a:prstGeom>
          <a:solidFill>
            <a:srgbClr val="0B1220"/>
          </a:solidFill>
          <a:ln w="12700">
            <a:solidFill>
              <a:srgbClr val="0B1220"/>
            </a:solidFill>
            <a:prstDash val="solid"/>
          </a:ln>
        </p:spPr>
      </p:sp>
      <p:sp>
        <p:nvSpPr>
          <p:cNvPr id="9" name="Text 7"/>
          <p:cNvSpPr/>
          <p:nvPr/>
        </p:nvSpPr>
        <p:spPr>
          <a:xfrm>
            <a:off x="5824728" y="1444752"/>
            <a:ext cx="1728216" cy="182880"/>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Direction</a:t>
            </a:r>
            <a:endParaRPr lang="en-US" sz="1250" dirty="0"/>
          </a:p>
        </p:txBody>
      </p:sp>
      <p:sp>
        <p:nvSpPr>
          <p:cNvPr id="10" name="Shape 8"/>
          <p:cNvSpPr/>
          <p:nvPr/>
        </p:nvSpPr>
        <p:spPr>
          <a:xfrm>
            <a:off x="7626096" y="1261872"/>
            <a:ext cx="1874520" cy="566928"/>
          </a:xfrm>
          <a:prstGeom prst="rect">
            <a:avLst/>
          </a:prstGeom>
          <a:solidFill>
            <a:srgbClr val="0B1220"/>
          </a:solidFill>
          <a:ln w="12700">
            <a:solidFill>
              <a:srgbClr val="0B1220"/>
            </a:solidFill>
            <a:prstDash val="solid"/>
          </a:ln>
        </p:spPr>
      </p:sp>
      <p:sp>
        <p:nvSpPr>
          <p:cNvPr id="11" name="Text 9"/>
          <p:cNvSpPr/>
          <p:nvPr/>
        </p:nvSpPr>
        <p:spPr>
          <a:xfrm>
            <a:off x="7699248" y="1444752"/>
            <a:ext cx="1728216" cy="182880"/>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Aspect-level</a:t>
            </a:r>
            <a:endParaRPr lang="en-US" sz="1250" dirty="0"/>
          </a:p>
        </p:txBody>
      </p:sp>
      <p:sp>
        <p:nvSpPr>
          <p:cNvPr id="12" name="Shape 10"/>
          <p:cNvSpPr/>
          <p:nvPr/>
        </p:nvSpPr>
        <p:spPr>
          <a:xfrm>
            <a:off x="9500616" y="1261872"/>
            <a:ext cx="2029968" cy="566928"/>
          </a:xfrm>
          <a:prstGeom prst="rect">
            <a:avLst/>
          </a:prstGeom>
          <a:solidFill>
            <a:srgbClr val="0B1220"/>
          </a:solidFill>
          <a:ln w="12700">
            <a:solidFill>
              <a:srgbClr val="0B1220"/>
            </a:solidFill>
            <a:prstDash val="solid"/>
          </a:ln>
        </p:spPr>
      </p:sp>
      <p:sp>
        <p:nvSpPr>
          <p:cNvPr id="13" name="Text 11"/>
          <p:cNvSpPr/>
          <p:nvPr/>
        </p:nvSpPr>
        <p:spPr>
          <a:xfrm>
            <a:off x="9573768" y="1444752"/>
            <a:ext cx="1883664" cy="182880"/>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Status</a:t>
            </a:r>
            <a:endParaRPr lang="en-US" sz="1250" dirty="0"/>
          </a:p>
        </p:txBody>
      </p:sp>
      <p:sp>
        <p:nvSpPr>
          <p:cNvPr id="14" name="Shape 12"/>
          <p:cNvSpPr/>
          <p:nvPr/>
        </p:nvSpPr>
        <p:spPr>
          <a:xfrm>
            <a:off x="658368" y="1828800"/>
            <a:ext cx="3218688" cy="758952"/>
          </a:xfrm>
          <a:prstGeom prst="rect">
            <a:avLst/>
          </a:prstGeom>
          <a:solidFill>
            <a:srgbClr val="F1F5F9"/>
          </a:solidFill>
          <a:ln w="10160">
            <a:solidFill>
              <a:srgbClr val="E2E8F0"/>
            </a:solidFill>
            <a:prstDash val="solid"/>
          </a:ln>
        </p:spPr>
      </p:sp>
      <p:sp>
        <p:nvSpPr>
          <p:cNvPr id="15" name="Text 13"/>
          <p:cNvSpPr/>
          <p:nvPr/>
        </p:nvSpPr>
        <p:spPr>
          <a:xfrm>
            <a:off x="740664" y="2057400"/>
            <a:ext cx="3054096" cy="274320"/>
          </a:xfrm>
          <a:prstGeom prst="rect">
            <a:avLst/>
          </a:prstGeom>
          <a:noFill/>
          <a:ln/>
        </p:spPr>
        <p:txBody>
          <a:bodyPr wrap="square" lIns="0" tIns="0" rIns="0" bIns="0" rtlCol="0" anchor="ctr">
            <a:normAutofit/>
          </a:bodyPr>
          <a:lstStyle/>
          <a:p>
            <a:pPr algn="l" indent="0" marL="0">
              <a:buNone/>
            </a:pPr>
            <a:r>
              <a:rPr lang="en-US" sz="1300" dirty="0">
                <a:solidFill>
                  <a:srgbClr val="172033"/>
                </a:solidFill>
                <a:latin typeface="Calibri" pitchFamily="34" charset="0"/>
                <a:ea typeface="Calibri" pitchFamily="34" charset="-122"/>
                <a:cs typeface="Calibri" pitchFamily="34" charset="-120"/>
              </a:rPr>
              <a:t>Directional polarity class</a:t>
            </a:r>
            <a:endParaRPr lang="en-US" sz="1300" dirty="0"/>
          </a:p>
        </p:txBody>
      </p:sp>
      <p:sp>
        <p:nvSpPr>
          <p:cNvPr id="16" name="Shape 14"/>
          <p:cNvSpPr/>
          <p:nvPr/>
        </p:nvSpPr>
        <p:spPr>
          <a:xfrm>
            <a:off x="3877056" y="1828800"/>
            <a:ext cx="1874520" cy="758952"/>
          </a:xfrm>
          <a:prstGeom prst="rect">
            <a:avLst/>
          </a:prstGeom>
          <a:solidFill>
            <a:srgbClr val="F1F5F9"/>
          </a:solidFill>
          <a:ln w="10160">
            <a:solidFill>
              <a:srgbClr val="E2E8F0"/>
            </a:solidFill>
            <a:prstDash val="solid"/>
          </a:ln>
        </p:spPr>
      </p:sp>
      <p:sp>
        <p:nvSpPr>
          <p:cNvPr id="17" name="Text 15"/>
          <p:cNvSpPr/>
          <p:nvPr/>
        </p:nvSpPr>
        <p:spPr>
          <a:xfrm>
            <a:off x="3959352" y="2057400"/>
            <a:ext cx="1709928" cy="274320"/>
          </a:xfrm>
          <a:prstGeom prst="rect">
            <a:avLst/>
          </a:prstGeom>
          <a:noFill/>
          <a:ln/>
        </p:spPr>
        <p:txBody>
          <a:bodyPr wrap="square" lIns="0" tIns="0" rIns="0" bIns="0" rtlCol="0" anchor="ctr">
            <a:normAutofit/>
          </a:bodyPr>
          <a:lstStyle/>
          <a:p>
            <a:pPr algn="ctr" indent="0" marL="0">
              <a:buNone/>
            </a:pPr>
            <a:r>
              <a:rPr lang="en-US" sz="1150" dirty="0">
                <a:solidFill>
                  <a:srgbClr val="E11D48"/>
                </a:solidFill>
                <a:latin typeface="Calibri" pitchFamily="34" charset="0"/>
                <a:ea typeface="Calibri" pitchFamily="34" charset="-122"/>
                <a:cs typeface="Calibri" pitchFamily="34" charset="-120"/>
              </a:rPr>
              <a:t>NO</a:t>
            </a:r>
            <a:endParaRPr lang="en-US" sz="1150" dirty="0"/>
          </a:p>
        </p:txBody>
      </p:sp>
      <p:sp>
        <p:nvSpPr>
          <p:cNvPr id="18" name="Shape 16"/>
          <p:cNvSpPr/>
          <p:nvPr/>
        </p:nvSpPr>
        <p:spPr>
          <a:xfrm>
            <a:off x="5751576" y="1828800"/>
            <a:ext cx="1874520" cy="758952"/>
          </a:xfrm>
          <a:prstGeom prst="rect">
            <a:avLst/>
          </a:prstGeom>
          <a:solidFill>
            <a:srgbClr val="F1F5F9"/>
          </a:solidFill>
          <a:ln w="10160">
            <a:solidFill>
              <a:srgbClr val="E2E8F0"/>
            </a:solidFill>
            <a:prstDash val="solid"/>
          </a:ln>
        </p:spPr>
      </p:sp>
      <p:sp>
        <p:nvSpPr>
          <p:cNvPr id="19" name="Text 17"/>
          <p:cNvSpPr/>
          <p:nvPr/>
        </p:nvSpPr>
        <p:spPr>
          <a:xfrm>
            <a:off x="5833872" y="2057400"/>
            <a:ext cx="1709928" cy="274320"/>
          </a:xfrm>
          <a:prstGeom prst="rect">
            <a:avLst/>
          </a:prstGeom>
          <a:noFill/>
          <a:ln/>
        </p:spPr>
        <p:txBody>
          <a:bodyPr wrap="square" lIns="0" tIns="0" rIns="0" bIns="0" rtlCol="0" anchor="ctr">
            <a:normAutofit/>
          </a:bodyPr>
          <a:lstStyle/>
          <a:p>
            <a:pPr algn="ctr" indent="0" marL="0">
              <a:buNone/>
            </a:pPr>
            <a:r>
              <a:rPr lang="en-US" sz="1150" b="1" dirty="0">
                <a:solidFill>
                  <a:srgbClr val="15803D"/>
                </a:solidFill>
                <a:latin typeface="Calibri" pitchFamily="34" charset="0"/>
                <a:ea typeface="Calibri" pitchFamily="34" charset="-122"/>
                <a:cs typeface="Calibri" pitchFamily="34" charset="-120"/>
              </a:rPr>
              <a:t>YES</a:t>
            </a:r>
            <a:endParaRPr lang="en-US" sz="1150" dirty="0"/>
          </a:p>
        </p:txBody>
      </p:sp>
      <p:sp>
        <p:nvSpPr>
          <p:cNvPr id="20" name="Shape 18"/>
          <p:cNvSpPr/>
          <p:nvPr/>
        </p:nvSpPr>
        <p:spPr>
          <a:xfrm>
            <a:off x="7626096" y="1828800"/>
            <a:ext cx="1874520" cy="758952"/>
          </a:xfrm>
          <a:prstGeom prst="rect">
            <a:avLst/>
          </a:prstGeom>
          <a:solidFill>
            <a:srgbClr val="F1F5F9"/>
          </a:solidFill>
          <a:ln w="10160">
            <a:solidFill>
              <a:srgbClr val="E2E8F0"/>
            </a:solidFill>
            <a:prstDash val="solid"/>
          </a:ln>
        </p:spPr>
      </p:sp>
      <p:sp>
        <p:nvSpPr>
          <p:cNvPr id="21" name="Text 19"/>
          <p:cNvSpPr/>
          <p:nvPr/>
        </p:nvSpPr>
        <p:spPr>
          <a:xfrm>
            <a:off x="7708392" y="2057400"/>
            <a:ext cx="1709928" cy="274320"/>
          </a:xfrm>
          <a:prstGeom prst="rect">
            <a:avLst/>
          </a:prstGeom>
          <a:noFill/>
          <a:ln/>
        </p:spPr>
        <p:txBody>
          <a:bodyPr wrap="square" lIns="0" tIns="0" rIns="0" bIns="0" rtlCol="0" anchor="ctr">
            <a:normAutofit/>
          </a:bodyPr>
          <a:lstStyle/>
          <a:p>
            <a:pPr algn="ctr" indent="0" marL="0">
              <a:buNone/>
            </a:pPr>
            <a:r>
              <a:rPr lang="en-US" sz="1150" dirty="0">
                <a:solidFill>
                  <a:srgbClr val="E11D48"/>
                </a:solidFill>
                <a:latin typeface="Calibri" pitchFamily="34" charset="0"/>
                <a:ea typeface="Calibri" pitchFamily="34" charset="-122"/>
                <a:cs typeface="Calibri" pitchFamily="34" charset="-120"/>
              </a:rPr>
              <a:t>NO</a:t>
            </a:r>
            <a:endParaRPr lang="en-US" sz="1150" dirty="0"/>
          </a:p>
        </p:txBody>
      </p:sp>
      <p:sp>
        <p:nvSpPr>
          <p:cNvPr id="22" name="Shape 20"/>
          <p:cNvSpPr/>
          <p:nvPr/>
        </p:nvSpPr>
        <p:spPr>
          <a:xfrm>
            <a:off x="9500616" y="1828800"/>
            <a:ext cx="2029968" cy="758952"/>
          </a:xfrm>
          <a:prstGeom prst="rect">
            <a:avLst/>
          </a:prstGeom>
          <a:solidFill>
            <a:srgbClr val="F1F5F9"/>
          </a:solidFill>
          <a:ln w="10160">
            <a:solidFill>
              <a:srgbClr val="E2E8F0"/>
            </a:solidFill>
            <a:prstDash val="solid"/>
          </a:ln>
        </p:spPr>
      </p:sp>
      <p:sp>
        <p:nvSpPr>
          <p:cNvPr id="23" name="Text 21"/>
          <p:cNvSpPr/>
          <p:nvPr/>
        </p:nvSpPr>
        <p:spPr>
          <a:xfrm>
            <a:off x="9582912" y="2057400"/>
            <a:ext cx="1865376" cy="274320"/>
          </a:xfrm>
          <a:prstGeom prst="rect">
            <a:avLst/>
          </a:prstGeom>
          <a:noFill/>
          <a:ln/>
        </p:spPr>
        <p:txBody>
          <a:bodyPr wrap="square" lIns="0" tIns="0" rIns="0" bIns="0" rtlCol="0" anchor="ctr">
            <a:normAutofit/>
          </a:bodyPr>
          <a:lstStyle/>
          <a:p>
            <a:pPr algn="ctr" indent="0" marL="0">
              <a:buNone/>
            </a:pPr>
            <a:r>
              <a:rPr lang="en-US" sz="1150" dirty="0">
                <a:solidFill>
                  <a:srgbClr val="172033"/>
                </a:solidFill>
                <a:latin typeface="Calibri" pitchFamily="34" charset="0"/>
                <a:ea typeface="Calibri" pitchFamily="34" charset="-122"/>
                <a:cs typeface="Calibri" pitchFamily="34" charset="-120"/>
              </a:rPr>
              <a:t>Published</a:t>
            </a:r>
            <a:endParaRPr lang="en-US" sz="1150" dirty="0"/>
          </a:p>
        </p:txBody>
      </p:sp>
      <p:sp>
        <p:nvSpPr>
          <p:cNvPr id="24" name="Shape 22"/>
          <p:cNvSpPr/>
          <p:nvPr/>
        </p:nvSpPr>
        <p:spPr>
          <a:xfrm>
            <a:off x="658368" y="2587752"/>
            <a:ext cx="3218688" cy="758952"/>
          </a:xfrm>
          <a:prstGeom prst="rect">
            <a:avLst/>
          </a:prstGeom>
          <a:solidFill>
            <a:srgbClr val="FFFFFF"/>
          </a:solidFill>
          <a:ln w="10160">
            <a:solidFill>
              <a:srgbClr val="E2E8F0"/>
            </a:solidFill>
            <a:prstDash val="solid"/>
          </a:ln>
        </p:spPr>
      </p:sp>
      <p:sp>
        <p:nvSpPr>
          <p:cNvPr id="25" name="Text 23"/>
          <p:cNvSpPr/>
          <p:nvPr/>
        </p:nvSpPr>
        <p:spPr>
          <a:xfrm>
            <a:off x="740664" y="2816352"/>
            <a:ext cx="3054096" cy="274320"/>
          </a:xfrm>
          <a:prstGeom prst="rect">
            <a:avLst/>
          </a:prstGeom>
          <a:noFill/>
          <a:ln/>
        </p:spPr>
        <p:txBody>
          <a:bodyPr wrap="square" lIns="0" tIns="0" rIns="0" bIns="0" rtlCol="0" anchor="ctr">
            <a:normAutofit/>
          </a:bodyPr>
          <a:lstStyle/>
          <a:p>
            <a:pPr algn="l" indent="0" marL="0">
              <a:buNone/>
            </a:pPr>
            <a:r>
              <a:rPr lang="en-US" sz="1300" dirty="0">
                <a:solidFill>
                  <a:srgbClr val="172033"/>
                </a:solidFill>
                <a:latin typeface="Calibri" pitchFamily="34" charset="0"/>
                <a:ea typeface="Calibri" pitchFamily="34" charset="-122"/>
                <a:cs typeface="Calibri" pitchFamily="34" charset="-120"/>
              </a:rPr>
              <a:t>|z(rating) − z(sentiment)|</a:t>
            </a:r>
            <a:endParaRPr lang="en-US" sz="1300" dirty="0"/>
          </a:p>
        </p:txBody>
      </p:sp>
      <p:sp>
        <p:nvSpPr>
          <p:cNvPr id="26" name="Shape 24"/>
          <p:cNvSpPr/>
          <p:nvPr/>
        </p:nvSpPr>
        <p:spPr>
          <a:xfrm>
            <a:off x="3877056" y="2587752"/>
            <a:ext cx="1874520" cy="758952"/>
          </a:xfrm>
          <a:prstGeom prst="rect">
            <a:avLst/>
          </a:prstGeom>
          <a:solidFill>
            <a:srgbClr val="FFFFFF"/>
          </a:solidFill>
          <a:ln w="10160">
            <a:solidFill>
              <a:srgbClr val="E2E8F0"/>
            </a:solidFill>
            <a:prstDash val="solid"/>
          </a:ln>
        </p:spPr>
      </p:sp>
      <p:sp>
        <p:nvSpPr>
          <p:cNvPr id="27" name="Text 25"/>
          <p:cNvSpPr/>
          <p:nvPr/>
        </p:nvSpPr>
        <p:spPr>
          <a:xfrm>
            <a:off x="3959352" y="2816352"/>
            <a:ext cx="1709928" cy="274320"/>
          </a:xfrm>
          <a:prstGeom prst="rect">
            <a:avLst/>
          </a:prstGeom>
          <a:noFill/>
          <a:ln/>
        </p:spPr>
        <p:txBody>
          <a:bodyPr wrap="square" lIns="0" tIns="0" rIns="0" bIns="0" rtlCol="0" anchor="ctr">
            <a:normAutofit/>
          </a:bodyPr>
          <a:lstStyle/>
          <a:p>
            <a:pPr algn="ctr" indent="0" marL="0">
              <a:buNone/>
            </a:pPr>
            <a:r>
              <a:rPr lang="en-US" sz="1150" b="1" dirty="0">
                <a:solidFill>
                  <a:srgbClr val="15803D"/>
                </a:solidFill>
                <a:latin typeface="Calibri" pitchFamily="34" charset="0"/>
                <a:ea typeface="Calibri" pitchFamily="34" charset="-122"/>
                <a:cs typeface="Calibri" pitchFamily="34" charset="-120"/>
              </a:rPr>
              <a:t>YES</a:t>
            </a:r>
            <a:endParaRPr lang="en-US" sz="1150" dirty="0"/>
          </a:p>
        </p:txBody>
      </p:sp>
      <p:sp>
        <p:nvSpPr>
          <p:cNvPr id="28" name="Shape 26"/>
          <p:cNvSpPr/>
          <p:nvPr/>
        </p:nvSpPr>
        <p:spPr>
          <a:xfrm>
            <a:off x="5751576" y="2587752"/>
            <a:ext cx="1874520" cy="758952"/>
          </a:xfrm>
          <a:prstGeom prst="rect">
            <a:avLst/>
          </a:prstGeom>
          <a:solidFill>
            <a:srgbClr val="FFFFFF"/>
          </a:solidFill>
          <a:ln w="10160">
            <a:solidFill>
              <a:srgbClr val="E2E8F0"/>
            </a:solidFill>
            <a:prstDash val="solid"/>
          </a:ln>
        </p:spPr>
      </p:sp>
      <p:sp>
        <p:nvSpPr>
          <p:cNvPr id="29" name="Text 27"/>
          <p:cNvSpPr/>
          <p:nvPr/>
        </p:nvSpPr>
        <p:spPr>
          <a:xfrm>
            <a:off x="5833872" y="2816352"/>
            <a:ext cx="1709928" cy="274320"/>
          </a:xfrm>
          <a:prstGeom prst="rect">
            <a:avLst/>
          </a:prstGeom>
          <a:noFill/>
          <a:ln/>
        </p:spPr>
        <p:txBody>
          <a:bodyPr wrap="square" lIns="0" tIns="0" rIns="0" bIns="0" rtlCol="0" anchor="ctr">
            <a:normAutofit/>
          </a:bodyPr>
          <a:lstStyle/>
          <a:p>
            <a:pPr algn="ctr" indent="0" marL="0">
              <a:buNone/>
            </a:pPr>
            <a:r>
              <a:rPr lang="en-US" sz="1150" dirty="0">
                <a:solidFill>
                  <a:srgbClr val="172033"/>
                </a:solidFill>
                <a:latin typeface="Calibri" pitchFamily="34" charset="0"/>
                <a:ea typeface="Calibri" pitchFamily="34" charset="-122"/>
                <a:cs typeface="Calibri" pitchFamily="34" charset="-120"/>
              </a:rPr>
              <a:t>SEPARATE</a:t>
            </a:r>
            <a:endParaRPr lang="en-US" sz="1150" dirty="0"/>
          </a:p>
        </p:txBody>
      </p:sp>
      <p:sp>
        <p:nvSpPr>
          <p:cNvPr id="30" name="Shape 28"/>
          <p:cNvSpPr/>
          <p:nvPr/>
        </p:nvSpPr>
        <p:spPr>
          <a:xfrm>
            <a:off x="7626096" y="2587752"/>
            <a:ext cx="1874520" cy="758952"/>
          </a:xfrm>
          <a:prstGeom prst="rect">
            <a:avLst/>
          </a:prstGeom>
          <a:solidFill>
            <a:srgbClr val="FFFFFF"/>
          </a:solidFill>
          <a:ln w="10160">
            <a:solidFill>
              <a:srgbClr val="E2E8F0"/>
            </a:solidFill>
            <a:prstDash val="solid"/>
          </a:ln>
        </p:spPr>
      </p:sp>
      <p:sp>
        <p:nvSpPr>
          <p:cNvPr id="31" name="Text 29"/>
          <p:cNvSpPr/>
          <p:nvPr/>
        </p:nvSpPr>
        <p:spPr>
          <a:xfrm>
            <a:off x="7708392" y="2816352"/>
            <a:ext cx="1709928" cy="274320"/>
          </a:xfrm>
          <a:prstGeom prst="rect">
            <a:avLst/>
          </a:prstGeom>
          <a:noFill/>
          <a:ln/>
        </p:spPr>
        <p:txBody>
          <a:bodyPr wrap="square" lIns="0" tIns="0" rIns="0" bIns="0" rtlCol="0" anchor="ctr">
            <a:normAutofit/>
          </a:bodyPr>
          <a:lstStyle/>
          <a:p>
            <a:pPr algn="ctr" indent="0" marL="0">
              <a:buNone/>
            </a:pPr>
            <a:r>
              <a:rPr lang="en-US" sz="1150" dirty="0">
                <a:solidFill>
                  <a:srgbClr val="E11D48"/>
                </a:solidFill>
                <a:latin typeface="Calibri" pitchFamily="34" charset="0"/>
                <a:ea typeface="Calibri" pitchFamily="34" charset="-122"/>
                <a:cs typeface="Calibri" pitchFamily="34" charset="-120"/>
              </a:rPr>
              <a:t>NO</a:t>
            </a:r>
            <a:endParaRPr lang="en-US" sz="1150" dirty="0"/>
          </a:p>
        </p:txBody>
      </p:sp>
      <p:sp>
        <p:nvSpPr>
          <p:cNvPr id="32" name="Shape 30"/>
          <p:cNvSpPr/>
          <p:nvPr/>
        </p:nvSpPr>
        <p:spPr>
          <a:xfrm>
            <a:off x="9500616" y="2587752"/>
            <a:ext cx="2029968" cy="758952"/>
          </a:xfrm>
          <a:prstGeom prst="rect">
            <a:avLst/>
          </a:prstGeom>
          <a:solidFill>
            <a:srgbClr val="FFFFFF"/>
          </a:solidFill>
          <a:ln w="10160">
            <a:solidFill>
              <a:srgbClr val="E2E8F0"/>
            </a:solidFill>
            <a:prstDash val="solid"/>
          </a:ln>
        </p:spPr>
      </p:sp>
      <p:sp>
        <p:nvSpPr>
          <p:cNvPr id="33" name="Text 31"/>
          <p:cNvSpPr/>
          <p:nvPr/>
        </p:nvSpPr>
        <p:spPr>
          <a:xfrm>
            <a:off x="9582912" y="2816352"/>
            <a:ext cx="1865376" cy="274320"/>
          </a:xfrm>
          <a:prstGeom prst="rect">
            <a:avLst/>
          </a:prstGeom>
          <a:noFill/>
          <a:ln/>
        </p:spPr>
        <p:txBody>
          <a:bodyPr wrap="square" lIns="0" tIns="0" rIns="0" bIns="0" rtlCol="0" anchor="ctr">
            <a:normAutofit/>
          </a:bodyPr>
          <a:lstStyle/>
          <a:p>
            <a:pPr algn="ctr" indent="0" marL="0">
              <a:buNone/>
            </a:pPr>
            <a:r>
              <a:rPr lang="en-US" sz="1150" dirty="0">
                <a:solidFill>
                  <a:srgbClr val="172033"/>
                </a:solidFill>
                <a:latin typeface="Calibri" pitchFamily="34" charset="0"/>
                <a:ea typeface="Calibri" pitchFamily="34" charset="-122"/>
                <a:cs typeface="Calibri" pitchFamily="34" charset="-120"/>
              </a:rPr>
              <a:t>Published</a:t>
            </a:r>
            <a:endParaRPr lang="en-US" sz="1150" dirty="0"/>
          </a:p>
        </p:txBody>
      </p:sp>
      <p:sp>
        <p:nvSpPr>
          <p:cNvPr id="34" name="Shape 32"/>
          <p:cNvSpPr/>
          <p:nvPr/>
        </p:nvSpPr>
        <p:spPr>
          <a:xfrm>
            <a:off x="658368" y="3346704"/>
            <a:ext cx="3218688" cy="758952"/>
          </a:xfrm>
          <a:prstGeom prst="rect">
            <a:avLst/>
          </a:prstGeom>
          <a:solidFill>
            <a:srgbClr val="F1F5F9"/>
          </a:solidFill>
          <a:ln w="10160">
            <a:solidFill>
              <a:srgbClr val="E2E8F0"/>
            </a:solidFill>
            <a:prstDash val="solid"/>
          </a:ln>
        </p:spPr>
      </p:sp>
      <p:sp>
        <p:nvSpPr>
          <p:cNvPr id="35" name="Text 33"/>
          <p:cNvSpPr/>
          <p:nvPr/>
        </p:nvSpPr>
        <p:spPr>
          <a:xfrm>
            <a:off x="740664" y="3575304"/>
            <a:ext cx="3054096" cy="274320"/>
          </a:xfrm>
          <a:prstGeom prst="rect">
            <a:avLst/>
          </a:prstGeom>
          <a:noFill/>
          <a:ln/>
        </p:spPr>
        <p:txBody>
          <a:bodyPr wrap="square" lIns="0" tIns="0" rIns="0" bIns="0" rtlCol="0" anchor="ctr">
            <a:normAutofit/>
          </a:bodyPr>
          <a:lstStyle/>
          <a:p>
            <a:pPr algn="l" indent="0" marL="0">
              <a:buNone/>
            </a:pPr>
            <a:r>
              <a:rPr lang="en-US" sz="1300" dirty="0">
                <a:solidFill>
                  <a:srgbClr val="172033"/>
                </a:solidFill>
                <a:latin typeface="Calibri" pitchFamily="34" charset="0"/>
                <a:ea typeface="Calibri" pitchFamily="34" charset="-122"/>
                <a:cs typeface="Calibri" pitchFamily="34" charset="-120"/>
              </a:rPr>
              <a:t>|Rnorm − Sa|</a:t>
            </a:r>
            <a:endParaRPr lang="en-US" sz="1300" dirty="0"/>
          </a:p>
        </p:txBody>
      </p:sp>
      <p:sp>
        <p:nvSpPr>
          <p:cNvPr id="36" name="Shape 34"/>
          <p:cNvSpPr/>
          <p:nvPr/>
        </p:nvSpPr>
        <p:spPr>
          <a:xfrm>
            <a:off x="3877056" y="3346704"/>
            <a:ext cx="1874520" cy="758952"/>
          </a:xfrm>
          <a:prstGeom prst="rect">
            <a:avLst/>
          </a:prstGeom>
          <a:solidFill>
            <a:srgbClr val="F1F5F9"/>
          </a:solidFill>
          <a:ln w="10160">
            <a:solidFill>
              <a:srgbClr val="E2E8F0"/>
            </a:solidFill>
            <a:prstDash val="solid"/>
          </a:ln>
        </p:spPr>
      </p:sp>
      <p:sp>
        <p:nvSpPr>
          <p:cNvPr id="37" name="Text 35"/>
          <p:cNvSpPr/>
          <p:nvPr/>
        </p:nvSpPr>
        <p:spPr>
          <a:xfrm>
            <a:off x="3959352" y="3575304"/>
            <a:ext cx="1709928" cy="274320"/>
          </a:xfrm>
          <a:prstGeom prst="rect">
            <a:avLst/>
          </a:prstGeom>
          <a:noFill/>
          <a:ln/>
        </p:spPr>
        <p:txBody>
          <a:bodyPr wrap="square" lIns="0" tIns="0" rIns="0" bIns="0" rtlCol="0" anchor="ctr">
            <a:normAutofit/>
          </a:bodyPr>
          <a:lstStyle/>
          <a:p>
            <a:pPr algn="ctr" indent="0" marL="0">
              <a:buNone/>
            </a:pPr>
            <a:r>
              <a:rPr lang="en-US" sz="1150" b="1" dirty="0">
                <a:solidFill>
                  <a:srgbClr val="15803D"/>
                </a:solidFill>
                <a:latin typeface="Calibri" pitchFamily="34" charset="0"/>
                <a:ea typeface="Calibri" pitchFamily="34" charset="-122"/>
                <a:cs typeface="Calibri" pitchFamily="34" charset="-120"/>
              </a:rPr>
              <a:t>YES</a:t>
            </a:r>
            <a:endParaRPr lang="en-US" sz="1150" dirty="0"/>
          </a:p>
        </p:txBody>
      </p:sp>
      <p:sp>
        <p:nvSpPr>
          <p:cNvPr id="38" name="Shape 36"/>
          <p:cNvSpPr/>
          <p:nvPr/>
        </p:nvSpPr>
        <p:spPr>
          <a:xfrm>
            <a:off x="5751576" y="3346704"/>
            <a:ext cx="1874520" cy="758952"/>
          </a:xfrm>
          <a:prstGeom prst="rect">
            <a:avLst/>
          </a:prstGeom>
          <a:solidFill>
            <a:srgbClr val="F1F5F9"/>
          </a:solidFill>
          <a:ln w="10160">
            <a:solidFill>
              <a:srgbClr val="E2E8F0"/>
            </a:solidFill>
            <a:prstDash val="solid"/>
          </a:ln>
        </p:spPr>
      </p:sp>
      <p:sp>
        <p:nvSpPr>
          <p:cNvPr id="39" name="Text 37"/>
          <p:cNvSpPr/>
          <p:nvPr/>
        </p:nvSpPr>
        <p:spPr>
          <a:xfrm>
            <a:off x="5833872" y="3575304"/>
            <a:ext cx="1709928" cy="274320"/>
          </a:xfrm>
          <a:prstGeom prst="rect">
            <a:avLst/>
          </a:prstGeom>
          <a:noFill/>
          <a:ln/>
        </p:spPr>
        <p:txBody>
          <a:bodyPr wrap="square" lIns="0" tIns="0" rIns="0" bIns="0" rtlCol="0" anchor="ctr">
            <a:normAutofit/>
          </a:bodyPr>
          <a:lstStyle/>
          <a:p>
            <a:pPr algn="ctr" indent="0" marL="0">
              <a:buNone/>
            </a:pPr>
            <a:r>
              <a:rPr lang="en-US" sz="1150" dirty="0">
                <a:solidFill>
                  <a:srgbClr val="E11D48"/>
                </a:solidFill>
                <a:latin typeface="Calibri" pitchFamily="34" charset="0"/>
                <a:ea typeface="Calibri" pitchFamily="34" charset="-122"/>
                <a:cs typeface="Calibri" pitchFamily="34" charset="-120"/>
              </a:rPr>
              <a:t>NO</a:t>
            </a:r>
            <a:endParaRPr lang="en-US" sz="1150" dirty="0"/>
          </a:p>
        </p:txBody>
      </p:sp>
      <p:sp>
        <p:nvSpPr>
          <p:cNvPr id="40" name="Shape 38"/>
          <p:cNvSpPr/>
          <p:nvPr/>
        </p:nvSpPr>
        <p:spPr>
          <a:xfrm>
            <a:off x="7626096" y="3346704"/>
            <a:ext cx="1874520" cy="758952"/>
          </a:xfrm>
          <a:prstGeom prst="rect">
            <a:avLst/>
          </a:prstGeom>
          <a:solidFill>
            <a:srgbClr val="F1F5F9"/>
          </a:solidFill>
          <a:ln w="10160">
            <a:solidFill>
              <a:srgbClr val="E2E8F0"/>
            </a:solidFill>
            <a:prstDash val="solid"/>
          </a:ln>
        </p:spPr>
      </p:sp>
      <p:sp>
        <p:nvSpPr>
          <p:cNvPr id="41" name="Text 39"/>
          <p:cNvSpPr/>
          <p:nvPr/>
        </p:nvSpPr>
        <p:spPr>
          <a:xfrm>
            <a:off x="7708392" y="3575304"/>
            <a:ext cx="1709928" cy="274320"/>
          </a:xfrm>
          <a:prstGeom prst="rect">
            <a:avLst/>
          </a:prstGeom>
          <a:noFill/>
          <a:ln/>
        </p:spPr>
        <p:txBody>
          <a:bodyPr wrap="square" lIns="0" tIns="0" rIns="0" bIns="0" rtlCol="0" anchor="ctr">
            <a:normAutofit/>
          </a:bodyPr>
          <a:lstStyle/>
          <a:p>
            <a:pPr algn="ctr" indent="0" marL="0">
              <a:buNone/>
            </a:pPr>
            <a:r>
              <a:rPr lang="en-US" sz="1150" b="1" dirty="0">
                <a:solidFill>
                  <a:srgbClr val="15803D"/>
                </a:solidFill>
                <a:latin typeface="Calibri" pitchFamily="34" charset="0"/>
                <a:ea typeface="Calibri" pitchFamily="34" charset="-122"/>
                <a:cs typeface="Calibri" pitchFamily="34" charset="-120"/>
              </a:rPr>
              <a:t>YES</a:t>
            </a:r>
            <a:endParaRPr lang="en-US" sz="1150" dirty="0"/>
          </a:p>
        </p:txBody>
      </p:sp>
      <p:sp>
        <p:nvSpPr>
          <p:cNvPr id="42" name="Shape 40"/>
          <p:cNvSpPr/>
          <p:nvPr/>
        </p:nvSpPr>
        <p:spPr>
          <a:xfrm>
            <a:off x="9500616" y="3346704"/>
            <a:ext cx="2029968" cy="758952"/>
          </a:xfrm>
          <a:prstGeom prst="rect">
            <a:avLst/>
          </a:prstGeom>
          <a:solidFill>
            <a:srgbClr val="F1F5F9"/>
          </a:solidFill>
          <a:ln w="10160">
            <a:solidFill>
              <a:srgbClr val="E2E8F0"/>
            </a:solidFill>
            <a:prstDash val="solid"/>
          </a:ln>
        </p:spPr>
      </p:sp>
      <p:sp>
        <p:nvSpPr>
          <p:cNvPr id="43" name="Text 41"/>
          <p:cNvSpPr/>
          <p:nvPr/>
        </p:nvSpPr>
        <p:spPr>
          <a:xfrm>
            <a:off x="9582912" y="3575304"/>
            <a:ext cx="1865376" cy="274320"/>
          </a:xfrm>
          <a:prstGeom prst="rect">
            <a:avLst/>
          </a:prstGeom>
          <a:noFill/>
          <a:ln/>
        </p:spPr>
        <p:txBody>
          <a:bodyPr wrap="square" lIns="0" tIns="0" rIns="0" bIns="0" rtlCol="0" anchor="ctr">
            <a:normAutofit/>
          </a:bodyPr>
          <a:lstStyle/>
          <a:p>
            <a:pPr algn="ctr" indent="0" marL="0">
              <a:buNone/>
            </a:pPr>
            <a:r>
              <a:rPr lang="en-US" sz="1150" dirty="0">
                <a:solidFill>
                  <a:srgbClr val="172033"/>
                </a:solidFill>
                <a:latin typeface="Calibri" pitchFamily="34" charset="0"/>
                <a:ea typeface="Calibri" pitchFamily="34" charset="-122"/>
                <a:cs typeface="Calibri" pitchFamily="34" charset="-120"/>
              </a:rPr>
              <a:t>Preprint</a:t>
            </a:r>
            <a:endParaRPr lang="en-US" sz="1150" dirty="0"/>
          </a:p>
        </p:txBody>
      </p:sp>
      <p:sp>
        <p:nvSpPr>
          <p:cNvPr id="44" name="Shape 42"/>
          <p:cNvSpPr/>
          <p:nvPr/>
        </p:nvSpPr>
        <p:spPr>
          <a:xfrm>
            <a:off x="658368" y="4105656"/>
            <a:ext cx="3218688" cy="758952"/>
          </a:xfrm>
          <a:prstGeom prst="rect">
            <a:avLst/>
          </a:prstGeom>
          <a:solidFill>
            <a:srgbClr val="CCFBF1"/>
          </a:solidFill>
          <a:ln w="10160">
            <a:solidFill>
              <a:srgbClr val="E2E8F0"/>
            </a:solidFill>
            <a:prstDash val="solid"/>
          </a:ln>
        </p:spPr>
      </p:sp>
      <p:sp>
        <p:nvSpPr>
          <p:cNvPr id="45" name="Text 43"/>
          <p:cNvSpPr/>
          <p:nvPr/>
        </p:nvSpPr>
        <p:spPr>
          <a:xfrm>
            <a:off x="740664" y="4334256"/>
            <a:ext cx="3054096" cy="274320"/>
          </a:xfrm>
          <a:prstGeom prst="rect">
            <a:avLst/>
          </a:prstGeom>
          <a:noFill/>
          <a:ln/>
        </p:spPr>
        <p:txBody>
          <a:bodyPr wrap="square" lIns="0" tIns="0" rIns="0" bIns="0" rtlCol="0" anchor="ctr">
            <a:normAutofit/>
          </a:bodyPr>
          <a:lstStyle/>
          <a:p>
            <a:pPr algn="l" indent="0" marL="0">
              <a:buNone/>
            </a:pPr>
            <a:r>
              <a:rPr lang="en-US" sz="1300" b="1" dirty="0">
                <a:solidFill>
                  <a:srgbClr val="0F766E"/>
                </a:solidFill>
                <a:latin typeface="Cambria" pitchFamily="34" charset="0"/>
                <a:ea typeface="Cambria" pitchFamily="34" charset="-122"/>
                <a:cs typeface="Cambria" pitchFamily="34" charset="-120"/>
              </a:rPr>
              <a:t>r* − sa*  (project candidate)</a:t>
            </a:r>
            <a:endParaRPr lang="en-US" sz="1300" dirty="0"/>
          </a:p>
        </p:txBody>
      </p:sp>
      <p:sp>
        <p:nvSpPr>
          <p:cNvPr id="46" name="Shape 44"/>
          <p:cNvSpPr/>
          <p:nvPr/>
        </p:nvSpPr>
        <p:spPr>
          <a:xfrm>
            <a:off x="3877056" y="4105656"/>
            <a:ext cx="1874520" cy="758952"/>
          </a:xfrm>
          <a:prstGeom prst="rect">
            <a:avLst/>
          </a:prstGeom>
          <a:solidFill>
            <a:srgbClr val="CCFBF1"/>
          </a:solidFill>
          <a:ln w="10160">
            <a:solidFill>
              <a:srgbClr val="E2E8F0"/>
            </a:solidFill>
            <a:prstDash val="solid"/>
          </a:ln>
        </p:spPr>
      </p:sp>
      <p:sp>
        <p:nvSpPr>
          <p:cNvPr id="47" name="Text 45"/>
          <p:cNvSpPr/>
          <p:nvPr/>
        </p:nvSpPr>
        <p:spPr>
          <a:xfrm>
            <a:off x="3959352" y="4334256"/>
            <a:ext cx="1709928" cy="274320"/>
          </a:xfrm>
          <a:prstGeom prst="rect">
            <a:avLst/>
          </a:prstGeom>
          <a:noFill/>
          <a:ln/>
        </p:spPr>
        <p:txBody>
          <a:bodyPr wrap="square" lIns="0" tIns="0" rIns="0" bIns="0" rtlCol="0" anchor="ctr">
            <a:normAutofit/>
          </a:bodyPr>
          <a:lstStyle/>
          <a:p>
            <a:pPr algn="ctr" indent="0" marL="0">
              <a:buNone/>
            </a:pPr>
            <a:r>
              <a:rPr lang="en-US" sz="1150" b="1" dirty="0">
                <a:solidFill>
                  <a:srgbClr val="15803D"/>
                </a:solidFill>
                <a:latin typeface="Calibri" pitchFamily="34" charset="0"/>
                <a:ea typeface="Calibri" pitchFamily="34" charset="-122"/>
                <a:cs typeface="Calibri" pitchFamily="34" charset="-120"/>
              </a:rPr>
              <a:t>YES</a:t>
            </a:r>
            <a:endParaRPr lang="en-US" sz="1150" dirty="0"/>
          </a:p>
        </p:txBody>
      </p:sp>
      <p:sp>
        <p:nvSpPr>
          <p:cNvPr id="48" name="Shape 46"/>
          <p:cNvSpPr/>
          <p:nvPr/>
        </p:nvSpPr>
        <p:spPr>
          <a:xfrm>
            <a:off x="5751576" y="4105656"/>
            <a:ext cx="1874520" cy="758952"/>
          </a:xfrm>
          <a:prstGeom prst="rect">
            <a:avLst/>
          </a:prstGeom>
          <a:solidFill>
            <a:srgbClr val="CCFBF1"/>
          </a:solidFill>
          <a:ln w="10160">
            <a:solidFill>
              <a:srgbClr val="E2E8F0"/>
            </a:solidFill>
            <a:prstDash val="solid"/>
          </a:ln>
        </p:spPr>
      </p:sp>
      <p:sp>
        <p:nvSpPr>
          <p:cNvPr id="49" name="Text 47"/>
          <p:cNvSpPr/>
          <p:nvPr/>
        </p:nvSpPr>
        <p:spPr>
          <a:xfrm>
            <a:off x="5833872" y="4334256"/>
            <a:ext cx="1709928" cy="274320"/>
          </a:xfrm>
          <a:prstGeom prst="rect">
            <a:avLst/>
          </a:prstGeom>
          <a:noFill/>
          <a:ln/>
        </p:spPr>
        <p:txBody>
          <a:bodyPr wrap="square" lIns="0" tIns="0" rIns="0" bIns="0" rtlCol="0" anchor="ctr">
            <a:normAutofit/>
          </a:bodyPr>
          <a:lstStyle/>
          <a:p>
            <a:pPr algn="ctr" indent="0" marL="0">
              <a:buNone/>
            </a:pPr>
            <a:r>
              <a:rPr lang="en-US" sz="1150" b="1" dirty="0">
                <a:solidFill>
                  <a:srgbClr val="15803D"/>
                </a:solidFill>
                <a:latin typeface="Calibri" pitchFamily="34" charset="0"/>
                <a:ea typeface="Calibri" pitchFamily="34" charset="-122"/>
                <a:cs typeface="Calibri" pitchFamily="34" charset="-120"/>
              </a:rPr>
              <a:t>YES</a:t>
            </a:r>
            <a:endParaRPr lang="en-US" sz="1150" dirty="0"/>
          </a:p>
        </p:txBody>
      </p:sp>
      <p:sp>
        <p:nvSpPr>
          <p:cNvPr id="50" name="Shape 48"/>
          <p:cNvSpPr/>
          <p:nvPr/>
        </p:nvSpPr>
        <p:spPr>
          <a:xfrm>
            <a:off x="7626096" y="4105656"/>
            <a:ext cx="1874520" cy="758952"/>
          </a:xfrm>
          <a:prstGeom prst="rect">
            <a:avLst/>
          </a:prstGeom>
          <a:solidFill>
            <a:srgbClr val="CCFBF1"/>
          </a:solidFill>
          <a:ln w="10160">
            <a:solidFill>
              <a:srgbClr val="E2E8F0"/>
            </a:solidFill>
            <a:prstDash val="solid"/>
          </a:ln>
        </p:spPr>
      </p:sp>
      <p:sp>
        <p:nvSpPr>
          <p:cNvPr id="51" name="Text 49"/>
          <p:cNvSpPr/>
          <p:nvPr/>
        </p:nvSpPr>
        <p:spPr>
          <a:xfrm>
            <a:off x="7708392" y="4334256"/>
            <a:ext cx="1709928" cy="274320"/>
          </a:xfrm>
          <a:prstGeom prst="rect">
            <a:avLst/>
          </a:prstGeom>
          <a:noFill/>
          <a:ln/>
        </p:spPr>
        <p:txBody>
          <a:bodyPr wrap="square" lIns="0" tIns="0" rIns="0" bIns="0" rtlCol="0" anchor="ctr">
            <a:normAutofit/>
          </a:bodyPr>
          <a:lstStyle/>
          <a:p>
            <a:pPr algn="ctr" indent="0" marL="0">
              <a:buNone/>
            </a:pPr>
            <a:r>
              <a:rPr lang="en-US" sz="1150" b="1" dirty="0">
                <a:solidFill>
                  <a:srgbClr val="15803D"/>
                </a:solidFill>
                <a:latin typeface="Calibri" pitchFamily="34" charset="0"/>
                <a:ea typeface="Calibri" pitchFamily="34" charset="-122"/>
                <a:cs typeface="Calibri" pitchFamily="34" charset="-120"/>
              </a:rPr>
              <a:t>YES</a:t>
            </a:r>
            <a:endParaRPr lang="en-US" sz="1150" dirty="0"/>
          </a:p>
        </p:txBody>
      </p:sp>
      <p:sp>
        <p:nvSpPr>
          <p:cNvPr id="52" name="Shape 50"/>
          <p:cNvSpPr/>
          <p:nvPr/>
        </p:nvSpPr>
        <p:spPr>
          <a:xfrm>
            <a:off x="9500616" y="4105656"/>
            <a:ext cx="2029968" cy="758952"/>
          </a:xfrm>
          <a:prstGeom prst="rect">
            <a:avLst/>
          </a:prstGeom>
          <a:solidFill>
            <a:srgbClr val="CCFBF1"/>
          </a:solidFill>
          <a:ln w="10160">
            <a:solidFill>
              <a:srgbClr val="E2E8F0"/>
            </a:solidFill>
            <a:prstDash val="solid"/>
          </a:ln>
        </p:spPr>
      </p:sp>
      <p:sp>
        <p:nvSpPr>
          <p:cNvPr id="53" name="Text 51"/>
          <p:cNvSpPr/>
          <p:nvPr/>
        </p:nvSpPr>
        <p:spPr>
          <a:xfrm>
            <a:off x="9582912" y="4334256"/>
            <a:ext cx="1865376" cy="274320"/>
          </a:xfrm>
          <a:prstGeom prst="rect">
            <a:avLst/>
          </a:prstGeom>
          <a:noFill/>
          <a:ln/>
        </p:spPr>
        <p:txBody>
          <a:bodyPr wrap="square" lIns="0" tIns="0" rIns="0" bIns="0" rtlCol="0" anchor="ctr">
            <a:normAutofit/>
          </a:bodyPr>
          <a:lstStyle/>
          <a:p>
            <a:pPr algn="ctr" indent="0" marL="0">
              <a:buNone/>
            </a:pPr>
            <a:r>
              <a:rPr lang="en-US" sz="1150" b="1" dirty="0">
                <a:solidFill>
                  <a:srgbClr val="0F766E"/>
                </a:solidFill>
                <a:latin typeface="Calibri" pitchFamily="34" charset="0"/>
                <a:ea typeface="Calibri" pitchFamily="34" charset="-122"/>
                <a:cs typeface="Calibri" pitchFamily="34" charset="-120"/>
              </a:rPr>
              <a:t>Needs validation</a:t>
            </a:r>
            <a:endParaRPr lang="en-US" sz="1150" dirty="0"/>
          </a:p>
        </p:txBody>
      </p:sp>
      <p:sp>
        <p:nvSpPr>
          <p:cNvPr id="54" name="Shape 52"/>
          <p:cNvSpPr/>
          <p:nvPr/>
        </p:nvSpPr>
        <p:spPr>
          <a:xfrm>
            <a:off x="658368" y="5074920"/>
            <a:ext cx="10881360" cy="768096"/>
          </a:xfrm>
          <a:prstGeom prst="roundRect">
            <a:avLst>
              <a:gd name="adj" fmla="val 9524"/>
            </a:avLst>
          </a:prstGeom>
          <a:solidFill>
            <a:srgbClr val="FEF3C7"/>
          </a:solidFill>
          <a:ln w="12700">
            <a:solidFill>
              <a:srgbClr val="FEF3C7"/>
            </a:solidFill>
            <a:prstDash val="solid"/>
          </a:ln>
        </p:spPr>
      </p:sp>
      <p:sp>
        <p:nvSpPr>
          <p:cNvPr id="55" name="Text 53"/>
          <p:cNvSpPr/>
          <p:nvPr/>
        </p:nvSpPr>
        <p:spPr>
          <a:xfrm>
            <a:off x="896112" y="5285232"/>
            <a:ext cx="1691640" cy="237744"/>
          </a:xfrm>
          <a:prstGeom prst="rect">
            <a:avLst/>
          </a:prstGeom>
          <a:noFill/>
          <a:ln/>
        </p:spPr>
        <p:txBody>
          <a:bodyPr wrap="square" lIns="0" tIns="0" rIns="0" bIns="0" rtlCol="0" anchor="ctr"/>
          <a:lstStyle/>
          <a:p>
            <a:pPr indent="0" marL="0">
              <a:buNone/>
            </a:pPr>
            <a:r>
              <a:rPr lang="en-US" sz="1200" b="1" dirty="0">
                <a:solidFill>
                  <a:srgbClr val="D97706"/>
                </a:solidFill>
                <a:latin typeface="Calibri" pitchFamily="34" charset="0"/>
                <a:ea typeface="Calibri" pitchFamily="34" charset="-122"/>
                <a:cs typeface="Calibri" pitchFamily="34" charset="-120"/>
              </a:rPr>
              <a:t>Candidate interpretation</a:t>
            </a:r>
            <a:endParaRPr lang="en-US" sz="1200" dirty="0"/>
          </a:p>
        </p:txBody>
      </p:sp>
      <p:sp>
        <p:nvSpPr>
          <p:cNvPr id="56" name="Text 54"/>
          <p:cNvSpPr/>
          <p:nvPr/>
        </p:nvSpPr>
        <p:spPr>
          <a:xfrm>
            <a:off x="2578608" y="5230368"/>
            <a:ext cx="8595360" cy="347472"/>
          </a:xfrm>
          <a:prstGeom prst="rect">
            <a:avLst/>
          </a:prstGeom>
          <a:noFill/>
          <a:ln/>
        </p:spPr>
        <p:txBody>
          <a:bodyPr wrap="square" lIns="0" tIns="0" rIns="0" bIns="0" rtlCol="0" anchor="ctr">
            <a:normAutofit/>
          </a:bodyPr>
          <a:lstStyle/>
          <a:p>
            <a:pPr indent="0" marL="0">
              <a:buNone/>
            </a:pPr>
            <a:r>
              <a:rPr lang="en-US" sz="1300" dirty="0">
                <a:solidFill>
                  <a:srgbClr val="172033"/>
                </a:solidFill>
                <a:latin typeface="Calibri" pitchFamily="34" charset="0"/>
                <a:ea typeface="Calibri" pitchFamily="34" charset="-122"/>
                <a:cs typeface="Calibri" pitchFamily="34" charset="-120"/>
              </a:rPr>
              <a:t>positive gap → rating exceeds aspect signal (possible buffering)   |   negative gap → rating falls below aspect signal (possible punitive response)</a:t>
            </a:r>
            <a:endParaRPr lang="en-US" sz="1300" dirty="0"/>
          </a:p>
        </p:txBody>
      </p:sp>
      <p:sp>
        <p:nvSpPr>
          <p:cNvPr id="57" name="Text 55"/>
          <p:cNvSpPr/>
          <p:nvPr/>
        </p:nvSpPr>
        <p:spPr>
          <a:xfrm>
            <a:off x="2578608" y="5596128"/>
            <a:ext cx="7132320" cy="164592"/>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This formula is the project’s extension, not an established standard.</a:t>
            </a:r>
            <a:endParaRPr lang="en-US" sz="1000" dirty="0"/>
          </a:p>
        </p:txBody>
      </p:sp>
      <p:sp>
        <p:nvSpPr>
          <p:cNvPr id="58" name="Text 56"/>
          <p:cNvSpPr/>
          <p:nvPr/>
        </p:nvSpPr>
        <p:spPr>
          <a:xfrm>
            <a:off x="640080" y="6172200"/>
            <a:ext cx="10607040" cy="164592"/>
          </a:xfrm>
          <a:prstGeom prst="rect">
            <a:avLst/>
          </a:prstGeom>
          <a:noFill/>
          <a:ln/>
        </p:spPr>
        <p:txBody>
          <a:bodyPr wrap="square" lIns="0" tIns="0" rIns="0" bIns="0" rtlCol="0" anchor="ctr">
            <a:normAutofit/>
          </a:bodyPr>
          <a:lstStyle/>
          <a:p>
            <a:pPr indent="0" marL="0">
              <a:buNone/>
            </a:pPr>
            <a:r>
              <a:rPr lang="en-US" sz="850" i="1" dirty="0">
                <a:solidFill>
                  <a:srgbClr val="64748B"/>
                </a:solidFill>
                <a:latin typeface="Calibri" pitchFamily="34" charset="0"/>
                <a:ea typeface="Calibri" pitchFamily="34" charset="-122"/>
                <a:cs typeface="Calibri" pitchFamily="34" charset="-120"/>
              </a:rPr>
              <a:t>Sources: Kwon et al. (2025); Jayakody et al. (2026, preprint); survey synthesis.</a:t>
            </a:r>
            <a:endParaRPr lang="en-US" sz="850" dirty="0"/>
          </a:p>
        </p:txBody>
      </p:sp>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320040"/>
            <a:ext cx="5029200" cy="182880"/>
          </a:xfrm>
          <a:prstGeom prst="rect">
            <a:avLst/>
          </a:prstGeom>
          <a:noFill/>
          <a:ln/>
        </p:spPr>
        <p:txBody>
          <a:bodyPr wrap="square" lIns="0" tIns="0" rIns="0" bIns="0" rtlCol="0" anchor="ctr"/>
          <a:lstStyle/>
          <a:p>
            <a:pPr indent="0" marL="0">
              <a:buNone/>
            </a:pPr>
            <a:r>
              <a:rPr lang="en-US" sz="1000" b="1" spc="120" kern="0" dirty="0">
                <a:solidFill>
                  <a:srgbClr val="0F766E"/>
                </a:solidFill>
                <a:latin typeface="Calibri" pitchFamily="34" charset="0"/>
                <a:ea typeface="Calibri" pitchFamily="34" charset="-122"/>
                <a:cs typeface="Calibri" pitchFamily="34" charset="-120"/>
              </a:rPr>
              <a:t>BEHAVIORAL MECHANISM</a:t>
            </a:r>
            <a:endParaRPr lang="en-US" sz="1000" dirty="0"/>
          </a:p>
        </p:txBody>
      </p:sp>
      <p:sp>
        <p:nvSpPr>
          <p:cNvPr id="3" name="Text 1"/>
          <p:cNvSpPr/>
          <p:nvPr/>
        </p:nvSpPr>
        <p:spPr>
          <a:xfrm>
            <a:off x="640080" y="548640"/>
            <a:ext cx="10881360" cy="502920"/>
          </a:xfrm>
          <a:prstGeom prst="rect">
            <a:avLst/>
          </a:prstGeom>
          <a:noFill/>
          <a:ln/>
        </p:spPr>
        <p:txBody>
          <a:bodyPr wrap="square" lIns="0" tIns="0" rIns="0" bIns="0" rtlCol="0" anchor="ctr">
            <a:normAutofit/>
          </a:bodyPr>
          <a:lstStyle/>
          <a:p>
            <a:pPr indent="0" marL="0">
              <a:buNone/>
            </a:pPr>
            <a:r>
              <a:rPr lang="en-US" sz="2900" b="1" dirty="0">
                <a:solidFill>
                  <a:srgbClr val="172033"/>
                </a:solidFill>
                <a:latin typeface="Cambria" pitchFamily="34" charset="0"/>
                <a:ea typeface="Cambria" pitchFamily="34" charset="-122"/>
                <a:cs typeface="Cambria" pitchFamily="34" charset="-120"/>
              </a:rPr>
              <a:t>Survey result #3: theory stops before observed star ratings</a:t>
            </a:r>
            <a:endParaRPr lang="en-US" sz="2900" dirty="0"/>
          </a:p>
        </p:txBody>
      </p:sp>
      <p:sp>
        <p:nvSpPr>
          <p:cNvPr id="4" name="Shape 2"/>
          <p:cNvSpPr/>
          <p:nvPr/>
        </p:nvSpPr>
        <p:spPr>
          <a:xfrm>
            <a:off x="685800" y="1828800"/>
            <a:ext cx="2057400" cy="1417320"/>
          </a:xfrm>
          <a:prstGeom prst="roundRect">
            <a:avLst>
              <a:gd name="adj" fmla="val 5161"/>
            </a:avLst>
          </a:prstGeom>
          <a:solidFill>
            <a:srgbClr val="FFE4E6"/>
          </a:solidFill>
          <a:ln w="12700">
            <a:solidFill>
              <a:srgbClr val="FFE4E6"/>
            </a:solidFill>
            <a:prstDash val="solid"/>
          </a:ln>
        </p:spPr>
      </p:sp>
      <p:sp>
        <p:nvSpPr>
          <p:cNvPr id="5" name="Text 3"/>
          <p:cNvSpPr/>
          <p:nvPr/>
        </p:nvSpPr>
        <p:spPr>
          <a:xfrm>
            <a:off x="868680" y="2148840"/>
            <a:ext cx="1691640" cy="292608"/>
          </a:xfrm>
          <a:prstGeom prst="rect">
            <a:avLst/>
          </a:prstGeom>
          <a:noFill/>
          <a:ln/>
        </p:spPr>
        <p:txBody>
          <a:bodyPr wrap="square" lIns="0" tIns="0" rIns="0" bIns="0" rtlCol="0" anchor="ctr">
            <a:normAutofit/>
          </a:bodyPr>
          <a:lstStyle/>
          <a:p>
            <a:pPr algn="ctr" indent="0" marL="0">
              <a:buNone/>
            </a:pPr>
            <a:r>
              <a:rPr lang="en-US" sz="1500" b="1" dirty="0">
                <a:solidFill>
                  <a:srgbClr val="E11D48"/>
                </a:solidFill>
                <a:latin typeface="Calibri" pitchFamily="34" charset="0"/>
                <a:ea typeface="Calibri" pitchFamily="34" charset="-122"/>
                <a:cs typeface="Calibri" pitchFamily="34" charset="-120"/>
              </a:rPr>
              <a:t>Service failure</a:t>
            </a:r>
            <a:endParaRPr lang="en-US" sz="1500" dirty="0"/>
          </a:p>
        </p:txBody>
      </p:sp>
      <p:sp>
        <p:nvSpPr>
          <p:cNvPr id="6" name="Text 4"/>
          <p:cNvSpPr/>
          <p:nvPr/>
        </p:nvSpPr>
        <p:spPr>
          <a:xfrm>
            <a:off x="868680" y="2587752"/>
            <a:ext cx="1691640" cy="365760"/>
          </a:xfrm>
          <a:prstGeom prst="rect">
            <a:avLst/>
          </a:prstGeom>
          <a:noFill/>
          <a:ln/>
        </p:spPr>
        <p:txBody>
          <a:bodyPr wrap="square" lIns="0" tIns="0" rIns="0" bIns="0" rtlCol="0" anchor="ctr">
            <a:normAutofit/>
          </a:bodyPr>
          <a:lstStyle/>
          <a:p>
            <a:pPr algn="ctr" indent="0" marL="0">
              <a:buNone/>
            </a:pPr>
            <a:r>
              <a:rPr lang="en-US" sz="1150" dirty="0">
                <a:solidFill>
                  <a:srgbClr val="475569"/>
                </a:solidFill>
                <a:latin typeface="Calibri" pitchFamily="34" charset="0"/>
                <a:ea typeface="Calibri" pitchFamily="34" charset="-122"/>
                <a:cs typeface="Calibri" pitchFamily="34" charset="-120"/>
              </a:rPr>
              <a:t>facility / service / amenity</a:t>
            </a:r>
            <a:endParaRPr lang="en-US" sz="1150" dirty="0"/>
          </a:p>
        </p:txBody>
      </p:sp>
      <p:sp>
        <p:nvSpPr>
          <p:cNvPr id="7" name="Shape 5"/>
          <p:cNvSpPr/>
          <p:nvPr/>
        </p:nvSpPr>
        <p:spPr>
          <a:xfrm>
            <a:off x="2743200" y="2523744"/>
            <a:ext cx="411480" cy="0"/>
          </a:xfrm>
          <a:prstGeom prst="line">
            <a:avLst/>
          </a:prstGeom>
          <a:noFill/>
          <a:ln w="25400">
            <a:solidFill>
              <a:srgbClr val="64748B"/>
            </a:solidFill>
            <a:prstDash val="solid"/>
            <a:tailEnd type="triangle"/>
          </a:ln>
        </p:spPr>
      </p:sp>
      <p:sp>
        <p:nvSpPr>
          <p:cNvPr id="8" name="Shape 6"/>
          <p:cNvSpPr/>
          <p:nvPr/>
        </p:nvSpPr>
        <p:spPr>
          <a:xfrm>
            <a:off x="3154680" y="1828800"/>
            <a:ext cx="2057400" cy="1417320"/>
          </a:xfrm>
          <a:prstGeom prst="roundRect">
            <a:avLst>
              <a:gd name="adj" fmla="val 5161"/>
            </a:avLst>
          </a:prstGeom>
          <a:solidFill>
            <a:srgbClr val="DBEAFE"/>
          </a:solidFill>
          <a:ln w="12700">
            <a:solidFill>
              <a:srgbClr val="DBEAFE"/>
            </a:solidFill>
            <a:prstDash val="solid"/>
          </a:ln>
        </p:spPr>
      </p:sp>
      <p:sp>
        <p:nvSpPr>
          <p:cNvPr id="9" name="Text 7"/>
          <p:cNvSpPr/>
          <p:nvPr/>
        </p:nvSpPr>
        <p:spPr>
          <a:xfrm>
            <a:off x="3337560" y="2148840"/>
            <a:ext cx="1691640" cy="292608"/>
          </a:xfrm>
          <a:prstGeom prst="rect">
            <a:avLst/>
          </a:prstGeom>
          <a:noFill/>
          <a:ln/>
        </p:spPr>
        <p:txBody>
          <a:bodyPr wrap="square" lIns="0" tIns="0" rIns="0" bIns="0" rtlCol="0" anchor="ctr">
            <a:normAutofit/>
          </a:bodyPr>
          <a:lstStyle/>
          <a:p>
            <a:pPr algn="ctr" indent="0" marL="0">
              <a:buNone/>
            </a:pPr>
            <a:r>
              <a:rPr lang="en-US" sz="1500" b="1" dirty="0">
                <a:solidFill>
                  <a:srgbClr val="2563EB"/>
                </a:solidFill>
                <a:latin typeface="Calibri" pitchFamily="34" charset="0"/>
                <a:ea typeface="Calibri" pitchFamily="34" charset="-122"/>
                <a:cs typeface="Calibri" pitchFamily="34" charset="-120"/>
              </a:rPr>
              <a:t>Customer appraisal</a:t>
            </a:r>
            <a:endParaRPr lang="en-US" sz="1500" dirty="0"/>
          </a:p>
        </p:txBody>
      </p:sp>
      <p:sp>
        <p:nvSpPr>
          <p:cNvPr id="10" name="Text 8"/>
          <p:cNvSpPr/>
          <p:nvPr/>
        </p:nvSpPr>
        <p:spPr>
          <a:xfrm>
            <a:off x="3337560" y="2587752"/>
            <a:ext cx="1691640" cy="365760"/>
          </a:xfrm>
          <a:prstGeom prst="rect">
            <a:avLst/>
          </a:prstGeom>
          <a:noFill/>
          <a:ln/>
        </p:spPr>
        <p:txBody>
          <a:bodyPr wrap="square" lIns="0" tIns="0" rIns="0" bIns="0" rtlCol="0" anchor="ctr">
            <a:normAutofit/>
          </a:bodyPr>
          <a:lstStyle/>
          <a:p>
            <a:pPr algn="ctr" indent="0" marL="0">
              <a:buNone/>
            </a:pPr>
            <a:r>
              <a:rPr lang="en-US" sz="1150" dirty="0">
                <a:solidFill>
                  <a:srgbClr val="475569"/>
                </a:solidFill>
                <a:latin typeface="Calibri" pitchFamily="34" charset="0"/>
                <a:ea typeface="Calibri" pitchFamily="34" charset="-122"/>
                <a:cs typeface="Calibri" pitchFamily="34" charset="-120"/>
              </a:rPr>
              <a:t>justice · attribution · expectations</a:t>
            </a:r>
            <a:endParaRPr lang="en-US" sz="1150" dirty="0"/>
          </a:p>
        </p:txBody>
      </p:sp>
      <p:sp>
        <p:nvSpPr>
          <p:cNvPr id="11" name="Shape 9"/>
          <p:cNvSpPr/>
          <p:nvPr/>
        </p:nvSpPr>
        <p:spPr>
          <a:xfrm>
            <a:off x="5212080" y="2523744"/>
            <a:ext cx="411480" cy="0"/>
          </a:xfrm>
          <a:prstGeom prst="line">
            <a:avLst/>
          </a:prstGeom>
          <a:noFill/>
          <a:ln w="25400">
            <a:solidFill>
              <a:srgbClr val="64748B"/>
            </a:solidFill>
            <a:prstDash val="solid"/>
            <a:tailEnd type="triangle"/>
          </a:ln>
        </p:spPr>
      </p:sp>
      <p:sp>
        <p:nvSpPr>
          <p:cNvPr id="12" name="Shape 10"/>
          <p:cNvSpPr/>
          <p:nvPr/>
        </p:nvSpPr>
        <p:spPr>
          <a:xfrm>
            <a:off x="5623560" y="1828800"/>
            <a:ext cx="2331720" cy="1417320"/>
          </a:xfrm>
          <a:prstGeom prst="roundRect">
            <a:avLst>
              <a:gd name="adj" fmla="val 5161"/>
            </a:avLst>
          </a:prstGeom>
          <a:solidFill>
            <a:srgbClr val="CCFBF1"/>
          </a:solidFill>
          <a:ln w="12700">
            <a:solidFill>
              <a:srgbClr val="CCFBF1"/>
            </a:solidFill>
            <a:prstDash val="solid"/>
          </a:ln>
        </p:spPr>
      </p:sp>
      <p:sp>
        <p:nvSpPr>
          <p:cNvPr id="13" name="Text 11"/>
          <p:cNvSpPr/>
          <p:nvPr/>
        </p:nvSpPr>
        <p:spPr>
          <a:xfrm>
            <a:off x="5806440" y="2148840"/>
            <a:ext cx="1965960" cy="292608"/>
          </a:xfrm>
          <a:prstGeom prst="rect">
            <a:avLst/>
          </a:prstGeom>
          <a:noFill/>
          <a:ln/>
        </p:spPr>
        <p:txBody>
          <a:bodyPr wrap="square" lIns="0" tIns="0" rIns="0" bIns="0" rtlCol="0" anchor="ctr">
            <a:normAutofit/>
          </a:bodyPr>
          <a:lstStyle/>
          <a:p>
            <a:pPr algn="ctr" indent="0" marL="0">
              <a:buNone/>
            </a:pPr>
            <a:r>
              <a:rPr lang="en-US" sz="1500" b="1" dirty="0">
                <a:solidFill>
                  <a:srgbClr val="0F766E"/>
                </a:solidFill>
                <a:latin typeface="Calibri" pitchFamily="34" charset="0"/>
                <a:ea typeface="Calibri" pitchFamily="34" charset="-122"/>
                <a:cs typeface="Calibri" pitchFamily="34" charset="-120"/>
              </a:rPr>
              <a:t>Internal mechanism</a:t>
            </a:r>
            <a:endParaRPr lang="en-US" sz="1500" dirty="0"/>
          </a:p>
        </p:txBody>
      </p:sp>
      <p:sp>
        <p:nvSpPr>
          <p:cNvPr id="14" name="Text 12"/>
          <p:cNvSpPr/>
          <p:nvPr/>
        </p:nvSpPr>
        <p:spPr>
          <a:xfrm>
            <a:off x="5806440" y="2587752"/>
            <a:ext cx="1965960" cy="365760"/>
          </a:xfrm>
          <a:prstGeom prst="rect">
            <a:avLst/>
          </a:prstGeom>
          <a:noFill/>
          <a:ln/>
        </p:spPr>
        <p:txBody>
          <a:bodyPr wrap="square" lIns="0" tIns="0" rIns="0" bIns="0" rtlCol="0" anchor="ctr">
            <a:normAutofit/>
          </a:bodyPr>
          <a:lstStyle/>
          <a:p>
            <a:pPr algn="ctr" indent="0" marL="0">
              <a:buNone/>
            </a:pPr>
            <a:r>
              <a:rPr lang="en-US" sz="1150" dirty="0">
                <a:solidFill>
                  <a:srgbClr val="475569"/>
                </a:solidFill>
                <a:latin typeface="Calibri" pitchFamily="34" charset="0"/>
                <a:ea typeface="Calibri" pitchFamily="34" charset="-122"/>
                <a:cs typeface="Calibri" pitchFamily="34" charset="-120"/>
              </a:rPr>
              <a:t>empathy · forgiveness · negative emotion</a:t>
            </a:r>
            <a:endParaRPr lang="en-US" sz="1150" dirty="0"/>
          </a:p>
        </p:txBody>
      </p:sp>
      <p:sp>
        <p:nvSpPr>
          <p:cNvPr id="15" name="Shape 13"/>
          <p:cNvSpPr/>
          <p:nvPr/>
        </p:nvSpPr>
        <p:spPr>
          <a:xfrm>
            <a:off x="8732520" y="1828800"/>
            <a:ext cx="2057400" cy="1417320"/>
          </a:xfrm>
          <a:prstGeom prst="roundRect">
            <a:avLst>
              <a:gd name="adj" fmla="val 5161"/>
            </a:avLst>
          </a:prstGeom>
          <a:solidFill>
            <a:srgbClr val="FEF3C7"/>
          </a:solidFill>
          <a:ln w="12700">
            <a:solidFill>
              <a:srgbClr val="FEF3C7"/>
            </a:solidFill>
            <a:prstDash val="solid"/>
          </a:ln>
        </p:spPr>
      </p:sp>
      <p:sp>
        <p:nvSpPr>
          <p:cNvPr id="16" name="Text 14"/>
          <p:cNvSpPr/>
          <p:nvPr/>
        </p:nvSpPr>
        <p:spPr>
          <a:xfrm>
            <a:off x="8915400" y="2148840"/>
            <a:ext cx="1691640" cy="292608"/>
          </a:xfrm>
          <a:prstGeom prst="rect">
            <a:avLst/>
          </a:prstGeom>
          <a:noFill/>
          <a:ln/>
        </p:spPr>
        <p:txBody>
          <a:bodyPr wrap="square" lIns="0" tIns="0" rIns="0" bIns="0" rtlCol="0" anchor="ctr">
            <a:normAutofit/>
          </a:bodyPr>
          <a:lstStyle/>
          <a:p>
            <a:pPr algn="ctr" indent="0" marL="0">
              <a:buNone/>
            </a:pPr>
            <a:r>
              <a:rPr lang="en-US" sz="1500" b="1" dirty="0">
                <a:solidFill>
                  <a:srgbClr val="D97706"/>
                </a:solidFill>
                <a:latin typeface="Calibri" pitchFamily="34" charset="0"/>
                <a:ea typeface="Calibri" pitchFamily="34" charset="-122"/>
                <a:cs typeface="Calibri" pitchFamily="34" charset="-120"/>
              </a:rPr>
              <a:t>Observed rating</a:t>
            </a:r>
            <a:endParaRPr lang="en-US" sz="1500" dirty="0"/>
          </a:p>
        </p:txBody>
      </p:sp>
      <p:sp>
        <p:nvSpPr>
          <p:cNvPr id="17" name="Text 15"/>
          <p:cNvSpPr/>
          <p:nvPr/>
        </p:nvSpPr>
        <p:spPr>
          <a:xfrm>
            <a:off x="8915400" y="2587752"/>
            <a:ext cx="1691640" cy="365760"/>
          </a:xfrm>
          <a:prstGeom prst="rect">
            <a:avLst/>
          </a:prstGeom>
          <a:noFill/>
          <a:ln/>
        </p:spPr>
        <p:txBody>
          <a:bodyPr wrap="square" lIns="0" tIns="0" rIns="0" bIns="0" rtlCol="0" anchor="ctr">
            <a:normAutofit/>
          </a:bodyPr>
          <a:lstStyle/>
          <a:p>
            <a:pPr algn="ctr" indent="0" marL="0">
              <a:buNone/>
            </a:pPr>
            <a:r>
              <a:rPr lang="en-US" sz="1150" dirty="0">
                <a:solidFill>
                  <a:srgbClr val="475569"/>
                </a:solidFill>
                <a:latin typeface="Calibri" pitchFamily="34" charset="0"/>
                <a:ea typeface="Calibri" pitchFamily="34" charset="-122"/>
                <a:cs typeface="Calibri" pitchFamily="34" charset="-120"/>
              </a:rPr>
              <a:t>1–5 stars in real review data</a:t>
            </a:r>
            <a:endParaRPr lang="en-US" sz="1150" dirty="0"/>
          </a:p>
        </p:txBody>
      </p:sp>
      <p:sp>
        <p:nvSpPr>
          <p:cNvPr id="18" name="Shape 16"/>
          <p:cNvSpPr/>
          <p:nvPr/>
        </p:nvSpPr>
        <p:spPr>
          <a:xfrm>
            <a:off x="7973568" y="2523744"/>
            <a:ext cx="658368" cy="0"/>
          </a:xfrm>
          <a:prstGeom prst="line">
            <a:avLst/>
          </a:prstGeom>
          <a:noFill/>
          <a:ln w="38100">
            <a:solidFill>
              <a:srgbClr val="E11D48"/>
            </a:solidFill>
            <a:prstDash val="solid"/>
            <a:tailEnd type="triangle"/>
          </a:ln>
        </p:spPr>
      </p:sp>
      <p:sp>
        <p:nvSpPr>
          <p:cNvPr id="19" name="Text 17"/>
          <p:cNvSpPr/>
          <p:nvPr/>
        </p:nvSpPr>
        <p:spPr>
          <a:xfrm>
            <a:off x="7406640" y="1353312"/>
            <a:ext cx="1783080" cy="274320"/>
          </a:xfrm>
          <a:prstGeom prst="rect">
            <a:avLst/>
          </a:prstGeom>
          <a:noFill/>
          <a:ln/>
        </p:spPr>
        <p:txBody>
          <a:bodyPr wrap="square" lIns="0" tIns="0" rIns="0" bIns="0" rtlCol="0" anchor="ctr"/>
          <a:lstStyle/>
          <a:p>
            <a:pPr algn="ctr" indent="0" marL="0">
              <a:buNone/>
            </a:pPr>
            <a:r>
              <a:rPr lang="en-US" sz="1050" b="1" dirty="0">
                <a:solidFill>
                  <a:srgbClr val="E11D48"/>
                </a:solidFill>
                <a:latin typeface="Calibri" pitchFamily="34" charset="0"/>
                <a:ea typeface="Calibri" pitchFamily="34" charset="-122"/>
                <a:cs typeface="Calibri" pitchFamily="34" charset="-120"/>
              </a:rPr>
              <a:t>MISSING DIRECT TEST</a:t>
            </a:r>
            <a:endParaRPr lang="en-US" sz="1050" dirty="0"/>
          </a:p>
        </p:txBody>
      </p:sp>
      <p:sp>
        <p:nvSpPr>
          <p:cNvPr id="20" name="Shape 18"/>
          <p:cNvSpPr/>
          <p:nvPr/>
        </p:nvSpPr>
        <p:spPr>
          <a:xfrm>
            <a:off x="685800" y="3822192"/>
            <a:ext cx="5349240" cy="1417320"/>
          </a:xfrm>
          <a:prstGeom prst="roundRect">
            <a:avLst>
              <a:gd name="adj" fmla="val 5161"/>
            </a:avLst>
          </a:prstGeom>
          <a:solidFill>
            <a:srgbClr val="FFFFFF"/>
          </a:solidFill>
          <a:ln w="12700">
            <a:solidFill>
              <a:srgbClr val="E2E8F0"/>
            </a:solidFill>
            <a:prstDash val="solid"/>
          </a:ln>
        </p:spPr>
      </p:sp>
      <p:sp>
        <p:nvSpPr>
          <p:cNvPr id="21" name="Text 19"/>
          <p:cNvSpPr/>
          <p:nvPr/>
        </p:nvSpPr>
        <p:spPr>
          <a:xfrm>
            <a:off x="941832" y="4114800"/>
            <a:ext cx="2560320" cy="274320"/>
          </a:xfrm>
          <a:prstGeom prst="rect">
            <a:avLst/>
          </a:prstGeom>
          <a:noFill/>
          <a:ln/>
        </p:spPr>
        <p:txBody>
          <a:bodyPr wrap="square" lIns="0" tIns="0" rIns="0" bIns="0" rtlCol="0" anchor="ctr"/>
          <a:lstStyle/>
          <a:p>
            <a:pPr indent="0" marL="0">
              <a:buNone/>
            </a:pPr>
            <a:r>
              <a:rPr lang="en-US" sz="1600" b="1" dirty="0">
                <a:solidFill>
                  <a:srgbClr val="15803D"/>
                </a:solidFill>
                <a:latin typeface="Calibri" pitchFamily="34" charset="0"/>
                <a:ea typeface="Calibri" pitchFamily="34" charset="-122"/>
                <a:cs typeface="Calibri" pitchFamily="34" charset="-120"/>
              </a:rPr>
              <a:t>What current studies support</a:t>
            </a:r>
            <a:endParaRPr lang="en-US" sz="1600" dirty="0"/>
          </a:p>
        </p:txBody>
      </p:sp>
      <p:sp>
        <p:nvSpPr>
          <p:cNvPr id="22" name="Text 20"/>
          <p:cNvSpPr/>
          <p:nvPr/>
        </p:nvSpPr>
        <p:spPr>
          <a:xfrm>
            <a:off x="941832" y="4526280"/>
            <a:ext cx="4663440" cy="475488"/>
          </a:xfrm>
          <a:prstGeom prst="rect">
            <a:avLst/>
          </a:prstGeom>
          <a:noFill/>
          <a:ln/>
        </p:spPr>
        <p:txBody>
          <a:bodyPr wrap="square" lIns="0" tIns="0" rIns="0" bIns="0" rtlCol="0" anchor="ctr">
            <a:normAutofit/>
          </a:bodyPr>
          <a:lstStyle/>
          <a:p>
            <a:pPr indent="0" marL="0">
              <a:buNone/>
            </a:pPr>
            <a:r>
              <a:rPr lang="en-US" sz="1250" dirty="0">
                <a:solidFill>
                  <a:srgbClr val="475569"/>
                </a:solidFill>
                <a:latin typeface="Calibri" pitchFamily="34" charset="0"/>
                <a:ea typeface="Calibri" pitchFamily="34" charset="-122"/>
                <a:cs typeface="Calibri" pitchFamily="34" charset="-120"/>
              </a:rPr>
              <a:t>Failure type, fairness, empathy and recovery affect forgiveness, dissatisfaction or repatronage.</a:t>
            </a:r>
            <a:endParaRPr lang="en-US" sz="1250" dirty="0"/>
          </a:p>
        </p:txBody>
      </p:sp>
      <p:sp>
        <p:nvSpPr>
          <p:cNvPr id="23" name="Shape 21"/>
          <p:cNvSpPr/>
          <p:nvPr/>
        </p:nvSpPr>
        <p:spPr>
          <a:xfrm>
            <a:off x="6190488" y="3822192"/>
            <a:ext cx="5349240" cy="1417320"/>
          </a:xfrm>
          <a:prstGeom prst="roundRect">
            <a:avLst>
              <a:gd name="adj" fmla="val 5161"/>
            </a:avLst>
          </a:prstGeom>
          <a:solidFill>
            <a:srgbClr val="FFE4E6"/>
          </a:solidFill>
          <a:ln w="12700">
            <a:solidFill>
              <a:srgbClr val="FFE4E6"/>
            </a:solidFill>
            <a:prstDash val="solid"/>
          </a:ln>
        </p:spPr>
      </p:sp>
      <p:sp>
        <p:nvSpPr>
          <p:cNvPr id="24" name="Text 22"/>
          <p:cNvSpPr/>
          <p:nvPr/>
        </p:nvSpPr>
        <p:spPr>
          <a:xfrm>
            <a:off x="6446520" y="4114800"/>
            <a:ext cx="2560320" cy="274320"/>
          </a:xfrm>
          <a:prstGeom prst="rect">
            <a:avLst/>
          </a:prstGeom>
          <a:noFill/>
          <a:ln/>
        </p:spPr>
        <p:txBody>
          <a:bodyPr wrap="square" lIns="0" tIns="0" rIns="0" bIns="0" rtlCol="0" anchor="ctr"/>
          <a:lstStyle/>
          <a:p>
            <a:pPr indent="0" marL="0">
              <a:buNone/>
            </a:pPr>
            <a:r>
              <a:rPr lang="en-US" sz="1600" b="1" dirty="0">
                <a:solidFill>
                  <a:srgbClr val="E11D48"/>
                </a:solidFill>
                <a:latin typeface="Calibri" pitchFamily="34" charset="0"/>
                <a:ea typeface="Calibri" pitchFamily="34" charset="-122"/>
                <a:cs typeface="Calibri" pitchFamily="34" charset="-120"/>
              </a:rPr>
              <a:t>What remains untested</a:t>
            </a:r>
            <a:endParaRPr lang="en-US" sz="1600" dirty="0"/>
          </a:p>
        </p:txBody>
      </p:sp>
      <p:sp>
        <p:nvSpPr>
          <p:cNvPr id="25" name="Text 23"/>
          <p:cNvSpPr/>
          <p:nvPr/>
        </p:nvSpPr>
        <p:spPr>
          <a:xfrm>
            <a:off x="6446520" y="4526280"/>
            <a:ext cx="4663440" cy="475488"/>
          </a:xfrm>
          <a:prstGeom prst="rect">
            <a:avLst/>
          </a:prstGeom>
          <a:noFill/>
          <a:ln/>
        </p:spPr>
        <p:txBody>
          <a:bodyPr wrap="square" lIns="0" tIns="0" rIns="0" bIns="0" rtlCol="0" anchor="ctr">
            <a:normAutofit/>
          </a:bodyPr>
          <a:lstStyle/>
          <a:p>
            <a:pPr indent="0" marL="0">
              <a:buNone/>
            </a:pPr>
            <a:r>
              <a:rPr lang="en-US" sz="1250" dirty="0">
                <a:solidFill>
                  <a:srgbClr val="475569"/>
                </a:solidFill>
                <a:latin typeface="Calibri" pitchFamily="34" charset="0"/>
                <a:ea typeface="Calibri" pitchFamily="34" charset="-122"/>
                <a:cs typeface="Calibri" pitchFamily="34" charset="-120"/>
              </a:rPr>
              <a:t>Whether forgiveness / punitive emotion explains the star rating actually posted in hotel reviews.</a:t>
            </a:r>
            <a:endParaRPr lang="en-US" sz="1250" dirty="0"/>
          </a:p>
        </p:txBody>
      </p:sp>
      <p:sp>
        <p:nvSpPr>
          <p:cNvPr id="26" name="Text 24"/>
          <p:cNvSpPr/>
          <p:nvPr/>
        </p:nvSpPr>
        <p:spPr>
          <a:xfrm>
            <a:off x="1051560" y="5596128"/>
            <a:ext cx="10058400" cy="274320"/>
          </a:xfrm>
          <a:prstGeom prst="rect">
            <a:avLst/>
          </a:prstGeom>
          <a:noFill/>
          <a:ln/>
        </p:spPr>
        <p:txBody>
          <a:bodyPr wrap="square" lIns="0" tIns="0" rIns="0" bIns="0" rtlCol="0" anchor="ctr">
            <a:normAutofit/>
          </a:bodyPr>
          <a:lstStyle/>
          <a:p>
            <a:pPr algn="ctr" indent="0" marL="0">
              <a:buNone/>
            </a:pPr>
            <a:r>
              <a:rPr lang="en-US" sz="1350" b="1" dirty="0">
                <a:solidFill>
                  <a:srgbClr val="7C3AED"/>
                </a:solidFill>
                <a:latin typeface="Calibri" pitchFamily="34" charset="0"/>
                <a:ea typeface="Calibri" pitchFamily="34" charset="-122"/>
                <a:cs typeface="Calibri" pitchFamily="34" charset="-120"/>
              </a:rPr>
              <a:t>Terminology discipline: “Sublimation” and “Anger” remain working labels until construct validity is demonstrated.</a:t>
            </a:r>
            <a:endParaRPr lang="en-US" sz="1350" dirty="0"/>
          </a:p>
        </p:txBody>
      </p:sp>
      <p:sp>
        <p:nvSpPr>
          <p:cNvPr id="27" name="Text 25"/>
          <p:cNvSpPr/>
          <p:nvPr/>
        </p:nvSpPr>
        <p:spPr>
          <a:xfrm>
            <a:off x="640080" y="6172200"/>
            <a:ext cx="10607040" cy="164592"/>
          </a:xfrm>
          <a:prstGeom prst="rect">
            <a:avLst/>
          </a:prstGeom>
          <a:noFill/>
          <a:ln/>
        </p:spPr>
        <p:txBody>
          <a:bodyPr wrap="square" lIns="0" tIns="0" rIns="0" bIns="0" rtlCol="0" anchor="ctr">
            <a:normAutofit/>
          </a:bodyPr>
          <a:lstStyle/>
          <a:p>
            <a:pPr indent="0" marL="0">
              <a:buNone/>
            </a:pPr>
            <a:r>
              <a:rPr lang="en-US" sz="850" i="1" dirty="0">
                <a:solidFill>
                  <a:srgbClr val="64748B"/>
                </a:solidFill>
                <a:latin typeface="Calibri" pitchFamily="34" charset="0"/>
                <a:ea typeface="Calibri" pitchFamily="34" charset="-122"/>
                <a:cs typeface="Calibri" pitchFamily="34" charset="-120"/>
              </a:rPr>
              <a:t>Evidence: Kumar &amp; Shankar (2024); Honora et al. (2024); Huang &amp; Lo (2025); Wei et al. (2025).</a:t>
            </a:r>
            <a:endParaRPr lang="en-US" sz="850" dirty="0"/>
          </a:p>
        </p:txBody>
      </p:sp>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320040"/>
            <a:ext cx="5029200" cy="182880"/>
          </a:xfrm>
          <a:prstGeom prst="rect">
            <a:avLst/>
          </a:prstGeom>
          <a:noFill/>
          <a:ln/>
        </p:spPr>
        <p:txBody>
          <a:bodyPr wrap="square" lIns="0" tIns="0" rIns="0" bIns="0" rtlCol="0" anchor="ctr"/>
          <a:lstStyle/>
          <a:p>
            <a:pPr indent="0" marL="0">
              <a:buNone/>
            </a:pPr>
            <a:r>
              <a:rPr lang="en-US" sz="1000" b="1" spc="120" kern="0" dirty="0">
                <a:solidFill>
                  <a:srgbClr val="0F766E"/>
                </a:solidFill>
                <a:latin typeface="Calibri" pitchFamily="34" charset="0"/>
                <a:ea typeface="Calibri" pitchFamily="34" charset="-122"/>
                <a:cs typeface="Calibri" pitchFamily="34" charset="-120"/>
              </a:rPr>
              <a:t>DRAFT RESEARCH QUESTIONS</a:t>
            </a:r>
            <a:endParaRPr lang="en-US" sz="1000" dirty="0"/>
          </a:p>
        </p:txBody>
      </p:sp>
      <p:sp>
        <p:nvSpPr>
          <p:cNvPr id="3" name="Text 1"/>
          <p:cNvSpPr/>
          <p:nvPr/>
        </p:nvSpPr>
        <p:spPr>
          <a:xfrm>
            <a:off x="640080" y="548640"/>
            <a:ext cx="10881360" cy="502920"/>
          </a:xfrm>
          <a:prstGeom prst="rect">
            <a:avLst/>
          </a:prstGeom>
          <a:noFill/>
          <a:ln/>
        </p:spPr>
        <p:txBody>
          <a:bodyPr wrap="square" lIns="0" tIns="0" rIns="0" bIns="0" rtlCol="0" anchor="ctr">
            <a:normAutofit/>
          </a:bodyPr>
          <a:lstStyle/>
          <a:p>
            <a:pPr indent="0" marL="0">
              <a:buNone/>
            </a:pPr>
            <a:r>
              <a:rPr lang="en-US" sz="2900" b="1" dirty="0">
                <a:solidFill>
                  <a:srgbClr val="172033"/>
                </a:solidFill>
                <a:latin typeface="Cambria" pitchFamily="34" charset="0"/>
                <a:ea typeface="Cambria" pitchFamily="34" charset="-122"/>
                <a:cs typeface="Cambria" pitchFamily="34" charset="-120"/>
              </a:rPr>
              <a:t>Proposed research direction after the survey</a:t>
            </a:r>
            <a:endParaRPr lang="en-US" sz="2900" dirty="0"/>
          </a:p>
        </p:txBody>
      </p:sp>
      <p:sp>
        <p:nvSpPr>
          <p:cNvPr id="4" name="Shape 2"/>
          <p:cNvSpPr/>
          <p:nvPr/>
        </p:nvSpPr>
        <p:spPr>
          <a:xfrm>
            <a:off x="658368" y="1417320"/>
            <a:ext cx="3456432" cy="3246120"/>
          </a:xfrm>
          <a:prstGeom prst="roundRect">
            <a:avLst>
              <a:gd name="adj" fmla="val 2254"/>
            </a:avLst>
          </a:prstGeom>
          <a:solidFill>
            <a:srgbClr val="FFE4E6"/>
          </a:solidFill>
          <a:ln w="12700">
            <a:solidFill>
              <a:srgbClr val="FFE4E6"/>
            </a:solidFill>
            <a:prstDash val="solid"/>
          </a:ln>
        </p:spPr>
      </p:sp>
      <p:sp>
        <p:nvSpPr>
          <p:cNvPr id="5" name="Text 3"/>
          <p:cNvSpPr/>
          <p:nvPr/>
        </p:nvSpPr>
        <p:spPr>
          <a:xfrm>
            <a:off x="914400" y="1737360"/>
            <a:ext cx="658368" cy="320040"/>
          </a:xfrm>
          <a:prstGeom prst="rect">
            <a:avLst/>
          </a:prstGeom>
          <a:noFill/>
          <a:ln/>
        </p:spPr>
        <p:txBody>
          <a:bodyPr wrap="square" lIns="0" tIns="0" rIns="0" bIns="0" rtlCol="0" anchor="ctr"/>
          <a:lstStyle/>
          <a:p>
            <a:pPr indent="0" marL="0">
              <a:buNone/>
            </a:pPr>
            <a:r>
              <a:rPr lang="en-US" sz="1900" b="1" dirty="0">
                <a:solidFill>
                  <a:srgbClr val="E11D48"/>
                </a:solidFill>
                <a:latin typeface="Cambria" pitchFamily="34" charset="0"/>
                <a:ea typeface="Cambria" pitchFamily="34" charset="-122"/>
                <a:cs typeface="Cambria" pitchFamily="34" charset="-120"/>
              </a:rPr>
              <a:t>RQ1</a:t>
            </a:r>
            <a:endParaRPr lang="en-US" sz="1900" dirty="0"/>
          </a:p>
        </p:txBody>
      </p:sp>
      <p:sp>
        <p:nvSpPr>
          <p:cNvPr id="6" name="Text 4"/>
          <p:cNvSpPr/>
          <p:nvPr/>
        </p:nvSpPr>
        <p:spPr>
          <a:xfrm>
            <a:off x="914400" y="2240280"/>
            <a:ext cx="2907792" cy="658368"/>
          </a:xfrm>
          <a:prstGeom prst="rect">
            <a:avLst/>
          </a:prstGeom>
          <a:noFill/>
          <a:ln/>
        </p:spPr>
        <p:txBody>
          <a:bodyPr wrap="square" lIns="0" tIns="0" rIns="0" bIns="0" rtlCol="0" anchor="ctr">
            <a:normAutofit/>
          </a:bodyPr>
          <a:lstStyle/>
          <a:p>
            <a:pPr indent="0" marL="0">
              <a:buNone/>
            </a:pPr>
            <a:r>
              <a:rPr lang="en-US" sz="1700" b="1" dirty="0">
                <a:solidFill>
                  <a:srgbClr val="172033"/>
                </a:solidFill>
                <a:latin typeface="Calibri" pitchFamily="34" charset="0"/>
                <a:ea typeface="Calibri" pitchFamily="34" charset="-122"/>
                <a:cs typeface="Calibri" pitchFamily="34" charset="-120"/>
              </a:rPr>
              <a:t>How often, and in which direction?</a:t>
            </a:r>
            <a:endParaRPr lang="en-US" sz="1700" dirty="0"/>
          </a:p>
        </p:txBody>
      </p:sp>
      <p:sp>
        <p:nvSpPr>
          <p:cNvPr id="7" name="Text 5"/>
          <p:cNvSpPr/>
          <p:nvPr/>
        </p:nvSpPr>
        <p:spPr>
          <a:xfrm>
            <a:off x="914400" y="3154680"/>
            <a:ext cx="2907792" cy="987552"/>
          </a:xfrm>
          <a:prstGeom prst="rect">
            <a:avLst/>
          </a:prstGeom>
          <a:noFill/>
          <a:ln/>
        </p:spPr>
        <p:txBody>
          <a:bodyPr wrap="square" lIns="0" tIns="0" rIns="0" bIns="0" rtlCol="0" anchor="ctr">
            <a:normAutofit/>
          </a:bodyPr>
          <a:lstStyle/>
          <a:p>
            <a:pPr indent="0" marL="0">
              <a:buNone/>
            </a:pPr>
            <a:r>
              <a:rPr lang="en-US" sz="1300" dirty="0">
                <a:solidFill>
                  <a:srgbClr val="475569"/>
                </a:solidFill>
                <a:latin typeface="Calibri" pitchFamily="34" charset="0"/>
                <a:ea typeface="Calibri" pitchFamily="34" charset="-122"/>
                <a:cs typeface="Calibri" pitchFamily="34" charset="-120"/>
              </a:rPr>
              <a:t>Estimate the prevalence and types of sentiment–rating inconsistency after human adjudication.</a:t>
            </a:r>
            <a:endParaRPr lang="en-US" sz="1300" dirty="0"/>
          </a:p>
        </p:txBody>
      </p:sp>
      <p:sp>
        <p:nvSpPr>
          <p:cNvPr id="8" name="Shape 6"/>
          <p:cNvSpPr/>
          <p:nvPr/>
        </p:nvSpPr>
        <p:spPr>
          <a:xfrm>
            <a:off x="4361688" y="1417320"/>
            <a:ext cx="3456432" cy="3246120"/>
          </a:xfrm>
          <a:prstGeom prst="roundRect">
            <a:avLst>
              <a:gd name="adj" fmla="val 2254"/>
            </a:avLst>
          </a:prstGeom>
          <a:solidFill>
            <a:srgbClr val="DBEAFE"/>
          </a:solidFill>
          <a:ln w="12700">
            <a:solidFill>
              <a:srgbClr val="DBEAFE"/>
            </a:solidFill>
            <a:prstDash val="solid"/>
          </a:ln>
        </p:spPr>
      </p:sp>
      <p:sp>
        <p:nvSpPr>
          <p:cNvPr id="9" name="Text 7"/>
          <p:cNvSpPr/>
          <p:nvPr/>
        </p:nvSpPr>
        <p:spPr>
          <a:xfrm>
            <a:off x="4617720" y="1737360"/>
            <a:ext cx="658368" cy="320040"/>
          </a:xfrm>
          <a:prstGeom prst="rect">
            <a:avLst/>
          </a:prstGeom>
          <a:noFill/>
          <a:ln/>
        </p:spPr>
        <p:txBody>
          <a:bodyPr wrap="square" lIns="0" tIns="0" rIns="0" bIns="0" rtlCol="0" anchor="ctr"/>
          <a:lstStyle/>
          <a:p>
            <a:pPr indent="0" marL="0">
              <a:buNone/>
            </a:pPr>
            <a:r>
              <a:rPr lang="en-US" sz="1900" b="1" dirty="0">
                <a:solidFill>
                  <a:srgbClr val="2563EB"/>
                </a:solidFill>
                <a:latin typeface="Cambria" pitchFamily="34" charset="0"/>
                <a:ea typeface="Cambria" pitchFamily="34" charset="-122"/>
                <a:cs typeface="Cambria" pitchFamily="34" charset="-120"/>
              </a:rPr>
              <a:t>RQ2</a:t>
            </a:r>
            <a:endParaRPr lang="en-US" sz="1900" dirty="0"/>
          </a:p>
        </p:txBody>
      </p:sp>
      <p:sp>
        <p:nvSpPr>
          <p:cNvPr id="10" name="Text 8"/>
          <p:cNvSpPr/>
          <p:nvPr/>
        </p:nvSpPr>
        <p:spPr>
          <a:xfrm>
            <a:off x="4617720" y="2240280"/>
            <a:ext cx="2907792" cy="658368"/>
          </a:xfrm>
          <a:prstGeom prst="rect">
            <a:avLst/>
          </a:prstGeom>
          <a:noFill/>
          <a:ln/>
        </p:spPr>
        <p:txBody>
          <a:bodyPr wrap="square" lIns="0" tIns="0" rIns="0" bIns="0" rtlCol="0" anchor="ctr">
            <a:normAutofit/>
          </a:bodyPr>
          <a:lstStyle/>
          <a:p>
            <a:pPr indent="0" marL="0">
              <a:buNone/>
            </a:pPr>
            <a:r>
              <a:rPr lang="en-US" sz="1700" b="1" dirty="0">
                <a:solidFill>
                  <a:srgbClr val="172033"/>
                </a:solidFill>
                <a:latin typeface="Calibri" pitchFamily="34" charset="0"/>
                <a:ea typeface="Calibri" pitchFamily="34" charset="-122"/>
                <a:cs typeface="Calibri" pitchFamily="34" charset="-120"/>
              </a:rPr>
              <a:t>How should inconsistency be measured?</a:t>
            </a:r>
            <a:endParaRPr lang="en-US" sz="1700" dirty="0"/>
          </a:p>
        </p:txBody>
      </p:sp>
      <p:sp>
        <p:nvSpPr>
          <p:cNvPr id="11" name="Text 9"/>
          <p:cNvSpPr/>
          <p:nvPr/>
        </p:nvSpPr>
        <p:spPr>
          <a:xfrm>
            <a:off x="4617720" y="3154680"/>
            <a:ext cx="2907792" cy="987552"/>
          </a:xfrm>
          <a:prstGeom prst="rect">
            <a:avLst/>
          </a:prstGeom>
          <a:noFill/>
          <a:ln/>
        </p:spPr>
        <p:txBody>
          <a:bodyPr wrap="square" lIns="0" tIns="0" rIns="0" bIns="0" rtlCol="0" anchor="ctr">
            <a:normAutofit/>
          </a:bodyPr>
          <a:lstStyle/>
          <a:p>
            <a:pPr indent="0" marL="0">
              <a:buNone/>
            </a:pPr>
            <a:r>
              <a:rPr lang="en-US" sz="1300" dirty="0">
                <a:solidFill>
                  <a:srgbClr val="475569"/>
                </a:solidFill>
                <a:latin typeface="Calibri" pitchFamily="34" charset="0"/>
                <a:ea typeface="Calibri" pitchFamily="34" charset="-122"/>
                <a:cs typeface="Calibri" pitchFamily="34" charset="-120"/>
              </a:rPr>
              <a:t>Select an aspect-level measure that preserves both magnitude and direction.</a:t>
            </a:r>
            <a:endParaRPr lang="en-US" sz="1300" dirty="0"/>
          </a:p>
        </p:txBody>
      </p:sp>
      <p:sp>
        <p:nvSpPr>
          <p:cNvPr id="12" name="Shape 10"/>
          <p:cNvSpPr/>
          <p:nvPr/>
        </p:nvSpPr>
        <p:spPr>
          <a:xfrm>
            <a:off x="8065008" y="1417320"/>
            <a:ext cx="3456432" cy="3246120"/>
          </a:xfrm>
          <a:prstGeom prst="roundRect">
            <a:avLst>
              <a:gd name="adj" fmla="val 2254"/>
            </a:avLst>
          </a:prstGeom>
          <a:solidFill>
            <a:srgbClr val="CCFBF1"/>
          </a:solidFill>
          <a:ln w="12700">
            <a:solidFill>
              <a:srgbClr val="CCFBF1"/>
            </a:solidFill>
            <a:prstDash val="solid"/>
          </a:ln>
        </p:spPr>
      </p:sp>
      <p:sp>
        <p:nvSpPr>
          <p:cNvPr id="13" name="Text 11"/>
          <p:cNvSpPr/>
          <p:nvPr/>
        </p:nvSpPr>
        <p:spPr>
          <a:xfrm>
            <a:off x="8321040" y="1737360"/>
            <a:ext cx="658368" cy="320040"/>
          </a:xfrm>
          <a:prstGeom prst="rect">
            <a:avLst/>
          </a:prstGeom>
          <a:noFill/>
          <a:ln/>
        </p:spPr>
        <p:txBody>
          <a:bodyPr wrap="square" lIns="0" tIns="0" rIns="0" bIns="0" rtlCol="0" anchor="ctr"/>
          <a:lstStyle/>
          <a:p>
            <a:pPr indent="0" marL="0">
              <a:buNone/>
            </a:pPr>
            <a:r>
              <a:rPr lang="en-US" sz="1900" b="1" dirty="0">
                <a:solidFill>
                  <a:srgbClr val="0F766E"/>
                </a:solidFill>
                <a:latin typeface="Cambria" pitchFamily="34" charset="0"/>
                <a:ea typeface="Cambria" pitchFamily="34" charset="-122"/>
                <a:cs typeface="Cambria" pitchFamily="34" charset="-120"/>
              </a:rPr>
              <a:t>RQ3</a:t>
            </a:r>
            <a:endParaRPr lang="en-US" sz="1900" dirty="0"/>
          </a:p>
        </p:txBody>
      </p:sp>
      <p:sp>
        <p:nvSpPr>
          <p:cNvPr id="14" name="Text 12"/>
          <p:cNvSpPr/>
          <p:nvPr/>
        </p:nvSpPr>
        <p:spPr>
          <a:xfrm>
            <a:off x="8321040" y="2240280"/>
            <a:ext cx="2907792" cy="658368"/>
          </a:xfrm>
          <a:prstGeom prst="rect">
            <a:avLst/>
          </a:prstGeom>
          <a:noFill/>
          <a:ln/>
        </p:spPr>
        <p:txBody>
          <a:bodyPr wrap="square" lIns="0" tIns="0" rIns="0" bIns="0" rtlCol="0" anchor="ctr">
            <a:normAutofit/>
          </a:bodyPr>
          <a:lstStyle/>
          <a:p>
            <a:pPr indent="0" marL="0">
              <a:buNone/>
            </a:pPr>
            <a:r>
              <a:rPr lang="en-US" sz="1700" b="1" dirty="0">
                <a:solidFill>
                  <a:srgbClr val="172033"/>
                </a:solidFill>
                <a:latin typeface="Calibri" pitchFamily="34" charset="0"/>
                <a:ea typeface="Calibri" pitchFamily="34" charset="-122"/>
                <a:cs typeface="Calibri" pitchFamily="34" charset="-120"/>
              </a:rPr>
              <a:t>What buffers or punishes the rating?</a:t>
            </a:r>
            <a:endParaRPr lang="en-US" sz="1700" dirty="0"/>
          </a:p>
        </p:txBody>
      </p:sp>
      <p:sp>
        <p:nvSpPr>
          <p:cNvPr id="15" name="Text 13"/>
          <p:cNvSpPr/>
          <p:nvPr/>
        </p:nvSpPr>
        <p:spPr>
          <a:xfrm>
            <a:off x="8321040" y="3154680"/>
            <a:ext cx="2907792" cy="987552"/>
          </a:xfrm>
          <a:prstGeom prst="rect">
            <a:avLst/>
          </a:prstGeom>
          <a:noFill/>
          <a:ln/>
        </p:spPr>
        <p:txBody>
          <a:bodyPr wrap="square" lIns="0" tIns="0" rIns="0" bIns="0" rtlCol="0" anchor="ctr">
            <a:normAutofit/>
          </a:bodyPr>
          <a:lstStyle/>
          <a:p>
            <a:pPr indent="0" marL="0">
              <a:buNone/>
            </a:pPr>
            <a:r>
              <a:rPr lang="en-US" sz="1300" dirty="0">
                <a:solidFill>
                  <a:srgbClr val="475569"/>
                </a:solidFill>
                <a:latin typeface="Calibri" pitchFamily="34" charset="0"/>
                <a:ea typeface="Calibri" pitchFamily="34" charset="-122"/>
                <a:cs typeface="Calibri" pitchFamily="34" charset="-120"/>
              </a:rPr>
              <a:t>Test whether positive Service signals buffer Facility failures and identify punitive aspects.</a:t>
            </a:r>
            <a:endParaRPr lang="en-US" sz="1300" dirty="0"/>
          </a:p>
        </p:txBody>
      </p:sp>
      <p:sp>
        <p:nvSpPr>
          <p:cNvPr id="16" name="Shape 14"/>
          <p:cNvSpPr/>
          <p:nvPr/>
        </p:nvSpPr>
        <p:spPr>
          <a:xfrm>
            <a:off x="1170432" y="5074920"/>
            <a:ext cx="9857232" cy="658368"/>
          </a:xfrm>
          <a:prstGeom prst="roundRect">
            <a:avLst>
              <a:gd name="adj" fmla="val 11111"/>
            </a:avLst>
          </a:prstGeom>
          <a:solidFill>
            <a:srgbClr val="0B1220"/>
          </a:solidFill>
          <a:ln w="12700">
            <a:solidFill>
              <a:srgbClr val="0B1220"/>
            </a:solidFill>
            <a:prstDash val="solid"/>
          </a:ln>
        </p:spPr>
      </p:sp>
      <p:sp>
        <p:nvSpPr>
          <p:cNvPr id="17" name="Text 15"/>
          <p:cNvSpPr/>
          <p:nvPr/>
        </p:nvSpPr>
        <p:spPr>
          <a:xfrm>
            <a:off x="1444752" y="5285232"/>
            <a:ext cx="1691640" cy="219456"/>
          </a:xfrm>
          <a:prstGeom prst="rect">
            <a:avLst/>
          </a:prstGeom>
          <a:noFill/>
          <a:ln/>
        </p:spPr>
        <p:txBody>
          <a:bodyPr wrap="square" lIns="0" tIns="0" rIns="0" bIns="0" rtlCol="0" anchor="ctr"/>
          <a:lstStyle/>
          <a:p>
            <a:pPr indent="0" marL="0">
              <a:buNone/>
            </a:pPr>
            <a:r>
              <a:rPr lang="en-US" sz="1250" b="1" dirty="0">
                <a:solidFill>
                  <a:srgbClr val="CCFBF1"/>
                </a:solidFill>
                <a:latin typeface="Calibri" pitchFamily="34" charset="0"/>
                <a:ea typeface="Calibri" pitchFamily="34" charset="-122"/>
                <a:cs typeface="Calibri" pitchFamily="34" charset="-120"/>
              </a:rPr>
              <a:t>Method contribution</a:t>
            </a:r>
            <a:endParaRPr lang="en-US" sz="1250" dirty="0"/>
          </a:p>
        </p:txBody>
      </p:sp>
      <p:sp>
        <p:nvSpPr>
          <p:cNvPr id="18" name="Text 16"/>
          <p:cNvSpPr/>
          <p:nvPr/>
        </p:nvSpPr>
        <p:spPr>
          <a:xfrm>
            <a:off x="3063240" y="5239512"/>
            <a:ext cx="7571232" cy="292608"/>
          </a:xfrm>
          <a:prstGeom prst="rect">
            <a:avLst/>
          </a:prstGeom>
          <a:noFill/>
          <a:ln/>
        </p:spPr>
        <p:txBody>
          <a:bodyPr wrap="square" lIns="0" tIns="0" rIns="0" bIns="0" rtlCol="0" anchor="ctr">
            <a:normAutofit/>
          </a:bodyPr>
          <a:lstStyle/>
          <a:p>
            <a:pPr indent="0" marL="0">
              <a:buNone/>
            </a:pPr>
            <a:r>
              <a:rPr lang="en-US" sz="1450" b="1" dirty="0">
                <a:solidFill>
                  <a:srgbClr val="FFFFFF"/>
                </a:solidFill>
                <a:latin typeface="Calibri" pitchFamily="34" charset="0"/>
                <a:ea typeface="Calibri" pitchFamily="34" charset="-122"/>
                <a:cs typeface="Calibri" pitchFamily="34" charset="-120"/>
              </a:rPr>
              <a:t>Aspect-level signed discrepancy + controlled human benchmark + observed rating behavior</a:t>
            </a:r>
            <a:endParaRPr lang="en-US" sz="1450" dirty="0"/>
          </a:p>
        </p:txBody>
      </p:sp>
      <p:sp>
        <p:nvSpPr>
          <p:cNvPr id="19" name="Text 17"/>
          <p:cNvSpPr/>
          <p:nvPr/>
        </p:nvSpPr>
        <p:spPr>
          <a:xfrm>
            <a:off x="3063240" y="5486400"/>
            <a:ext cx="5852160" cy="164592"/>
          </a:xfrm>
          <a:prstGeom prst="rect">
            <a:avLst/>
          </a:prstGeom>
          <a:noFill/>
          <a:ln/>
        </p:spPr>
        <p:txBody>
          <a:bodyPr wrap="square" lIns="0" tIns="0" rIns="0" bIns="0" rtlCol="0" anchor="ctr"/>
          <a:lstStyle/>
          <a:p>
            <a:pPr indent="0" marL="0">
              <a:buNone/>
            </a:pPr>
            <a:r>
              <a:rPr lang="en-US" sz="1050" i="1" dirty="0">
                <a:solidFill>
                  <a:srgbClr val="CBD5E1"/>
                </a:solidFill>
                <a:latin typeface="Calibri" pitchFamily="34" charset="0"/>
                <a:ea typeface="Calibri" pitchFamily="34" charset="-122"/>
                <a:cs typeface="Calibri" pitchFamily="34" charset="-120"/>
              </a:rPr>
              <a:t>Status: draft — requires supervisor alignment before formal adoption.</a:t>
            </a:r>
            <a:endParaRPr lang="en-US" sz="1050" dirty="0"/>
          </a:p>
        </p:txBody>
      </p:sp>
      <p:sp>
        <p:nvSpPr>
          <p:cNvPr id="20" name="Text 18"/>
          <p:cNvSpPr/>
          <p:nvPr/>
        </p:nvSpPr>
        <p:spPr>
          <a:xfrm>
            <a:off x="640080" y="6172200"/>
            <a:ext cx="10607040" cy="164592"/>
          </a:xfrm>
          <a:prstGeom prst="rect">
            <a:avLst/>
          </a:prstGeom>
          <a:noFill/>
          <a:ln/>
        </p:spPr>
        <p:txBody>
          <a:bodyPr wrap="square" lIns="0" tIns="0" rIns="0" bIns="0" rtlCol="0" anchor="ctr">
            <a:normAutofit/>
          </a:bodyPr>
          <a:lstStyle/>
          <a:p>
            <a:pPr indent="0" marL="0">
              <a:buNone/>
            </a:pPr>
            <a:r>
              <a:rPr lang="en-US" sz="850" i="1" dirty="0">
                <a:solidFill>
                  <a:srgbClr val="64748B"/>
                </a:solidFill>
                <a:latin typeface="Calibri" pitchFamily="34" charset="0"/>
                <a:ea typeface="Calibri" pitchFamily="34" charset="-122"/>
                <a:cs typeface="Calibri" pitchFamily="34" charset="-120"/>
              </a:rPr>
              <a:t>Source: project overview and research proposal draft; RQs are not yet formal decisions.</a:t>
            </a:r>
            <a:endParaRPr lang="en-US" sz="850" dirty="0"/>
          </a:p>
        </p:txBody>
      </p:sp>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320040"/>
            <a:ext cx="5029200" cy="182880"/>
          </a:xfrm>
          <a:prstGeom prst="rect">
            <a:avLst/>
          </a:prstGeom>
          <a:noFill/>
          <a:ln/>
        </p:spPr>
        <p:txBody>
          <a:bodyPr wrap="square" lIns="0" tIns="0" rIns="0" bIns="0" rtlCol="0" anchor="ctr"/>
          <a:lstStyle/>
          <a:p>
            <a:pPr indent="0" marL="0">
              <a:buNone/>
            </a:pPr>
            <a:r>
              <a:rPr lang="en-US" sz="1000" b="1" spc="120" kern="0" dirty="0">
                <a:solidFill>
                  <a:srgbClr val="0F766E"/>
                </a:solidFill>
                <a:latin typeface="Calibri" pitchFamily="34" charset="0"/>
                <a:ea typeface="Calibri" pitchFamily="34" charset="-122"/>
                <a:cs typeface="Calibri" pitchFamily="34" charset="-120"/>
              </a:rPr>
              <a:t>TARGETED VALIDATION</a:t>
            </a:r>
            <a:endParaRPr lang="en-US" sz="1000" dirty="0"/>
          </a:p>
        </p:txBody>
      </p:sp>
      <p:sp>
        <p:nvSpPr>
          <p:cNvPr id="3" name="Text 1"/>
          <p:cNvSpPr/>
          <p:nvPr/>
        </p:nvSpPr>
        <p:spPr>
          <a:xfrm>
            <a:off x="640080" y="548640"/>
            <a:ext cx="10881360" cy="502920"/>
          </a:xfrm>
          <a:prstGeom prst="rect">
            <a:avLst/>
          </a:prstGeom>
          <a:noFill/>
          <a:ln/>
        </p:spPr>
        <p:txBody>
          <a:bodyPr wrap="square" lIns="0" tIns="0" rIns="0" bIns="0" rtlCol="0" anchor="ctr">
            <a:normAutofit/>
          </a:bodyPr>
          <a:lstStyle/>
          <a:p>
            <a:pPr indent="0" marL="0">
              <a:buNone/>
            </a:pPr>
            <a:r>
              <a:rPr lang="en-US" sz="2900" b="1" dirty="0">
                <a:solidFill>
                  <a:srgbClr val="172033"/>
                </a:solidFill>
                <a:latin typeface="Cambria" pitchFamily="34" charset="0"/>
                <a:ea typeface="Cambria" pitchFamily="34" charset="-122"/>
                <a:cs typeface="Cambria" pitchFamily="34" charset="-120"/>
              </a:rPr>
              <a:t>Next step: build a controlled evaluation benchmark</a:t>
            </a:r>
            <a:endParaRPr lang="en-US" sz="2900" dirty="0"/>
          </a:p>
        </p:txBody>
      </p:sp>
      <p:sp>
        <p:nvSpPr>
          <p:cNvPr id="4" name="Shape 2"/>
          <p:cNvSpPr/>
          <p:nvPr/>
        </p:nvSpPr>
        <p:spPr>
          <a:xfrm>
            <a:off x="658368" y="1389888"/>
            <a:ext cx="2176272" cy="1691640"/>
          </a:xfrm>
          <a:prstGeom prst="roundRect">
            <a:avLst>
              <a:gd name="adj" fmla="val 4324"/>
            </a:avLst>
          </a:prstGeom>
          <a:solidFill>
            <a:srgbClr val="FFE4E6"/>
          </a:solidFill>
          <a:ln w="12700">
            <a:solidFill>
              <a:srgbClr val="FFE4E6"/>
            </a:solidFill>
            <a:prstDash val="solid"/>
          </a:ln>
        </p:spPr>
      </p:sp>
      <p:sp>
        <p:nvSpPr>
          <p:cNvPr id="5" name="Text 3"/>
          <p:cNvSpPr/>
          <p:nvPr/>
        </p:nvSpPr>
        <p:spPr>
          <a:xfrm>
            <a:off x="841248" y="1645920"/>
            <a:ext cx="1810512" cy="365760"/>
          </a:xfrm>
          <a:prstGeom prst="rect">
            <a:avLst/>
          </a:prstGeom>
          <a:noFill/>
          <a:ln/>
        </p:spPr>
        <p:txBody>
          <a:bodyPr wrap="square" lIns="0" tIns="0" rIns="0" bIns="0" rtlCol="0" anchor="ctr">
            <a:normAutofit/>
          </a:bodyPr>
          <a:lstStyle/>
          <a:p>
            <a:pPr algn="ctr" indent="0" marL="0">
              <a:buNone/>
            </a:pPr>
            <a:r>
              <a:rPr lang="en-US" sz="2500" b="1" dirty="0">
                <a:solidFill>
                  <a:srgbClr val="E11D48"/>
                </a:solidFill>
                <a:latin typeface="Cambria" pitchFamily="34" charset="0"/>
                <a:ea typeface="Cambria" pitchFamily="34" charset="-122"/>
                <a:cs typeface="Cambria" pitchFamily="34" charset="-120"/>
              </a:rPr>
              <a:t>404</a:t>
            </a:r>
            <a:endParaRPr lang="en-US" sz="2500" dirty="0"/>
          </a:p>
        </p:txBody>
      </p:sp>
      <p:sp>
        <p:nvSpPr>
          <p:cNvPr id="6" name="Text 4"/>
          <p:cNvSpPr/>
          <p:nvPr/>
        </p:nvSpPr>
        <p:spPr>
          <a:xfrm>
            <a:off x="841248" y="2139696"/>
            <a:ext cx="1810512" cy="384048"/>
          </a:xfrm>
          <a:prstGeom prst="rect">
            <a:avLst/>
          </a:prstGeom>
          <a:noFill/>
          <a:ln/>
        </p:spPr>
        <p:txBody>
          <a:bodyPr wrap="square" lIns="0" tIns="0" rIns="0" bIns="0" rtlCol="0" anchor="ctr">
            <a:normAutofit/>
          </a:bodyPr>
          <a:lstStyle/>
          <a:p>
            <a:pPr algn="ctr" indent="0" marL="0">
              <a:buNone/>
            </a:pPr>
            <a:r>
              <a:rPr lang="en-US" sz="1250" b="1" dirty="0">
                <a:solidFill>
                  <a:srgbClr val="172033"/>
                </a:solidFill>
                <a:latin typeface="Calibri" pitchFamily="34" charset="0"/>
                <a:ea typeface="Calibri" pitchFamily="34" charset="-122"/>
                <a:cs typeface="Calibri" pitchFamily="34" charset="-120"/>
              </a:rPr>
              <a:t>High rating + negative span</a:t>
            </a:r>
            <a:endParaRPr lang="en-US" sz="1250" dirty="0"/>
          </a:p>
        </p:txBody>
      </p:sp>
      <p:sp>
        <p:nvSpPr>
          <p:cNvPr id="7" name="Text 5"/>
          <p:cNvSpPr/>
          <p:nvPr/>
        </p:nvSpPr>
        <p:spPr>
          <a:xfrm>
            <a:off x="841248" y="2633472"/>
            <a:ext cx="1810512" cy="256032"/>
          </a:xfrm>
          <a:prstGeom prst="rect">
            <a:avLst/>
          </a:prstGeom>
          <a:noFill/>
          <a:ln/>
        </p:spPr>
        <p:txBody>
          <a:bodyPr wrap="square" lIns="0" tIns="0" rIns="0" bIns="0" rtlCol="0" anchor="ctr">
            <a:normAutofit/>
          </a:bodyPr>
          <a:lstStyle/>
          <a:p>
            <a:pPr algn="ctr" indent="0" marL="0">
              <a:buNone/>
            </a:pPr>
            <a:r>
              <a:rPr lang="en-US" sz="1050" dirty="0">
                <a:solidFill>
                  <a:srgbClr val="475569"/>
                </a:solidFill>
                <a:latin typeface="Calibri" pitchFamily="34" charset="0"/>
                <a:ea typeface="Calibri" pitchFamily="34" charset="-122"/>
                <a:cs typeface="Calibri" pitchFamily="34" charset="-120"/>
              </a:rPr>
              <a:t>Candidate buffering direction</a:t>
            </a:r>
            <a:endParaRPr lang="en-US" sz="1050" dirty="0"/>
          </a:p>
        </p:txBody>
      </p:sp>
      <p:sp>
        <p:nvSpPr>
          <p:cNvPr id="8" name="Shape 6"/>
          <p:cNvSpPr/>
          <p:nvPr/>
        </p:nvSpPr>
        <p:spPr>
          <a:xfrm>
            <a:off x="3090672" y="1389888"/>
            <a:ext cx="2176272" cy="1691640"/>
          </a:xfrm>
          <a:prstGeom prst="roundRect">
            <a:avLst>
              <a:gd name="adj" fmla="val 4324"/>
            </a:avLst>
          </a:prstGeom>
          <a:solidFill>
            <a:srgbClr val="FEF3C7"/>
          </a:solidFill>
          <a:ln w="12700">
            <a:solidFill>
              <a:srgbClr val="FEF3C7"/>
            </a:solidFill>
            <a:prstDash val="solid"/>
          </a:ln>
        </p:spPr>
      </p:sp>
      <p:sp>
        <p:nvSpPr>
          <p:cNvPr id="9" name="Text 7"/>
          <p:cNvSpPr/>
          <p:nvPr/>
        </p:nvSpPr>
        <p:spPr>
          <a:xfrm>
            <a:off x="3273552" y="1645920"/>
            <a:ext cx="1810512" cy="365760"/>
          </a:xfrm>
          <a:prstGeom prst="rect">
            <a:avLst/>
          </a:prstGeom>
          <a:noFill/>
          <a:ln/>
        </p:spPr>
        <p:txBody>
          <a:bodyPr wrap="square" lIns="0" tIns="0" rIns="0" bIns="0" rtlCol="0" anchor="ctr">
            <a:normAutofit/>
          </a:bodyPr>
          <a:lstStyle/>
          <a:p>
            <a:pPr algn="ctr" indent="0" marL="0">
              <a:buNone/>
            </a:pPr>
            <a:r>
              <a:rPr lang="en-US" sz="2500" b="1" dirty="0">
                <a:solidFill>
                  <a:srgbClr val="D97706"/>
                </a:solidFill>
                <a:latin typeface="Cambria" pitchFamily="34" charset="0"/>
                <a:ea typeface="Cambria" pitchFamily="34" charset="-122"/>
                <a:cs typeface="Cambria" pitchFamily="34" charset="-120"/>
              </a:rPr>
              <a:t>199</a:t>
            </a:r>
            <a:endParaRPr lang="en-US" sz="2500" dirty="0"/>
          </a:p>
        </p:txBody>
      </p:sp>
      <p:sp>
        <p:nvSpPr>
          <p:cNvPr id="10" name="Text 8"/>
          <p:cNvSpPr/>
          <p:nvPr/>
        </p:nvSpPr>
        <p:spPr>
          <a:xfrm>
            <a:off x="3273552" y="2139696"/>
            <a:ext cx="1810512" cy="384048"/>
          </a:xfrm>
          <a:prstGeom prst="rect">
            <a:avLst/>
          </a:prstGeom>
          <a:noFill/>
          <a:ln/>
        </p:spPr>
        <p:txBody>
          <a:bodyPr wrap="square" lIns="0" tIns="0" rIns="0" bIns="0" rtlCol="0" anchor="ctr">
            <a:normAutofit/>
          </a:bodyPr>
          <a:lstStyle/>
          <a:p>
            <a:pPr algn="ctr" indent="0" marL="0">
              <a:buNone/>
            </a:pPr>
            <a:r>
              <a:rPr lang="en-US" sz="1250" b="1" dirty="0">
                <a:solidFill>
                  <a:srgbClr val="172033"/>
                </a:solidFill>
                <a:latin typeface="Calibri" pitchFamily="34" charset="0"/>
                <a:ea typeface="Calibri" pitchFamily="34" charset="-122"/>
                <a:cs typeface="Calibri" pitchFamily="34" charset="-120"/>
              </a:rPr>
              <a:t>Low rating + positive span</a:t>
            </a:r>
            <a:endParaRPr lang="en-US" sz="1250" dirty="0"/>
          </a:p>
        </p:txBody>
      </p:sp>
      <p:sp>
        <p:nvSpPr>
          <p:cNvPr id="11" name="Text 9"/>
          <p:cNvSpPr/>
          <p:nvPr/>
        </p:nvSpPr>
        <p:spPr>
          <a:xfrm>
            <a:off x="3273552" y="2633472"/>
            <a:ext cx="1810512" cy="256032"/>
          </a:xfrm>
          <a:prstGeom prst="rect">
            <a:avLst/>
          </a:prstGeom>
          <a:noFill/>
          <a:ln/>
        </p:spPr>
        <p:txBody>
          <a:bodyPr wrap="square" lIns="0" tIns="0" rIns="0" bIns="0" rtlCol="0" anchor="ctr">
            <a:normAutofit/>
          </a:bodyPr>
          <a:lstStyle/>
          <a:p>
            <a:pPr algn="ctr" indent="0" marL="0">
              <a:buNone/>
            </a:pPr>
            <a:r>
              <a:rPr lang="en-US" sz="1050" dirty="0">
                <a:solidFill>
                  <a:srgbClr val="475569"/>
                </a:solidFill>
                <a:latin typeface="Calibri" pitchFamily="34" charset="0"/>
                <a:ea typeface="Calibri" pitchFamily="34" charset="-122"/>
                <a:cs typeface="Calibri" pitchFamily="34" charset="-120"/>
              </a:rPr>
              <a:t>Mirror / punitive candidate</a:t>
            </a:r>
            <a:endParaRPr lang="en-US" sz="1050" dirty="0"/>
          </a:p>
        </p:txBody>
      </p:sp>
      <p:sp>
        <p:nvSpPr>
          <p:cNvPr id="12" name="Shape 10"/>
          <p:cNvSpPr/>
          <p:nvPr/>
        </p:nvSpPr>
        <p:spPr>
          <a:xfrm>
            <a:off x="5522976" y="1389888"/>
            <a:ext cx="2176272" cy="1691640"/>
          </a:xfrm>
          <a:prstGeom prst="roundRect">
            <a:avLst>
              <a:gd name="adj" fmla="val 4324"/>
            </a:avLst>
          </a:prstGeom>
          <a:solidFill>
            <a:srgbClr val="DBEAFE"/>
          </a:solidFill>
          <a:ln w="12700">
            <a:solidFill>
              <a:srgbClr val="DBEAFE"/>
            </a:solidFill>
            <a:prstDash val="solid"/>
          </a:ln>
        </p:spPr>
      </p:sp>
      <p:sp>
        <p:nvSpPr>
          <p:cNvPr id="13" name="Text 11"/>
          <p:cNvSpPr/>
          <p:nvPr/>
        </p:nvSpPr>
        <p:spPr>
          <a:xfrm>
            <a:off x="5705856" y="1645920"/>
            <a:ext cx="1810512" cy="365760"/>
          </a:xfrm>
          <a:prstGeom prst="rect">
            <a:avLst/>
          </a:prstGeom>
          <a:noFill/>
          <a:ln/>
        </p:spPr>
        <p:txBody>
          <a:bodyPr wrap="square" lIns="0" tIns="0" rIns="0" bIns="0" rtlCol="0" anchor="ctr">
            <a:normAutofit/>
          </a:bodyPr>
          <a:lstStyle/>
          <a:p>
            <a:pPr algn="ctr" indent="0" marL="0">
              <a:buNone/>
            </a:pPr>
            <a:r>
              <a:rPr lang="en-US" sz="1800" b="1" dirty="0">
                <a:solidFill>
                  <a:srgbClr val="2563EB"/>
                </a:solidFill>
                <a:latin typeface="Cambria" pitchFamily="34" charset="0"/>
                <a:ea typeface="Cambria" pitchFamily="34" charset="-122"/>
                <a:cs typeface="Cambria" pitchFamily="34" charset="-120"/>
              </a:rPr>
              <a:t>CONTROL</a:t>
            </a:r>
            <a:endParaRPr lang="en-US" sz="1800" dirty="0"/>
          </a:p>
        </p:txBody>
      </p:sp>
      <p:sp>
        <p:nvSpPr>
          <p:cNvPr id="14" name="Text 12"/>
          <p:cNvSpPr/>
          <p:nvPr/>
        </p:nvSpPr>
        <p:spPr>
          <a:xfrm>
            <a:off x="5705856" y="2139696"/>
            <a:ext cx="1810512" cy="384048"/>
          </a:xfrm>
          <a:prstGeom prst="rect">
            <a:avLst/>
          </a:prstGeom>
          <a:noFill/>
          <a:ln/>
        </p:spPr>
        <p:txBody>
          <a:bodyPr wrap="square" lIns="0" tIns="0" rIns="0" bIns="0" rtlCol="0" anchor="ctr">
            <a:normAutofit/>
          </a:bodyPr>
          <a:lstStyle/>
          <a:p>
            <a:pPr algn="ctr" indent="0" marL="0">
              <a:buNone/>
            </a:pPr>
            <a:r>
              <a:rPr lang="en-US" sz="1250" b="1" dirty="0">
                <a:solidFill>
                  <a:srgbClr val="172033"/>
                </a:solidFill>
                <a:latin typeface="Calibri" pitchFamily="34" charset="0"/>
                <a:ea typeface="Calibri" pitchFamily="34" charset="-122"/>
                <a:cs typeface="Calibri" pitchFamily="34" charset="-120"/>
              </a:rPr>
              <a:t>Aligned reviews</a:t>
            </a:r>
            <a:endParaRPr lang="en-US" sz="1250" dirty="0"/>
          </a:p>
        </p:txBody>
      </p:sp>
      <p:sp>
        <p:nvSpPr>
          <p:cNvPr id="15" name="Text 13"/>
          <p:cNvSpPr/>
          <p:nvPr/>
        </p:nvSpPr>
        <p:spPr>
          <a:xfrm>
            <a:off x="5705856" y="2633472"/>
            <a:ext cx="1810512" cy="256032"/>
          </a:xfrm>
          <a:prstGeom prst="rect">
            <a:avLst/>
          </a:prstGeom>
          <a:noFill/>
          <a:ln/>
        </p:spPr>
        <p:txBody>
          <a:bodyPr wrap="square" lIns="0" tIns="0" rIns="0" bIns="0" rtlCol="0" anchor="ctr">
            <a:normAutofit/>
          </a:bodyPr>
          <a:lstStyle/>
          <a:p>
            <a:pPr algn="ctr" indent="0" marL="0">
              <a:buNone/>
            </a:pPr>
            <a:r>
              <a:rPr lang="en-US" sz="1050" dirty="0">
                <a:solidFill>
                  <a:srgbClr val="475569"/>
                </a:solidFill>
                <a:latin typeface="Calibri" pitchFamily="34" charset="0"/>
                <a:ea typeface="Calibri" pitchFamily="34" charset="-122"/>
                <a:cs typeface="Calibri" pitchFamily="34" charset="-120"/>
              </a:rPr>
              <a:t>Both rating extremes</a:t>
            </a:r>
            <a:endParaRPr lang="en-US" sz="1050" dirty="0"/>
          </a:p>
        </p:txBody>
      </p:sp>
      <p:sp>
        <p:nvSpPr>
          <p:cNvPr id="16" name="Shape 14"/>
          <p:cNvSpPr/>
          <p:nvPr/>
        </p:nvSpPr>
        <p:spPr>
          <a:xfrm>
            <a:off x="7790688" y="2221992"/>
            <a:ext cx="548640" cy="0"/>
          </a:xfrm>
          <a:prstGeom prst="line">
            <a:avLst/>
          </a:prstGeom>
          <a:noFill/>
          <a:ln w="31750">
            <a:solidFill>
              <a:srgbClr val="64748B"/>
            </a:solidFill>
            <a:prstDash val="solid"/>
            <a:tailEnd type="triangle"/>
          </a:ln>
        </p:spPr>
      </p:sp>
      <p:sp>
        <p:nvSpPr>
          <p:cNvPr id="17" name="Shape 15"/>
          <p:cNvSpPr/>
          <p:nvPr/>
        </p:nvSpPr>
        <p:spPr>
          <a:xfrm>
            <a:off x="8458200" y="1389888"/>
            <a:ext cx="3090672" cy="1691640"/>
          </a:xfrm>
          <a:prstGeom prst="roundRect">
            <a:avLst>
              <a:gd name="adj" fmla="val 4324"/>
            </a:avLst>
          </a:prstGeom>
          <a:solidFill>
            <a:srgbClr val="CCFBF1"/>
          </a:solidFill>
          <a:ln w="12700">
            <a:solidFill>
              <a:srgbClr val="CCFBF1"/>
            </a:solidFill>
            <a:prstDash val="solid"/>
          </a:ln>
        </p:spPr>
      </p:sp>
      <p:sp>
        <p:nvSpPr>
          <p:cNvPr id="18" name="Text 16"/>
          <p:cNvSpPr/>
          <p:nvPr/>
        </p:nvSpPr>
        <p:spPr>
          <a:xfrm>
            <a:off x="8732520" y="1700784"/>
            <a:ext cx="2542032" cy="384048"/>
          </a:xfrm>
          <a:prstGeom prst="rect">
            <a:avLst/>
          </a:prstGeom>
          <a:noFill/>
          <a:ln/>
        </p:spPr>
        <p:txBody>
          <a:bodyPr wrap="square" lIns="0" tIns="0" rIns="0" bIns="0" rtlCol="0" anchor="ctr"/>
          <a:lstStyle/>
          <a:p>
            <a:pPr algn="ctr" indent="0" marL="0">
              <a:buNone/>
            </a:pPr>
            <a:r>
              <a:rPr lang="en-US" sz="2200" b="1" dirty="0">
                <a:solidFill>
                  <a:srgbClr val="0F766E"/>
                </a:solidFill>
                <a:latin typeface="Cambria" pitchFamily="34" charset="0"/>
                <a:ea typeface="Cambria" pitchFamily="34" charset="-122"/>
                <a:cs typeface="Cambria" pitchFamily="34" charset="-120"/>
              </a:rPr>
              <a:t>600–800 samples</a:t>
            </a:r>
            <a:endParaRPr lang="en-US" sz="2200" dirty="0"/>
          </a:p>
        </p:txBody>
      </p:sp>
      <p:sp>
        <p:nvSpPr>
          <p:cNvPr id="19" name="Text 17"/>
          <p:cNvSpPr/>
          <p:nvPr/>
        </p:nvSpPr>
        <p:spPr>
          <a:xfrm>
            <a:off x="8732520" y="2286000"/>
            <a:ext cx="2542032" cy="420624"/>
          </a:xfrm>
          <a:prstGeom prst="rect">
            <a:avLst/>
          </a:prstGeom>
          <a:noFill/>
          <a:ln/>
        </p:spPr>
        <p:txBody>
          <a:bodyPr wrap="square" lIns="0" tIns="0" rIns="0" bIns="0" rtlCol="0" anchor="ctr">
            <a:normAutofit/>
          </a:bodyPr>
          <a:lstStyle/>
          <a:p>
            <a:pPr algn="ctr" indent="0" marL="0">
              <a:buNone/>
            </a:pPr>
            <a:r>
              <a:rPr lang="en-US" sz="1250" b="1" dirty="0">
                <a:solidFill>
                  <a:srgbClr val="172033"/>
                </a:solidFill>
                <a:latin typeface="Calibri" pitchFamily="34" charset="0"/>
                <a:ea typeface="Calibri" pitchFamily="34" charset="-122"/>
                <a:cs typeface="Calibri" pitchFamily="34" charset="-120"/>
              </a:rPr>
              <a:t>target evaluation set with natural prevalence</a:t>
            </a:r>
            <a:endParaRPr lang="en-US" sz="1250" dirty="0"/>
          </a:p>
        </p:txBody>
      </p:sp>
      <p:sp>
        <p:nvSpPr>
          <p:cNvPr id="20" name="Shape 18"/>
          <p:cNvSpPr/>
          <p:nvPr/>
        </p:nvSpPr>
        <p:spPr>
          <a:xfrm>
            <a:off x="658368" y="3767328"/>
            <a:ext cx="3246120" cy="1097280"/>
          </a:xfrm>
          <a:prstGeom prst="roundRect">
            <a:avLst>
              <a:gd name="adj" fmla="val 6667"/>
            </a:avLst>
          </a:prstGeom>
          <a:solidFill>
            <a:srgbClr val="DBEAFE"/>
          </a:solidFill>
          <a:ln w="12700">
            <a:solidFill>
              <a:srgbClr val="DBEAFE"/>
            </a:solidFill>
            <a:prstDash val="solid"/>
          </a:ln>
        </p:spPr>
      </p:sp>
      <p:sp>
        <p:nvSpPr>
          <p:cNvPr id="21" name="Shape 19"/>
          <p:cNvSpPr/>
          <p:nvPr/>
        </p:nvSpPr>
        <p:spPr>
          <a:xfrm>
            <a:off x="822960" y="3931920"/>
            <a:ext cx="347472" cy="347472"/>
          </a:xfrm>
          <a:prstGeom prst="ellipse">
            <a:avLst/>
          </a:prstGeom>
          <a:solidFill>
            <a:srgbClr val="2563EB"/>
          </a:solidFill>
          <a:ln w="12700">
            <a:solidFill>
              <a:srgbClr val="2563EB"/>
            </a:solidFill>
            <a:prstDash val="solid"/>
          </a:ln>
        </p:spPr>
      </p:sp>
      <p:sp>
        <p:nvSpPr>
          <p:cNvPr id="22" name="Text 20"/>
          <p:cNvSpPr/>
          <p:nvPr/>
        </p:nvSpPr>
        <p:spPr>
          <a:xfrm>
            <a:off x="822960" y="3991356"/>
            <a:ext cx="347472" cy="1371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3" name="Text 21"/>
          <p:cNvSpPr/>
          <p:nvPr/>
        </p:nvSpPr>
        <p:spPr>
          <a:xfrm>
            <a:off x="1280160" y="3922776"/>
            <a:ext cx="2459736" cy="228600"/>
          </a:xfrm>
          <a:prstGeom prst="rect">
            <a:avLst/>
          </a:prstGeom>
          <a:noFill/>
          <a:ln/>
        </p:spPr>
        <p:txBody>
          <a:bodyPr wrap="square" lIns="0" tIns="0" rIns="0" bIns="0" rtlCol="0" anchor="ctr">
            <a:normAutofit/>
          </a:bodyPr>
          <a:lstStyle/>
          <a:p>
            <a:pPr indent="0" marL="0">
              <a:buNone/>
            </a:pPr>
            <a:r>
              <a:rPr lang="en-US" sz="1400" b="1" dirty="0">
                <a:solidFill>
                  <a:srgbClr val="172033"/>
                </a:solidFill>
                <a:latin typeface="Calibri" pitchFamily="34" charset="0"/>
                <a:ea typeface="Calibri" pitchFamily="34" charset="-122"/>
                <a:cs typeface="Calibri" pitchFamily="34" charset="-120"/>
              </a:rPr>
              <a:t>Independent calibration</a:t>
            </a:r>
            <a:endParaRPr lang="en-US" sz="1400" dirty="0"/>
          </a:p>
        </p:txBody>
      </p:sp>
      <p:sp>
        <p:nvSpPr>
          <p:cNvPr id="24" name="Text 22"/>
          <p:cNvSpPr/>
          <p:nvPr/>
        </p:nvSpPr>
        <p:spPr>
          <a:xfrm>
            <a:off x="822960" y="4325112"/>
            <a:ext cx="2916936" cy="384048"/>
          </a:xfrm>
          <a:prstGeom prst="rect">
            <a:avLst/>
          </a:prstGeom>
          <a:noFill/>
          <a:ln/>
        </p:spPr>
        <p:txBody>
          <a:bodyPr wrap="square" lIns="254" tIns="254" rIns="254" bIns="254" rtlCol="0" anchor="ctr">
            <a:normAutofit/>
          </a:bodyPr>
          <a:lstStyle/>
          <a:p>
            <a:pPr indent="0" marL="0">
              <a:buNone/>
            </a:pPr>
            <a:r>
              <a:rPr lang="en-US" sz="1100" dirty="0">
                <a:solidFill>
                  <a:srgbClr val="475569"/>
                </a:solidFill>
                <a:latin typeface="Calibri" pitchFamily="34" charset="0"/>
                <a:ea typeface="Calibri" pitchFamily="34" charset="-122"/>
                <a:cs typeface="Calibri" pitchFamily="34" charset="-120"/>
              </a:rPr>
              <a:t>Two annotators label the first 30–50 reviews without discussion.</a:t>
            </a:r>
            <a:endParaRPr lang="en-US" sz="1100" dirty="0"/>
          </a:p>
        </p:txBody>
      </p:sp>
      <p:sp>
        <p:nvSpPr>
          <p:cNvPr id="25" name="Shape 23"/>
          <p:cNvSpPr/>
          <p:nvPr/>
        </p:nvSpPr>
        <p:spPr>
          <a:xfrm>
            <a:off x="4142232" y="3767328"/>
            <a:ext cx="3246120" cy="1097280"/>
          </a:xfrm>
          <a:prstGeom prst="roundRect">
            <a:avLst>
              <a:gd name="adj" fmla="val 6667"/>
            </a:avLst>
          </a:prstGeom>
          <a:solidFill>
            <a:srgbClr val="EDE9FE"/>
          </a:solidFill>
          <a:ln w="12700">
            <a:solidFill>
              <a:srgbClr val="EDE9FE"/>
            </a:solidFill>
            <a:prstDash val="solid"/>
          </a:ln>
        </p:spPr>
      </p:sp>
      <p:sp>
        <p:nvSpPr>
          <p:cNvPr id="26" name="Shape 24"/>
          <p:cNvSpPr/>
          <p:nvPr/>
        </p:nvSpPr>
        <p:spPr>
          <a:xfrm>
            <a:off x="4306824" y="3931920"/>
            <a:ext cx="347472" cy="347472"/>
          </a:xfrm>
          <a:prstGeom prst="ellipse">
            <a:avLst/>
          </a:prstGeom>
          <a:solidFill>
            <a:srgbClr val="7C3AED"/>
          </a:solidFill>
          <a:ln w="12700">
            <a:solidFill>
              <a:srgbClr val="7C3AED"/>
            </a:solidFill>
            <a:prstDash val="solid"/>
          </a:ln>
        </p:spPr>
      </p:sp>
      <p:sp>
        <p:nvSpPr>
          <p:cNvPr id="27" name="Text 25"/>
          <p:cNvSpPr/>
          <p:nvPr/>
        </p:nvSpPr>
        <p:spPr>
          <a:xfrm>
            <a:off x="4306824" y="3991356"/>
            <a:ext cx="347472" cy="1371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8" name="Text 26"/>
          <p:cNvSpPr/>
          <p:nvPr/>
        </p:nvSpPr>
        <p:spPr>
          <a:xfrm>
            <a:off x="4764024" y="3922776"/>
            <a:ext cx="2459736" cy="228600"/>
          </a:xfrm>
          <a:prstGeom prst="rect">
            <a:avLst/>
          </a:prstGeom>
          <a:noFill/>
          <a:ln/>
        </p:spPr>
        <p:txBody>
          <a:bodyPr wrap="square" lIns="0" tIns="0" rIns="0" bIns="0" rtlCol="0" anchor="ctr">
            <a:normAutofit/>
          </a:bodyPr>
          <a:lstStyle/>
          <a:p>
            <a:pPr indent="0" marL="0">
              <a:buNone/>
            </a:pPr>
            <a:r>
              <a:rPr lang="en-US" sz="1400" b="1" dirty="0">
                <a:solidFill>
                  <a:srgbClr val="172033"/>
                </a:solidFill>
                <a:latin typeface="Calibri" pitchFamily="34" charset="0"/>
                <a:ea typeface="Calibri" pitchFamily="34" charset="-122"/>
                <a:cs typeface="Calibri" pitchFamily="34" charset="-120"/>
              </a:rPr>
              <a:t>Agreement check</a:t>
            </a:r>
            <a:endParaRPr lang="en-US" sz="1400" dirty="0"/>
          </a:p>
        </p:txBody>
      </p:sp>
      <p:sp>
        <p:nvSpPr>
          <p:cNvPr id="29" name="Text 27"/>
          <p:cNvSpPr/>
          <p:nvPr/>
        </p:nvSpPr>
        <p:spPr>
          <a:xfrm>
            <a:off x="4306824" y="4325112"/>
            <a:ext cx="2916936" cy="384048"/>
          </a:xfrm>
          <a:prstGeom prst="rect">
            <a:avLst/>
          </a:prstGeom>
          <a:noFill/>
          <a:ln/>
        </p:spPr>
        <p:txBody>
          <a:bodyPr wrap="square" lIns="254" tIns="254" rIns="254" bIns="254" rtlCol="0" anchor="ctr">
            <a:normAutofit/>
          </a:bodyPr>
          <a:lstStyle/>
          <a:p>
            <a:pPr indent="0" marL="0">
              <a:buNone/>
            </a:pPr>
            <a:r>
              <a:rPr lang="en-US" sz="1100" dirty="0">
                <a:solidFill>
                  <a:srgbClr val="475569"/>
                </a:solidFill>
                <a:latin typeface="Calibri" pitchFamily="34" charset="0"/>
                <a:ea typeface="Calibri" pitchFamily="34" charset="-122"/>
                <a:cs typeface="Calibri" pitchFamily="34" charset="-120"/>
              </a:rPr>
              <a:t>Cohen’s Kappa target ≥ 0.70; refine the codebook when below target.</a:t>
            </a:r>
            <a:endParaRPr lang="en-US" sz="1100" dirty="0"/>
          </a:p>
        </p:txBody>
      </p:sp>
      <p:sp>
        <p:nvSpPr>
          <p:cNvPr id="30" name="Shape 28"/>
          <p:cNvSpPr/>
          <p:nvPr/>
        </p:nvSpPr>
        <p:spPr>
          <a:xfrm>
            <a:off x="7626096" y="3767328"/>
            <a:ext cx="3913632" cy="1097280"/>
          </a:xfrm>
          <a:prstGeom prst="roundRect">
            <a:avLst>
              <a:gd name="adj" fmla="val 6667"/>
            </a:avLst>
          </a:prstGeom>
          <a:solidFill>
            <a:srgbClr val="CCFBF1"/>
          </a:solidFill>
          <a:ln w="12700">
            <a:solidFill>
              <a:srgbClr val="CCFBF1"/>
            </a:solidFill>
            <a:prstDash val="solid"/>
          </a:ln>
        </p:spPr>
      </p:sp>
      <p:sp>
        <p:nvSpPr>
          <p:cNvPr id="31" name="Shape 29"/>
          <p:cNvSpPr/>
          <p:nvPr/>
        </p:nvSpPr>
        <p:spPr>
          <a:xfrm>
            <a:off x="7790688" y="3931920"/>
            <a:ext cx="347472" cy="347472"/>
          </a:xfrm>
          <a:prstGeom prst="ellipse">
            <a:avLst/>
          </a:prstGeom>
          <a:solidFill>
            <a:srgbClr val="0F766E"/>
          </a:solidFill>
          <a:ln w="12700">
            <a:solidFill>
              <a:srgbClr val="0F766E"/>
            </a:solidFill>
            <a:prstDash val="solid"/>
          </a:ln>
        </p:spPr>
      </p:sp>
      <p:sp>
        <p:nvSpPr>
          <p:cNvPr id="32" name="Text 30"/>
          <p:cNvSpPr/>
          <p:nvPr/>
        </p:nvSpPr>
        <p:spPr>
          <a:xfrm>
            <a:off x="7790688" y="3991356"/>
            <a:ext cx="347472" cy="1371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3" name="Text 31"/>
          <p:cNvSpPr/>
          <p:nvPr/>
        </p:nvSpPr>
        <p:spPr>
          <a:xfrm>
            <a:off x="8247888" y="3922776"/>
            <a:ext cx="3127248" cy="228600"/>
          </a:xfrm>
          <a:prstGeom prst="rect">
            <a:avLst/>
          </a:prstGeom>
          <a:noFill/>
          <a:ln/>
        </p:spPr>
        <p:txBody>
          <a:bodyPr wrap="square" lIns="0" tIns="0" rIns="0" bIns="0" rtlCol="0" anchor="ctr">
            <a:normAutofit/>
          </a:bodyPr>
          <a:lstStyle/>
          <a:p>
            <a:pPr indent="0" marL="0">
              <a:buNone/>
            </a:pPr>
            <a:r>
              <a:rPr lang="en-US" sz="1400" b="1" dirty="0">
                <a:solidFill>
                  <a:srgbClr val="172033"/>
                </a:solidFill>
                <a:latin typeface="Calibri" pitchFamily="34" charset="0"/>
                <a:ea typeface="Calibri" pitchFamily="34" charset="-122"/>
                <a:cs typeface="Calibri" pitchFamily="34" charset="-120"/>
              </a:rPr>
              <a:t>Full annotation + adjudication</a:t>
            </a:r>
            <a:endParaRPr lang="en-US" sz="1400" dirty="0"/>
          </a:p>
        </p:txBody>
      </p:sp>
      <p:sp>
        <p:nvSpPr>
          <p:cNvPr id="34" name="Text 32"/>
          <p:cNvSpPr/>
          <p:nvPr/>
        </p:nvSpPr>
        <p:spPr>
          <a:xfrm>
            <a:off x="7790688" y="4325112"/>
            <a:ext cx="3584448" cy="384048"/>
          </a:xfrm>
          <a:prstGeom prst="rect">
            <a:avLst/>
          </a:prstGeom>
          <a:noFill/>
          <a:ln/>
        </p:spPr>
        <p:txBody>
          <a:bodyPr wrap="square" lIns="254" tIns="254" rIns="254" bIns="254" rtlCol="0" anchor="ctr">
            <a:normAutofit/>
          </a:bodyPr>
          <a:lstStyle/>
          <a:p>
            <a:pPr indent="0" marL="0">
              <a:buNone/>
            </a:pPr>
            <a:r>
              <a:rPr lang="en-US" sz="1100" dirty="0">
                <a:solidFill>
                  <a:srgbClr val="475569"/>
                </a:solidFill>
                <a:latin typeface="Calibri" pitchFamily="34" charset="0"/>
                <a:ea typeface="Calibri" pitchFamily="34" charset="-122"/>
                <a:cs typeface="Calibri" pitchFamily="34" charset="-120"/>
              </a:rPr>
              <a:t>Resolve disagreements and produce one final human ground truth.</a:t>
            </a:r>
            <a:endParaRPr lang="en-US" sz="1100" dirty="0"/>
          </a:p>
        </p:txBody>
      </p:sp>
      <p:sp>
        <p:nvSpPr>
          <p:cNvPr id="35" name="Shape 33"/>
          <p:cNvSpPr/>
          <p:nvPr/>
        </p:nvSpPr>
        <p:spPr>
          <a:xfrm>
            <a:off x="3913632" y="4315968"/>
            <a:ext cx="182880" cy="0"/>
          </a:xfrm>
          <a:prstGeom prst="line">
            <a:avLst/>
          </a:prstGeom>
          <a:noFill/>
          <a:ln w="25400">
            <a:solidFill>
              <a:srgbClr val="64748B"/>
            </a:solidFill>
            <a:prstDash val="solid"/>
            <a:tailEnd type="triangle"/>
          </a:ln>
        </p:spPr>
      </p:sp>
      <p:sp>
        <p:nvSpPr>
          <p:cNvPr id="36" name="Shape 34"/>
          <p:cNvSpPr/>
          <p:nvPr/>
        </p:nvSpPr>
        <p:spPr>
          <a:xfrm>
            <a:off x="7397496" y="4315968"/>
            <a:ext cx="182880" cy="0"/>
          </a:xfrm>
          <a:prstGeom prst="line">
            <a:avLst/>
          </a:prstGeom>
          <a:noFill/>
          <a:ln w="25400">
            <a:solidFill>
              <a:srgbClr val="64748B"/>
            </a:solidFill>
            <a:prstDash val="solid"/>
            <a:tailEnd type="triangle"/>
          </a:ln>
        </p:spPr>
      </p:sp>
      <p:sp>
        <p:nvSpPr>
          <p:cNvPr id="37" name="Shape 35"/>
          <p:cNvSpPr/>
          <p:nvPr/>
        </p:nvSpPr>
        <p:spPr>
          <a:xfrm>
            <a:off x="1280160" y="5239512"/>
            <a:ext cx="9646920" cy="603504"/>
          </a:xfrm>
          <a:prstGeom prst="roundRect">
            <a:avLst>
              <a:gd name="adj" fmla="val 12121"/>
            </a:avLst>
          </a:prstGeom>
          <a:solidFill>
            <a:srgbClr val="FFFFFF"/>
          </a:solidFill>
          <a:ln w="12700">
            <a:solidFill>
              <a:srgbClr val="E2E8F0"/>
            </a:solidFill>
            <a:prstDash val="solid"/>
          </a:ln>
        </p:spPr>
      </p:sp>
      <p:sp>
        <p:nvSpPr>
          <p:cNvPr id="38" name="Text 36"/>
          <p:cNvSpPr/>
          <p:nvPr/>
        </p:nvSpPr>
        <p:spPr>
          <a:xfrm>
            <a:off x="1554480" y="5431536"/>
            <a:ext cx="9098280" cy="228600"/>
          </a:xfrm>
          <a:prstGeom prst="rect">
            <a:avLst/>
          </a:prstGeom>
          <a:noFill/>
          <a:ln/>
        </p:spPr>
        <p:txBody>
          <a:bodyPr wrap="square" lIns="0" tIns="0" rIns="0" bIns="0" rtlCol="0" anchor="ctr">
            <a:normAutofit/>
          </a:bodyPr>
          <a:lstStyle/>
          <a:p>
            <a:pPr algn="ctr" indent="0" marL="0">
              <a:buNone/>
            </a:pPr>
            <a:r>
              <a:rPr lang="en-US" sz="1300" b="1" dirty="0">
                <a:solidFill>
                  <a:srgbClr val="475569"/>
                </a:solidFill>
                <a:latin typeface="Calibri" pitchFamily="34" charset="0"/>
                <a:ea typeface="Calibri" pitchFamily="34" charset="-122"/>
                <a:cs typeface="Calibri" pitchFamily="34" charset="-120"/>
              </a:rPr>
              <a:t>Labels capture: inconsistency type · target aspect · severity · service recovery · negation / sarcasm</a:t>
            </a:r>
            <a:endParaRPr lang="en-US" sz="1300" dirty="0"/>
          </a:p>
        </p:txBody>
      </p:sp>
      <p:sp>
        <p:nvSpPr>
          <p:cNvPr id="39" name="Text 37"/>
          <p:cNvSpPr/>
          <p:nvPr/>
        </p:nvSpPr>
        <p:spPr>
          <a:xfrm>
            <a:off x="640080" y="6172200"/>
            <a:ext cx="10607040" cy="164592"/>
          </a:xfrm>
          <a:prstGeom prst="rect">
            <a:avLst/>
          </a:prstGeom>
          <a:noFill/>
          <a:ln/>
        </p:spPr>
        <p:txBody>
          <a:bodyPr wrap="square" lIns="0" tIns="0" rIns="0" bIns="0" rtlCol="0" anchor="ctr">
            <a:normAutofit/>
          </a:bodyPr>
          <a:lstStyle/>
          <a:p>
            <a:pPr indent="0" marL="0">
              <a:buNone/>
            </a:pPr>
            <a:r>
              <a:rPr lang="en-US" sz="850" i="1" dirty="0">
                <a:solidFill>
                  <a:srgbClr val="64748B"/>
                </a:solidFill>
                <a:latin typeface="Calibri" pitchFamily="34" charset="0"/>
                <a:ea typeface="Calibri" pitchFamily="34" charset="-122"/>
                <a:cs typeface="Calibri" pitchFamily="34" charset="-120"/>
              </a:rPr>
              <a:t>Source: manual annotation protocol. Candidate counts verified directly from the dataset.</a:t>
            </a:r>
            <a:endParaRPr lang="en-US" sz="850" dirty="0"/>
          </a:p>
        </p:txBody>
      </p:sp>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320040"/>
            <a:ext cx="5029200" cy="182880"/>
          </a:xfrm>
          <a:prstGeom prst="rect">
            <a:avLst/>
          </a:prstGeom>
          <a:noFill/>
          <a:ln/>
        </p:spPr>
        <p:txBody>
          <a:bodyPr wrap="square" lIns="0" tIns="0" rIns="0" bIns="0" rtlCol="0" anchor="ctr"/>
          <a:lstStyle/>
          <a:p>
            <a:pPr indent="0" marL="0">
              <a:buNone/>
            </a:pPr>
            <a:r>
              <a:rPr lang="en-US" sz="1000" b="1" spc="120" kern="0" dirty="0">
                <a:solidFill>
                  <a:srgbClr val="0F766E"/>
                </a:solidFill>
                <a:latin typeface="Calibri" pitchFamily="34" charset="0"/>
                <a:ea typeface="Calibri" pitchFamily="34" charset="-122"/>
                <a:cs typeface="Calibri" pitchFamily="34" charset="-120"/>
              </a:rPr>
              <a:t>HOW RDR-0003 WILL BE EARNED</a:t>
            </a:r>
            <a:endParaRPr lang="en-US" sz="1000" dirty="0"/>
          </a:p>
        </p:txBody>
      </p:sp>
      <p:sp>
        <p:nvSpPr>
          <p:cNvPr id="3" name="Text 1"/>
          <p:cNvSpPr/>
          <p:nvPr/>
        </p:nvSpPr>
        <p:spPr>
          <a:xfrm>
            <a:off x="640080" y="548640"/>
            <a:ext cx="10881360" cy="502920"/>
          </a:xfrm>
          <a:prstGeom prst="rect">
            <a:avLst/>
          </a:prstGeom>
          <a:noFill/>
          <a:ln/>
        </p:spPr>
        <p:txBody>
          <a:bodyPr wrap="square" lIns="0" tIns="0" rIns="0" bIns="0" rtlCol="0" anchor="ctr">
            <a:normAutofit/>
          </a:bodyPr>
          <a:lstStyle/>
          <a:p>
            <a:pPr indent="0" marL="0">
              <a:buNone/>
            </a:pPr>
            <a:r>
              <a:rPr lang="en-US" sz="2900" b="1" dirty="0">
                <a:solidFill>
                  <a:srgbClr val="172033"/>
                </a:solidFill>
                <a:latin typeface="Cambria" pitchFamily="34" charset="0"/>
                <a:ea typeface="Cambria" pitchFamily="34" charset="-122"/>
                <a:cs typeface="Cambria" pitchFamily="34" charset="-120"/>
              </a:rPr>
              <a:t>One benchmark, three formulations, one decision gate</a:t>
            </a:r>
            <a:endParaRPr lang="en-US" sz="2900" dirty="0"/>
          </a:p>
        </p:txBody>
      </p:sp>
      <p:sp>
        <p:nvSpPr>
          <p:cNvPr id="4" name="Shape 2"/>
          <p:cNvSpPr/>
          <p:nvPr/>
        </p:nvSpPr>
        <p:spPr>
          <a:xfrm>
            <a:off x="658368" y="1353312"/>
            <a:ext cx="2788920" cy="1133856"/>
          </a:xfrm>
          <a:prstGeom prst="roundRect">
            <a:avLst>
              <a:gd name="adj" fmla="val 6452"/>
            </a:avLst>
          </a:prstGeom>
          <a:solidFill>
            <a:srgbClr val="F1F5F9"/>
          </a:solidFill>
          <a:ln w="12700">
            <a:solidFill>
              <a:srgbClr val="F1F5F9"/>
            </a:solidFill>
            <a:prstDash val="solid"/>
          </a:ln>
        </p:spPr>
      </p:sp>
      <p:sp>
        <p:nvSpPr>
          <p:cNvPr id="5" name="Text 3"/>
          <p:cNvSpPr/>
          <p:nvPr/>
        </p:nvSpPr>
        <p:spPr>
          <a:xfrm>
            <a:off x="859536" y="1664208"/>
            <a:ext cx="2386584" cy="274320"/>
          </a:xfrm>
          <a:prstGeom prst="rect">
            <a:avLst/>
          </a:prstGeom>
          <a:noFill/>
          <a:ln/>
        </p:spPr>
        <p:txBody>
          <a:bodyPr wrap="square" lIns="0" tIns="0" rIns="0" bIns="0" rtlCol="0" anchor="ctr">
            <a:normAutofit/>
          </a:bodyPr>
          <a:lstStyle/>
          <a:p>
            <a:pPr algn="ctr" indent="0" marL="0">
              <a:buNone/>
            </a:pPr>
            <a:r>
              <a:rPr lang="en-US" sz="1600" b="1" dirty="0">
                <a:solidFill>
                  <a:srgbClr val="172033"/>
                </a:solidFill>
                <a:latin typeface="Calibri" pitchFamily="34" charset="0"/>
                <a:ea typeface="Calibri" pitchFamily="34" charset="-122"/>
                <a:cs typeface="Calibri" pitchFamily="34" charset="-120"/>
              </a:rPr>
              <a:t>3×3 polarity matrix</a:t>
            </a:r>
            <a:endParaRPr lang="en-US" sz="1600" dirty="0"/>
          </a:p>
        </p:txBody>
      </p:sp>
      <p:sp>
        <p:nvSpPr>
          <p:cNvPr id="6" name="Text 4"/>
          <p:cNvSpPr/>
          <p:nvPr/>
        </p:nvSpPr>
        <p:spPr>
          <a:xfrm>
            <a:off x="859536" y="2084832"/>
            <a:ext cx="2386584" cy="201168"/>
          </a:xfrm>
          <a:prstGeom prst="rect">
            <a:avLst/>
          </a:prstGeom>
          <a:noFill/>
          <a:ln/>
        </p:spPr>
        <p:txBody>
          <a:bodyPr wrap="square" lIns="0" tIns="0" rIns="0" bIns="0" rtlCol="0" anchor="ctr">
            <a:normAutofit/>
          </a:bodyPr>
          <a:lstStyle/>
          <a:p>
            <a:pPr algn="ctr" indent="0" marL="0">
              <a:buNone/>
            </a:pPr>
            <a:r>
              <a:rPr lang="en-US" sz="1150" b="1" dirty="0">
                <a:solidFill>
                  <a:srgbClr val="475569"/>
                </a:solidFill>
                <a:latin typeface="Calibri" pitchFamily="34" charset="0"/>
                <a:ea typeface="Calibri" pitchFamily="34" charset="-122"/>
                <a:cs typeface="Calibri" pitchFamily="34" charset="-120"/>
              </a:rPr>
              <a:t>Interpretable baseline</a:t>
            </a:r>
            <a:endParaRPr lang="en-US" sz="1150" dirty="0"/>
          </a:p>
        </p:txBody>
      </p:sp>
      <p:sp>
        <p:nvSpPr>
          <p:cNvPr id="7" name="Shape 5"/>
          <p:cNvSpPr/>
          <p:nvPr/>
        </p:nvSpPr>
        <p:spPr>
          <a:xfrm>
            <a:off x="2048256" y="2542032"/>
            <a:ext cx="0" cy="438912"/>
          </a:xfrm>
          <a:prstGeom prst="line">
            <a:avLst/>
          </a:prstGeom>
          <a:noFill/>
          <a:ln w="25400">
            <a:solidFill>
              <a:srgbClr val="64748B"/>
            </a:solidFill>
            <a:prstDash val="solid"/>
            <a:tailEnd type="triangle"/>
          </a:ln>
        </p:spPr>
      </p:sp>
      <p:sp>
        <p:nvSpPr>
          <p:cNvPr id="8" name="Shape 6"/>
          <p:cNvSpPr/>
          <p:nvPr/>
        </p:nvSpPr>
        <p:spPr>
          <a:xfrm>
            <a:off x="4114800" y="1353312"/>
            <a:ext cx="2788920" cy="1133856"/>
          </a:xfrm>
          <a:prstGeom prst="roundRect">
            <a:avLst>
              <a:gd name="adj" fmla="val 6452"/>
            </a:avLst>
          </a:prstGeom>
          <a:solidFill>
            <a:srgbClr val="DBEAFE"/>
          </a:solidFill>
          <a:ln w="12700">
            <a:solidFill>
              <a:srgbClr val="DBEAFE"/>
            </a:solidFill>
            <a:prstDash val="solid"/>
          </a:ln>
        </p:spPr>
      </p:sp>
      <p:sp>
        <p:nvSpPr>
          <p:cNvPr id="9" name="Text 7"/>
          <p:cNvSpPr/>
          <p:nvPr/>
        </p:nvSpPr>
        <p:spPr>
          <a:xfrm>
            <a:off x="4315968" y="1664208"/>
            <a:ext cx="2386584" cy="274320"/>
          </a:xfrm>
          <a:prstGeom prst="rect">
            <a:avLst/>
          </a:prstGeom>
          <a:noFill/>
          <a:ln/>
        </p:spPr>
        <p:txBody>
          <a:bodyPr wrap="square" lIns="0" tIns="0" rIns="0" bIns="0" rtlCol="0" anchor="ctr">
            <a:normAutofit/>
          </a:bodyPr>
          <a:lstStyle/>
          <a:p>
            <a:pPr algn="ctr" indent="0" marL="0">
              <a:buNone/>
            </a:pPr>
            <a:r>
              <a:rPr lang="en-US" sz="1600" b="1" dirty="0">
                <a:solidFill>
                  <a:srgbClr val="172033"/>
                </a:solidFill>
                <a:latin typeface="Calibri" pitchFamily="34" charset="0"/>
                <a:ea typeface="Calibri" pitchFamily="34" charset="-122"/>
                <a:cs typeface="Calibri" pitchFamily="34" charset="-120"/>
              </a:rPr>
              <a:t>Signed z-gap</a:t>
            </a:r>
            <a:endParaRPr lang="en-US" sz="1600" dirty="0"/>
          </a:p>
        </p:txBody>
      </p:sp>
      <p:sp>
        <p:nvSpPr>
          <p:cNvPr id="10" name="Text 8"/>
          <p:cNvSpPr/>
          <p:nvPr/>
        </p:nvSpPr>
        <p:spPr>
          <a:xfrm>
            <a:off x="4315968" y="2084832"/>
            <a:ext cx="2386584" cy="201168"/>
          </a:xfrm>
          <a:prstGeom prst="rect">
            <a:avLst/>
          </a:prstGeom>
          <a:noFill/>
          <a:ln/>
        </p:spPr>
        <p:txBody>
          <a:bodyPr wrap="square" lIns="0" tIns="0" rIns="0" bIns="0" rtlCol="0" anchor="ctr">
            <a:normAutofit/>
          </a:bodyPr>
          <a:lstStyle/>
          <a:p>
            <a:pPr algn="ctr" indent="0" marL="0">
              <a:buNone/>
            </a:pPr>
            <a:r>
              <a:rPr lang="en-US" sz="1150" b="1" dirty="0">
                <a:solidFill>
                  <a:srgbClr val="2563EB"/>
                </a:solidFill>
                <a:latin typeface="Calibri" pitchFamily="34" charset="0"/>
                <a:ea typeface="Calibri" pitchFamily="34" charset="-122"/>
                <a:cs typeface="Calibri" pitchFamily="34" charset="-120"/>
              </a:rPr>
              <a:t>Direction + magnitude</a:t>
            </a:r>
            <a:endParaRPr lang="en-US" sz="1150" dirty="0"/>
          </a:p>
        </p:txBody>
      </p:sp>
      <p:sp>
        <p:nvSpPr>
          <p:cNvPr id="11" name="Shape 9"/>
          <p:cNvSpPr/>
          <p:nvPr/>
        </p:nvSpPr>
        <p:spPr>
          <a:xfrm>
            <a:off x="5504688" y="2542032"/>
            <a:ext cx="0" cy="438912"/>
          </a:xfrm>
          <a:prstGeom prst="line">
            <a:avLst/>
          </a:prstGeom>
          <a:noFill/>
          <a:ln w="25400">
            <a:solidFill>
              <a:srgbClr val="64748B"/>
            </a:solidFill>
            <a:prstDash val="solid"/>
            <a:tailEnd type="triangle"/>
          </a:ln>
        </p:spPr>
      </p:sp>
      <p:sp>
        <p:nvSpPr>
          <p:cNvPr id="12" name="Shape 10"/>
          <p:cNvSpPr/>
          <p:nvPr/>
        </p:nvSpPr>
        <p:spPr>
          <a:xfrm>
            <a:off x="7571232" y="1353312"/>
            <a:ext cx="2788920" cy="1133856"/>
          </a:xfrm>
          <a:prstGeom prst="roundRect">
            <a:avLst>
              <a:gd name="adj" fmla="val 6452"/>
            </a:avLst>
          </a:prstGeom>
          <a:solidFill>
            <a:srgbClr val="CCFBF1"/>
          </a:solidFill>
          <a:ln w="12700">
            <a:solidFill>
              <a:srgbClr val="CCFBF1"/>
            </a:solidFill>
            <a:prstDash val="solid"/>
          </a:ln>
        </p:spPr>
      </p:sp>
      <p:sp>
        <p:nvSpPr>
          <p:cNvPr id="13" name="Text 11"/>
          <p:cNvSpPr/>
          <p:nvPr/>
        </p:nvSpPr>
        <p:spPr>
          <a:xfrm>
            <a:off x="7772400" y="1664208"/>
            <a:ext cx="2386584" cy="274320"/>
          </a:xfrm>
          <a:prstGeom prst="rect">
            <a:avLst/>
          </a:prstGeom>
          <a:noFill/>
          <a:ln/>
        </p:spPr>
        <p:txBody>
          <a:bodyPr wrap="square" lIns="0" tIns="0" rIns="0" bIns="0" rtlCol="0" anchor="ctr">
            <a:normAutofit/>
          </a:bodyPr>
          <a:lstStyle/>
          <a:p>
            <a:pPr algn="ctr" indent="0" marL="0">
              <a:buNone/>
            </a:pPr>
            <a:r>
              <a:rPr lang="en-US" sz="1600" b="1" dirty="0">
                <a:solidFill>
                  <a:srgbClr val="172033"/>
                </a:solidFill>
                <a:latin typeface="Calibri" pitchFamily="34" charset="0"/>
                <a:ea typeface="Calibri" pitchFamily="34" charset="-122"/>
                <a:cs typeface="Calibri" pitchFamily="34" charset="-120"/>
              </a:rPr>
              <a:t>Signed aspect gap</a:t>
            </a:r>
            <a:endParaRPr lang="en-US" sz="1600" dirty="0"/>
          </a:p>
        </p:txBody>
      </p:sp>
      <p:sp>
        <p:nvSpPr>
          <p:cNvPr id="14" name="Text 12"/>
          <p:cNvSpPr/>
          <p:nvPr/>
        </p:nvSpPr>
        <p:spPr>
          <a:xfrm>
            <a:off x="7772400" y="2084832"/>
            <a:ext cx="2386584" cy="201168"/>
          </a:xfrm>
          <a:prstGeom prst="rect">
            <a:avLst/>
          </a:prstGeom>
          <a:noFill/>
          <a:ln/>
        </p:spPr>
        <p:txBody>
          <a:bodyPr wrap="square" lIns="0" tIns="0" rIns="0" bIns="0" rtlCol="0" anchor="ctr">
            <a:normAutofit/>
          </a:bodyPr>
          <a:lstStyle/>
          <a:p>
            <a:pPr algn="ctr" indent="0" marL="0">
              <a:buNone/>
            </a:pPr>
            <a:r>
              <a:rPr lang="en-US" sz="1150" b="1" dirty="0">
                <a:solidFill>
                  <a:srgbClr val="0F766E"/>
                </a:solidFill>
                <a:latin typeface="Calibri" pitchFamily="34" charset="0"/>
                <a:ea typeface="Calibri" pitchFamily="34" charset="-122"/>
                <a:cs typeface="Calibri" pitchFamily="34" charset="-120"/>
              </a:rPr>
              <a:t>Project candidate</a:t>
            </a:r>
            <a:endParaRPr lang="en-US" sz="1150" dirty="0"/>
          </a:p>
        </p:txBody>
      </p:sp>
      <p:sp>
        <p:nvSpPr>
          <p:cNvPr id="15" name="Shape 13"/>
          <p:cNvSpPr/>
          <p:nvPr/>
        </p:nvSpPr>
        <p:spPr>
          <a:xfrm>
            <a:off x="8961120" y="2542032"/>
            <a:ext cx="0" cy="438912"/>
          </a:xfrm>
          <a:prstGeom prst="line">
            <a:avLst/>
          </a:prstGeom>
          <a:noFill/>
          <a:ln w="25400">
            <a:solidFill>
              <a:srgbClr val="64748B"/>
            </a:solidFill>
            <a:prstDash val="solid"/>
            <a:tailEnd type="triangle"/>
          </a:ln>
        </p:spPr>
      </p:sp>
      <p:sp>
        <p:nvSpPr>
          <p:cNvPr id="16" name="Shape 14"/>
          <p:cNvSpPr/>
          <p:nvPr/>
        </p:nvSpPr>
        <p:spPr>
          <a:xfrm>
            <a:off x="1170432" y="3035808"/>
            <a:ext cx="9857232" cy="1170432"/>
          </a:xfrm>
          <a:prstGeom prst="roundRect">
            <a:avLst>
              <a:gd name="adj" fmla="val 6250"/>
            </a:avLst>
          </a:prstGeom>
          <a:solidFill>
            <a:srgbClr val="FFFFFF"/>
          </a:solidFill>
          <a:ln w="12700">
            <a:solidFill>
              <a:srgbClr val="CBD5E1"/>
            </a:solidFill>
            <a:prstDash val="solid"/>
          </a:ln>
        </p:spPr>
      </p:sp>
      <p:sp>
        <p:nvSpPr>
          <p:cNvPr id="17" name="Text 15"/>
          <p:cNvSpPr/>
          <p:nvPr/>
        </p:nvSpPr>
        <p:spPr>
          <a:xfrm>
            <a:off x="1417320" y="3319272"/>
            <a:ext cx="2011680" cy="256032"/>
          </a:xfrm>
          <a:prstGeom prst="rect">
            <a:avLst/>
          </a:prstGeom>
          <a:noFill/>
          <a:ln/>
        </p:spPr>
        <p:txBody>
          <a:bodyPr wrap="square" lIns="0" tIns="0" rIns="0" bIns="0" rtlCol="0" anchor="ctr">
            <a:normAutofit/>
          </a:bodyPr>
          <a:lstStyle/>
          <a:p>
            <a:pPr algn="ctr" indent="0" marL="0">
              <a:buNone/>
            </a:pPr>
            <a:r>
              <a:rPr lang="en-US" sz="1350" b="1" dirty="0">
                <a:solidFill>
                  <a:srgbClr val="172033"/>
                </a:solidFill>
                <a:latin typeface="Calibri" pitchFamily="34" charset="0"/>
                <a:ea typeface="Calibri" pitchFamily="34" charset="-122"/>
                <a:cs typeface="Calibri" pitchFamily="34" charset="-120"/>
              </a:rPr>
              <a:t>Macro-F1</a:t>
            </a:r>
            <a:endParaRPr lang="en-US" sz="1350" dirty="0"/>
          </a:p>
        </p:txBody>
      </p:sp>
      <p:sp>
        <p:nvSpPr>
          <p:cNvPr id="18" name="Text 16"/>
          <p:cNvSpPr/>
          <p:nvPr/>
        </p:nvSpPr>
        <p:spPr>
          <a:xfrm>
            <a:off x="1417320" y="3675888"/>
            <a:ext cx="2011680" cy="292608"/>
          </a:xfrm>
          <a:prstGeom prst="rect">
            <a:avLst/>
          </a:prstGeom>
          <a:noFill/>
          <a:ln/>
        </p:spPr>
        <p:txBody>
          <a:bodyPr wrap="square" lIns="0" tIns="0" rIns="0" bIns="0" rtlCol="0" anchor="ctr">
            <a:normAutofit/>
          </a:bodyPr>
          <a:lstStyle/>
          <a:p>
            <a:pPr algn="ctr" indent="0" marL="0">
              <a:buNone/>
            </a:pPr>
            <a:r>
              <a:rPr lang="en-US" sz="1050" dirty="0">
                <a:solidFill>
                  <a:srgbClr val="475569"/>
                </a:solidFill>
                <a:latin typeface="Calibri" pitchFamily="34" charset="0"/>
                <a:ea typeface="Calibri" pitchFamily="34" charset="-122"/>
                <a:cs typeface="Calibri" pitchFamily="34" charset="-120"/>
              </a:rPr>
              <a:t>match human direction labels</a:t>
            </a:r>
            <a:endParaRPr lang="en-US" sz="1050" dirty="0"/>
          </a:p>
        </p:txBody>
      </p:sp>
      <p:sp>
        <p:nvSpPr>
          <p:cNvPr id="19" name="Text 17"/>
          <p:cNvSpPr/>
          <p:nvPr/>
        </p:nvSpPr>
        <p:spPr>
          <a:xfrm>
            <a:off x="3813048" y="3319272"/>
            <a:ext cx="2011680" cy="256032"/>
          </a:xfrm>
          <a:prstGeom prst="rect">
            <a:avLst/>
          </a:prstGeom>
          <a:noFill/>
          <a:ln/>
        </p:spPr>
        <p:txBody>
          <a:bodyPr wrap="square" lIns="0" tIns="0" rIns="0" bIns="0" rtlCol="0" anchor="ctr">
            <a:normAutofit/>
          </a:bodyPr>
          <a:lstStyle/>
          <a:p>
            <a:pPr algn="ctr" indent="0" marL="0">
              <a:buNone/>
            </a:pPr>
            <a:r>
              <a:rPr lang="en-US" sz="1350" b="1" dirty="0">
                <a:solidFill>
                  <a:srgbClr val="172033"/>
                </a:solidFill>
                <a:latin typeface="Calibri" pitchFamily="34" charset="0"/>
                <a:ea typeface="Calibri" pitchFamily="34" charset="-122"/>
                <a:cs typeface="Calibri" pitchFamily="34" charset="-120"/>
              </a:rPr>
              <a:t>False-positive rate</a:t>
            </a:r>
            <a:endParaRPr lang="en-US" sz="1350" dirty="0"/>
          </a:p>
        </p:txBody>
      </p:sp>
      <p:sp>
        <p:nvSpPr>
          <p:cNvPr id="20" name="Text 18"/>
          <p:cNvSpPr/>
          <p:nvPr/>
        </p:nvSpPr>
        <p:spPr>
          <a:xfrm>
            <a:off x="3813048" y="3675888"/>
            <a:ext cx="2011680" cy="292608"/>
          </a:xfrm>
          <a:prstGeom prst="rect">
            <a:avLst/>
          </a:prstGeom>
          <a:noFill/>
          <a:ln/>
        </p:spPr>
        <p:txBody>
          <a:bodyPr wrap="square" lIns="0" tIns="0" rIns="0" bIns="0" rtlCol="0" anchor="ctr">
            <a:normAutofit/>
          </a:bodyPr>
          <a:lstStyle/>
          <a:p>
            <a:pPr algn="ctr" indent="0" marL="0">
              <a:buNone/>
            </a:pPr>
            <a:r>
              <a:rPr lang="en-US" sz="1050" dirty="0">
                <a:solidFill>
                  <a:srgbClr val="475569"/>
                </a:solidFill>
                <a:latin typeface="Calibri" pitchFamily="34" charset="0"/>
                <a:ea typeface="Calibri" pitchFamily="34" charset="-122"/>
                <a:cs typeface="Calibri" pitchFamily="34" charset="-120"/>
              </a:rPr>
              <a:t>stay reliable on aligned controls</a:t>
            </a:r>
            <a:endParaRPr lang="en-US" sz="1050" dirty="0"/>
          </a:p>
        </p:txBody>
      </p:sp>
      <p:sp>
        <p:nvSpPr>
          <p:cNvPr id="21" name="Text 19"/>
          <p:cNvSpPr/>
          <p:nvPr/>
        </p:nvSpPr>
        <p:spPr>
          <a:xfrm>
            <a:off x="6208776" y="3319272"/>
            <a:ext cx="2011680" cy="256032"/>
          </a:xfrm>
          <a:prstGeom prst="rect">
            <a:avLst/>
          </a:prstGeom>
          <a:noFill/>
          <a:ln/>
        </p:spPr>
        <p:txBody>
          <a:bodyPr wrap="square" lIns="0" tIns="0" rIns="0" bIns="0" rtlCol="0" anchor="ctr">
            <a:normAutofit/>
          </a:bodyPr>
          <a:lstStyle/>
          <a:p>
            <a:pPr algn="ctr" indent="0" marL="0">
              <a:buNone/>
            </a:pPr>
            <a:r>
              <a:rPr lang="en-US" sz="1350" b="1" dirty="0">
                <a:solidFill>
                  <a:srgbClr val="172033"/>
                </a:solidFill>
                <a:latin typeface="Calibri" pitchFamily="34" charset="0"/>
                <a:ea typeface="Calibri" pitchFamily="34" charset="-122"/>
                <a:cs typeface="Calibri" pitchFamily="34" charset="-120"/>
              </a:rPr>
              <a:t>Directional stability</a:t>
            </a:r>
            <a:endParaRPr lang="en-US" sz="1350" dirty="0"/>
          </a:p>
        </p:txBody>
      </p:sp>
      <p:sp>
        <p:nvSpPr>
          <p:cNvPr id="22" name="Text 20"/>
          <p:cNvSpPr/>
          <p:nvPr/>
        </p:nvSpPr>
        <p:spPr>
          <a:xfrm>
            <a:off x="6208776" y="3675888"/>
            <a:ext cx="2011680" cy="292608"/>
          </a:xfrm>
          <a:prstGeom prst="rect">
            <a:avLst/>
          </a:prstGeom>
          <a:noFill/>
          <a:ln/>
        </p:spPr>
        <p:txBody>
          <a:bodyPr wrap="square" lIns="0" tIns="0" rIns="0" bIns="0" rtlCol="0" anchor="ctr">
            <a:normAutofit/>
          </a:bodyPr>
          <a:lstStyle/>
          <a:p>
            <a:pPr algn="ctr" indent="0" marL="0">
              <a:buNone/>
            </a:pPr>
            <a:r>
              <a:rPr lang="en-US" sz="1050" dirty="0">
                <a:solidFill>
                  <a:srgbClr val="475569"/>
                </a:solidFill>
                <a:latin typeface="Calibri" pitchFamily="34" charset="0"/>
                <a:ea typeface="Calibri" pitchFamily="34" charset="-122"/>
                <a:cs typeface="Calibri" pitchFamily="34" charset="-120"/>
              </a:rPr>
              <a:t>work in both rating strata</a:t>
            </a:r>
            <a:endParaRPr lang="en-US" sz="1050" dirty="0"/>
          </a:p>
        </p:txBody>
      </p:sp>
      <p:sp>
        <p:nvSpPr>
          <p:cNvPr id="23" name="Text 21"/>
          <p:cNvSpPr/>
          <p:nvPr/>
        </p:nvSpPr>
        <p:spPr>
          <a:xfrm>
            <a:off x="8604504" y="3319272"/>
            <a:ext cx="2011680" cy="256032"/>
          </a:xfrm>
          <a:prstGeom prst="rect">
            <a:avLst/>
          </a:prstGeom>
          <a:noFill/>
          <a:ln/>
        </p:spPr>
        <p:txBody>
          <a:bodyPr wrap="square" lIns="0" tIns="0" rIns="0" bIns="0" rtlCol="0" anchor="ctr">
            <a:normAutofit/>
          </a:bodyPr>
          <a:lstStyle/>
          <a:p>
            <a:pPr algn="ctr" indent="0" marL="0">
              <a:buNone/>
            </a:pPr>
            <a:r>
              <a:rPr lang="en-US" sz="1350" b="1" dirty="0">
                <a:solidFill>
                  <a:srgbClr val="E11D48"/>
                </a:solidFill>
                <a:latin typeface="Calibri" pitchFamily="34" charset="0"/>
                <a:ea typeface="Calibri" pitchFamily="34" charset="-122"/>
                <a:cs typeface="Calibri" pitchFamily="34" charset="-120"/>
              </a:rPr>
              <a:t>No leakage</a:t>
            </a:r>
            <a:endParaRPr lang="en-US" sz="1350" dirty="0"/>
          </a:p>
        </p:txBody>
      </p:sp>
      <p:sp>
        <p:nvSpPr>
          <p:cNvPr id="24" name="Text 22"/>
          <p:cNvSpPr/>
          <p:nvPr/>
        </p:nvSpPr>
        <p:spPr>
          <a:xfrm>
            <a:off x="8604504" y="3675888"/>
            <a:ext cx="2011680" cy="292608"/>
          </a:xfrm>
          <a:prstGeom prst="rect">
            <a:avLst/>
          </a:prstGeom>
          <a:noFill/>
          <a:ln/>
        </p:spPr>
        <p:txBody>
          <a:bodyPr wrap="square" lIns="0" tIns="0" rIns="0" bIns="0" rtlCol="0" anchor="ctr">
            <a:normAutofit/>
          </a:bodyPr>
          <a:lstStyle/>
          <a:p>
            <a:pPr algn="ctr" indent="0" marL="0">
              <a:buNone/>
            </a:pPr>
            <a:r>
              <a:rPr lang="en-US" sz="1050" dirty="0">
                <a:solidFill>
                  <a:srgbClr val="475569"/>
                </a:solidFill>
                <a:latin typeface="Calibri" pitchFamily="34" charset="0"/>
                <a:ea typeface="Calibri" pitchFamily="34" charset="-122"/>
                <a:cs typeface="Calibri" pitchFamily="34" charset="-120"/>
              </a:rPr>
              <a:t>sentiment independent of rating / Branding</a:t>
            </a:r>
            <a:endParaRPr lang="en-US" sz="1050" dirty="0"/>
          </a:p>
        </p:txBody>
      </p:sp>
      <p:sp>
        <p:nvSpPr>
          <p:cNvPr id="25" name="Shape 23"/>
          <p:cNvSpPr/>
          <p:nvPr/>
        </p:nvSpPr>
        <p:spPr>
          <a:xfrm>
            <a:off x="6089904" y="4315968"/>
            <a:ext cx="0" cy="438912"/>
          </a:xfrm>
          <a:prstGeom prst="line">
            <a:avLst/>
          </a:prstGeom>
          <a:noFill/>
          <a:ln w="38100">
            <a:solidFill>
              <a:srgbClr val="0F766E"/>
            </a:solidFill>
            <a:prstDash val="solid"/>
            <a:tailEnd type="triangle"/>
          </a:ln>
        </p:spPr>
      </p:sp>
      <p:sp>
        <p:nvSpPr>
          <p:cNvPr id="26" name="Shape 24"/>
          <p:cNvSpPr/>
          <p:nvPr/>
        </p:nvSpPr>
        <p:spPr>
          <a:xfrm>
            <a:off x="1892808" y="4828032"/>
            <a:ext cx="8412480" cy="841248"/>
          </a:xfrm>
          <a:prstGeom prst="roundRect">
            <a:avLst>
              <a:gd name="adj" fmla="val 8696"/>
            </a:avLst>
          </a:prstGeom>
          <a:solidFill>
            <a:srgbClr val="0B1220"/>
          </a:solidFill>
          <a:ln w="12700">
            <a:solidFill>
              <a:srgbClr val="0B1220"/>
            </a:solidFill>
            <a:prstDash val="solid"/>
          </a:ln>
        </p:spPr>
      </p:sp>
      <p:sp>
        <p:nvSpPr>
          <p:cNvPr id="27" name="Text 25"/>
          <p:cNvSpPr/>
          <p:nvPr/>
        </p:nvSpPr>
        <p:spPr>
          <a:xfrm>
            <a:off x="2240280" y="5102352"/>
            <a:ext cx="822960" cy="256032"/>
          </a:xfrm>
          <a:prstGeom prst="rect">
            <a:avLst/>
          </a:prstGeom>
          <a:noFill/>
          <a:ln/>
        </p:spPr>
        <p:txBody>
          <a:bodyPr wrap="square" lIns="0" tIns="0" rIns="0" bIns="0" rtlCol="0" anchor="ctr"/>
          <a:lstStyle/>
          <a:p>
            <a:pPr indent="0" marL="0">
              <a:buNone/>
            </a:pPr>
            <a:r>
              <a:rPr lang="en-US" sz="1400" b="1" dirty="0">
                <a:solidFill>
                  <a:srgbClr val="CCFBF1"/>
                </a:solidFill>
                <a:latin typeface="Calibri" pitchFamily="34" charset="0"/>
                <a:ea typeface="Calibri" pitchFamily="34" charset="-122"/>
                <a:cs typeface="Calibri" pitchFamily="34" charset="-120"/>
              </a:rPr>
              <a:t>PASS</a:t>
            </a:r>
            <a:endParaRPr lang="en-US" sz="1400" dirty="0"/>
          </a:p>
        </p:txBody>
      </p:sp>
      <p:sp>
        <p:nvSpPr>
          <p:cNvPr id="28" name="Text 26"/>
          <p:cNvSpPr/>
          <p:nvPr/>
        </p:nvSpPr>
        <p:spPr>
          <a:xfrm>
            <a:off x="3035808" y="5047488"/>
            <a:ext cx="3657600" cy="329184"/>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Calibri" pitchFamily="34" charset="0"/>
                <a:ea typeface="Calibri" pitchFamily="34" charset="-122"/>
                <a:cs typeface="Calibri" pitchFamily="34" charset="-120"/>
              </a:rPr>
              <a:t>Ban RDR-0003 and proceed to rating-behavior modeling</a:t>
            </a:r>
            <a:endParaRPr lang="en-US" sz="1400" dirty="0"/>
          </a:p>
        </p:txBody>
      </p:sp>
      <p:sp>
        <p:nvSpPr>
          <p:cNvPr id="29" name="Text 27"/>
          <p:cNvSpPr/>
          <p:nvPr/>
        </p:nvSpPr>
        <p:spPr>
          <a:xfrm>
            <a:off x="7059168" y="5102352"/>
            <a:ext cx="658368" cy="256032"/>
          </a:xfrm>
          <a:prstGeom prst="rect">
            <a:avLst/>
          </a:prstGeom>
          <a:noFill/>
          <a:ln/>
        </p:spPr>
        <p:txBody>
          <a:bodyPr wrap="square" lIns="0" tIns="0" rIns="0" bIns="0" rtlCol="0" anchor="ctr"/>
          <a:lstStyle/>
          <a:p>
            <a:pPr indent="0" marL="0">
              <a:buNone/>
            </a:pPr>
            <a:r>
              <a:rPr lang="en-US" sz="1400" b="1" dirty="0">
                <a:solidFill>
                  <a:srgbClr val="FFE4E6"/>
                </a:solidFill>
                <a:latin typeface="Calibri" pitchFamily="34" charset="0"/>
                <a:ea typeface="Calibri" pitchFamily="34" charset="-122"/>
                <a:cs typeface="Calibri" pitchFamily="34" charset="-120"/>
              </a:rPr>
              <a:t>FAIL</a:t>
            </a:r>
            <a:endParaRPr lang="en-US" sz="1400" dirty="0"/>
          </a:p>
        </p:txBody>
      </p:sp>
      <p:sp>
        <p:nvSpPr>
          <p:cNvPr id="30" name="Text 28"/>
          <p:cNvSpPr/>
          <p:nvPr/>
        </p:nvSpPr>
        <p:spPr>
          <a:xfrm>
            <a:off x="7662672" y="5047488"/>
            <a:ext cx="2331720" cy="329184"/>
          </a:xfrm>
          <a:prstGeom prst="rect">
            <a:avLst/>
          </a:prstGeom>
          <a:noFill/>
          <a:ln/>
        </p:spPr>
        <p:txBody>
          <a:bodyPr wrap="square" lIns="0" tIns="0" rIns="0" bIns="0" rtlCol="0" anchor="ctr">
            <a:normAutofit/>
          </a:bodyPr>
          <a:lstStyle/>
          <a:p>
            <a:pPr indent="0" marL="0">
              <a:buNone/>
            </a:pPr>
            <a:r>
              <a:rPr lang="en-US" sz="1250" b="1" dirty="0">
                <a:solidFill>
                  <a:srgbClr val="FFFFFF"/>
                </a:solidFill>
                <a:latin typeface="Calibri" pitchFamily="34" charset="0"/>
                <a:ea typeface="Calibri" pitchFamily="34" charset="-122"/>
                <a:cs typeface="Calibri" pitchFamily="34" charset="-120"/>
              </a:rPr>
              <a:t>Keep the matrix baseline; reopen targeted search only</a:t>
            </a:r>
            <a:endParaRPr lang="en-US" sz="1250" dirty="0"/>
          </a:p>
        </p:txBody>
      </p:sp>
      <p:sp>
        <p:nvSpPr>
          <p:cNvPr id="31" name="Text 29"/>
          <p:cNvSpPr/>
          <p:nvPr/>
        </p:nvSpPr>
        <p:spPr>
          <a:xfrm>
            <a:off x="640080" y="6172200"/>
            <a:ext cx="10607040" cy="164592"/>
          </a:xfrm>
          <a:prstGeom prst="rect">
            <a:avLst/>
          </a:prstGeom>
          <a:noFill/>
          <a:ln/>
        </p:spPr>
        <p:txBody>
          <a:bodyPr wrap="square" lIns="0" tIns="0" rIns="0" bIns="0" rtlCol="0" anchor="ctr">
            <a:normAutofit/>
          </a:bodyPr>
          <a:lstStyle/>
          <a:p>
            <a:pPr indent="0" marL="0">
              <a:buNone/>
            </a:pPr>
            <a:r>
              <a:rPr lang="en-US" sz="850" i="1" dirty="0">
                <a:solidFill>
                  <a:srgbClr val="64748B"/>
                </a:solidFill>
                <a:latin typeface="Calibri" pitchFamily="34" charset="0"/>
                <a:ea typeface="Calibri" pitchFamily="34" charset="-122"/>
                <a:cs typeface="Calibri" pitchFamily="34" charset="-120"/>
              </a:rPr>
              <a:t>Source: survey synthesis Gate B–D and research proposal draft.</a:t>
            </a:r>
            <a:endParaRPr lang="en-US" sz="850" dirty="0"/>
          </a:p>
        </p:txBody>
      </p:sp>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320040"/>
            <a:ext cx="5029200" cy="182880"/>
          </a:xfrm>
          <a:prstGeom prst="rect">
            <a:avLst/>
          </a:prstGeom>
          <a:noFill/>
          <a:ln/>
        </p:spPr>
        <p:txBody>
          <a:bodyPr wrap="square" lIns="0" tIns="0" rIns="0" bIns="0" rtlCol="0" anchor="ctr"/>
          <a:lstStyle/>
          <a:p>
            <a:pPr indent="0" marL="0">
              <a:buNone/>
            </a:pPr>
            <a:r>
              <a:rPr lang="en-US" sz="1000" b="1" spc="120" kern="0" dirty="0">
                <a:solidFill>
                  <a:srgbClr val="0F766E"/>
                </a:solidFill>
                <a:latin typeface="Calibri" pitchFamily="34" charset="0"/>
                <a:ea typeface="Calibri" pitchFamily="34" charset="-122"/>
                <a:cs typeface="Calibri" pitchFamily="34" charset="-120"/>
              </a:rPr>
              <a:t>HONEST STATUS</a:t>
            </a:r>
            <a:endParaRPr lang="en-US" sz="1000" dirty="0"/>
          </a:p>
        </p:txBody>
      </p:sp>
      <p:sp>
        <p:nvSpPr>
          <p:cNvPr id="3" name="Text 1"/>
          <p:cNvSpPr/>
          <p:nvPr/>
        </p:nvSpPr>
        <p:spPr>
          <a:xfrm>
            <a:off x="640080" y="548640"/>
            <a:ext cx="10881360" cy="502920"/>
          </a:xfrm>
          <a:prstGeom prst="rect">
            <a:avLst/>
          </a:prstGeom>
          <a:noFill/>
          <a:ln/>
        </p:spPr>
        <p:txBody>
          <a:bodyPr wrap="square" lIns="0" tIns="0" rIns="0" bIns="0" rtlCol="0" anchor="ctr">
            <a:normAutofit/>
          </a:bodyPr>
          <a:lstStyle/>
          <a:p>
            <a:pPr indent="0" marL="0">
              <a:buNone/>
            </a:pPr>
            <a:r>
              <a:rPr lang="en-US" sz="2900" b="1" dirty="0">
                <a:solidFill>
                  <a:srgbClr val="172033"/>
                </a:solidFill>
                <a:latin typeface="Cambria" pitchFamily="34" charset="0"/>
                <a:ea typeface="Cambria" pitchFamily="34" charset="-122"/>
                <a:cs typeface="Cambria" pitchFamily="34" charset="-120"/>
              </a:rPr>
              <a:t>What the team has completed — and what is still open</a:t>
            </a:r>
            <a:endParaRPr lang="en-US" sz="2900" dirty="0"/>
          </a:p>
        </p:txBody>
      </p:sp>
      <p:sp>
        <p:nvSpPr>
          <p:cNvPr id="4" name="Shape 2"/>
          <p:cNvSpPr/>
          <p:nvPr/>
        </p:nvSpPr>
        <p:spPr>
          <a:xfrm>
            <a:off x="658368" y="1261872"/>
            <a:ext cx="5257800" cy="4434840"/>
          </a:xfrm>
          <a:prstGeom prst="roundRect">
            <a:avLst>
              <a:gd name="adj" fmla="val 1649"/>
            </a:avLst>
          </a:prstGeom>
          <a:solidFill>
            <a:srgbClr val="DCFCE7"/>
          </a:solidFill>
          <a:ln w="12700">
            <a:solidFill>
              <a:srgbClr val="DCFCE7"/>
            </a:solidFill>
            <a:prstDash val="solid"/>
          </a:ln>
        </p:spPr>
      </p:sp>
      <p:sp>
        <p:nvSpPr>
          <p:cNvPr id="5" name="Text 3"/>
          <p:cNvSpPr/>
          <p:nvPr/>
        </p:nvSpPr>
        <p:spPr>
          <a:xfrm>
            <a:off x="932688" y="1600200"/>
            <a:ext cx="1325880" cy="292608"/>
          </a:xfrm>
          <a:prstGeom prst="rect">
            <a:avLst/>
          </a:prstGeom>
          <a:noFill/>
          <a:ln/>
        </p:spPr>
        <p:txBody>
          <a:bodyPr wrap="square" lIns="0" tIns="0" rIns="0" bIns="0" rtlCol="0" anchor="ctr"/>
          <a:lstStyle/>
          <a:p>
            <a:pPr indent="0" marL="0">
              <a:buNone/>
            </a:pPr>
            <a:r>
              <a:rPr lang="en-US" sz="1400" b="1" spc="80" kern="0" dirty="0">
                <a:solidFill>
                  <a:srgbClr val="15803D"/>
                </a:solidFill>
                <a:latin typeface="Calibri" pitchFamily="34" charset="0"/>
                <a:ea typeface="Calibri" pitchFamily="34" charset="-122"/>
                <a:cs typeface="Calibri" pitchFamily="34" charset="-120"/>
              </a:rPr>
              <a:t>COMPLETED</a:t>
            </a:r>
            <a:endParaRPr lang="en-US" sz="1400" dirty="0"/>
          </a:p>
        </p:txBody>
      </p:sp>
      <p:sp>
        <p:nvSpPr>
          <p:cNvPr id="6" name="Shape 4"/>
          <p:cNvSpPr/>
          <p:nvPr/>
        </p:nvSpPr>
        <p:spPr>
          <a:xfrm>
            <a:off x="950976" y="2148840"/>
            <a:ext cx="228600" cy="228600"/>
          </a:xfrm>
          <a:prstGeom prst="ellipse">
            <a:avLst/>
          </a:prstGeom>
          <a:solidFill>
            <a:srgbClr val="15803D"/>
          </a:solidFill>
          <a:ln w="12700">
            <a:solidFill>
              <a:srgbClr val="15803D"/>
            </a:solidFill>
            <a:prstDash val="solid"/>
          </a:ln>
        </p:spPr>
      </p:sp>
      <p:sp>
        <p:nvSpPr>
          <p:cNvPr id="7" name="Text 5"/>
          <p:cNvSpPr/>
          <p:nvPr/>
        </p:nvSpPr>
        <p:spPr>
          <a:xfrm>
            <a:off x="950976" y="2176272"/>
            <a:ext cx="228600" cy="109728"/>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a:t>
            </a:r>
            <a:endParaRPr lang="en-US" sz="800" dirty="0"/>
          </a:p>
        </p:txBody>
      </p:sp>
      <p:sp>
        <p:nvSpPr>
          <p:cNvPr id="8" name="Text 6"/>
          <p:cNvSpPr/>
          <p:nvPr/>
        </p:nvSpPr>
        <p:spPr>
          <a:xfrm>
            <a:off x="1353312" y="2112264"/>
            <a:ext cx="4069080" cy="274320"/>
          </a:xfrm>
          <a:prstGeom prst="rect">
            <a:avLst/>
          </a:prstGeom>
          <a:noFill/>
          <a:ln/>
        </p:spPr>
        <p:txBody>
          <a:bodyPr wrap="square" lIns="0" tIns="0" rIns="0" bIns="0" rtlCol="0" anchor="ctr">
            <a:normAutofit/>
          </a:bodyPr>
          <a:lstStyle/>
          <a:p>
            <a:pPr indent="0" marL="0">
              <a:buNone/>
            </a:pPr>
            <a:r>
              <a:rPr lang="en-US" sz="1350" dirty="0">
                <a:solidFill>
                  <a:srgbClr val="172033"/>
                </a:solidFill>
                <a:latin typeface="Calibri" pitchFamily="34" charset="0"/>
                <a:ea typeface="Calibri" pitchFamily="34" charset="-122"/>
                <a:cs typeface="Calibri" pitchFamily="34" charset="-120"/>
              </a:rPr>
              <a:t>Two literature-survey rounds</a:t>
            </a:r>
            <a:endParaRPr lang="en-US" sz="1350" dirty="0"/>
          </a:p>
        </p:txBody>
      </p:sp>
      <p:sp>
        <p:nvSpPr>
          <p:cNvPr id="9" name="Shape 7"/>
          <p:cNvSpPr/>
          <p:nvPr/>
        </p:nvSpPr>
        <p:spPr>
          <a:xfrm>
            <a:off x="950976" y="2660904"/>
            <a:ext cx="228600" cy="228600"/>
          </a:xfrm>
          <a:prstGeom prst="ellipse">
            <a:avLst/>
          </a:prstGeom>
          <a:solidFill>
            <a:srgbClr val="15803D"/>
          </a:solidFill>
          <a:ln w="12700">
            <a:solidFill>
              <a:srgbClr val="15803D"/>
            </a:solidFill>
            <a:prstDash val="solid"/>
          </a:ln>
        </p:spPr>
      </p:sp>
      <p:sp>
        <p:nvSpPr>
          <p:cNvPr id="10" name="Text 8"/>
          <p:cNvSpPr/>
          <p:nvPr/>
        </p:nvSpPr>
        <p:spPr>
          <a:xfrm>
            <a:off x="950976" y="2688336"/>
            <a:ext cx="228600" cy="109728"/>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a:t>
            </a:r>
            <a:endParaRPr lang="en-US" sz="800" dirty="0"/>
          </a:p>
        </p:txBody>
      </p:sp>
      <p:sp>
        <p:nvSpPr>
          <p:cNvPr id="11" name="Text 9"/>
          <p:cNvSpPr/>
          <p:nvPr/>
        </p:nvSpPr>
        <p:spPr>
          <a:xfrm>
            <a:off x="1353312" y="2624328"/>
            <a:ext cx="4069080" cy="274320"/>
          </a:xfrm>
          <a:prstGeom prst="rect">
            <a:avLst/>
          </a:prstGeom>
          <a:noFill/>
          <a:ln/>
        </p:spPr>
        <p:txBody>
          <a:bodyPr wrap="square" lIns="0" tIns="0" rIns="0" bIns="0" rtlCol="0" anchor="ctr">
            <a:normAutofit/>
          </a:bodyPr>
          <a:lstStyle/>
          <a:p>
            <a:pPr indent="0" marL="0">
              <a:buNone/>
            </a:pPr>
            <a:r>
              <a:rPr lang="en-US" sz="1350" dirty="0">
                <a:solidFill>
                  <a:srgbClr val="172033"/>
                </a:solidFill>
                <a:latin typeface="Calibri" pitchFamily="34" charset="0"/>
                <a:ea typeface="Calibri" pitchFamily="34" charset="-122"/>
                <a:cs typeface="Calibri" pitchFamily="34" charset="-120"/>
              </a:rPr>
              <a:t>15-paper core set + 3-paper watchlist</a:t>
            </a:r>
            <a:endParaRPr lang="en-US" sz="1350" dirty="0"/>
          </a:p>
        </p:txBody>
      </p:sp>
      <p:sp>
        <p:nvSpPr>
          <p:cNvPr id="12" name="Shape 10"/>
          <p:cNvSpPr/>
          <p:nvPr/>
        </p:nvSpPr>
        <p:spPr>
          <a:xfrm>
            <a:off x="950976" y="3172968"/>
            <a:ext cx="228600" cy="228600"/>
          </a:xfrm>
          <a:prstGeom prst="ellipse">
            <a:avLst/>
          </a:prstGeom>
          <a:solidFill>
            <a:srgbClr val="15803D"/>
          </a:solidFill>
          <a:ln w="12700">
            <a:solidFill>
              <a:srgbClr val="15803D"/>
            </a:solidFill>
            <a:prstDash val="solid"/>
          </a:ln>
        </p:spPr>
      </p:sp>
      <p:sp>
        <p:nvSpPr>
          <p:cNvPr id="13" name="Text 11"/>
          <p:cNvSpPr/>
          <p:nvPr/>
        </p:nvSpPr>
        <p:spPr>
          <a:xfrm>
            <a:off x="950976" y="3200400"/>
            <a:ext cx="228600" cy="109728"/>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a:t>
            </a:r>
            <a:endParaRPr lang="en-US" sz="800" dirty="0"/>
          </a:p>
        </p:txBody>
      </p:sp>
      <p:sp>
        <p:nvSpPr>
          <p:cNvPr id="14" name="Text 12"/>
          <p:cNvSpPr/>
          <p:nvPr/>
        </p:nvSpPr>
        <p:spPr>
          <a:xfrm>
            <a:off x="1353312" y="3136392"/>
            <a:ext cx="4069080" cy="274320"/>
          </a:xfrm>
          <a:prstGeom prst="rect">
            <a:avLst/>
          </a:prstGeom>
          <a:noFill/>
          <a:ln/>
        </p:spPr>
        <p:txBody>
          <a:bodyPr wrap="square" lIns="0" tIns="0" rIns="0" bIns="0" rtlCol="0" anchor="ctr">
            <a:normAutofit/>
          </a:bodyPr>
          <a:lstStyle/>
          <a:p>
            <a:pPr indent="0" marL="0">
              <a:buNone/>
            </a:pPr>
            <a:r>
              <a:rPr lang="en-US" sz="1350" dirty="0">
                <a:solidFill>
                  <a:srgbClr val="172033"/>
                </a:solidFill>
                <a:latin typeface="Calibri" pitchFamily="34" charset="0"/>
                <a:ea typeface="Calibri" pitchFamily="34" charset="-122"/>
                <a:cs typeface="Calibri" pitchFamily="34" charset="-120"/>
              </a:rPr>
              <a:t>Research gap and contribution logic</a:t>
            </a:r>
            <a:endParaRPr lang="en-US" sz="1350" dirty="0"/>
          </a:p>
        </p:txBody>
      </p:sp>
      <p:sp>
        <p:nvSpPr>
          <p:cNvPr id="15" name="Shape 13"/>
          <p:cNvSpPr/>
          <p:nvPr/>
        </p:nvSpPr>
        <p:spPr>
          <a:xfrm>
            <a:off x="950976" y="3685032"/>
            <a:ext cx="228600" cy="228600"/>
          </a:xfrm>
          <a:prstGeom prst="ellipse">
            <a:avLst/>
          </a:prstGeom>
          <a:solidFill>
            <a:srgbClr val="15803D"/>
          </a:solidFill>
          <a:ln w="12700">
            <a:solidFill>
              <a:srgbClr val="15803D"/>
            </a:solidFill>
            <a:prstDash val="solid"/>
          </a:ln>
        </p:spPr>
      </p:sp>
      <p:sp>
        <p:nvSpPr>
          <p:cNvPr id="16" name="Text 14"/>
          <p:cNvSpPr/>
          <p:nvPr/>
        </p:nvSpPr>
        <p:spPr>
          <a:xfrm>
            <a:off x="950976" y="3712464"/>
            <a:ext cx="228600" cy="109728"/>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a:t>
            </a:r>
            <a:endParaRPr lang="en-US" sz="800" dirty="0"/>
          </a:p>
        </p:txBody>
      </p:sp>
      <p:sp>
        <p:nvSpPr>
          <p:cNvPr id="17" name="Text 15"/>
          <p:cNvSpPr/>
          <p:nvPr/>
        </p:nvSpPr>
        <p:spPr>
          <a:xfrm>
            <a:off x="1353312" y="3648456"/>
            <a:ext cx="4069080" cy="274320"/>
          </a:xfrm>
          <a:prstGeom prst="rect">
            <a:avLst/>
          </a:prstGeom>
          <a:noFill/>
          <a:ln/>
        </p:spPr>
        <p:txBody>
          <a:bodyPr wrap="square" lIns="0" tIns="0" rIns="0" bIns="0" rtlCol="0" anchor="ctr">
            <a:normAutofit/>
          </a:bodyPr>
          <a:lstStyle/>
          <a:p>
            <a:pPr indent="0" marL="0">
              <a:buNone/>
            </a:pPr>
            <a:r>
              <a:rPr lang="en-US" sz="1350" dirty="0">
                <a:solidFill>
                  <a:srgbClr val="172033"/>
                </a:solidFill>
                <a:latin typeface="Calibri" pitchFamily="34" charset="0"/>
                <a:ea typeface="Calibri" pitchFamily="34" charset="-122"/>
                <a:cs typeface="Calibri" pitchFamily="34" charset="-120"/>
              </a:rPr>
              <a:t>Controlled annotation protocol</a:t>
            </a:r>
            <a:endParaRPr lang="en-US" sz="1350" dirty="0"/>
          </a:p>
        </p:txBody>
      </p:sp>
      <p:sp>
        <p:nvSpPr>
          <p:cNvPr id="18" name="Shape 16"/>
          <p:cNvSpPr/>
          <p:nvPr/>
        </p:nvSpPr>
        <p:spPr>
          <a:xfrm>
            <a:off x="950976" y="4197096"/>
            <a:ext cx="228600" cy="228600"/>
          </a:xfrm>
          <a:prstGeom prst="ellipse">
            <a:avLst/>
          </a:prstGeom>
          <a:solidFill>
            <a:srgbClr val="15803D"/>
          </a:solidFill>
          <a:ln w="12700">
            <a:solidFill>
              <a:srgbClr val="15803D"/>
            </a:solidFill>
            <a:prstDash val="solid"/>
          </a:ln>
        </p:spPr>
      </p:sp>
      <p:sp>
        <p:nvSpPr>
          <p:cNvPr id="19" name="Text 17"/>
          <p:cNvSpPr/>
          <p:nvPr/>
        </p:nvSpPr>
        <p:spPr>
          <a:xfrm>
            <a:off x="950976" y="4224528"/>
            <a:ext cx="228600" cy="109728"/>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a:t>
            </a:r>
            <a:endParaRPr lang="en-US" sz="800" dirty="0"/>
          </a:p>
        </p:txBody>
      </p:sp>
      <p:sp>
        <p:nvSpPr>
          <p:cNvPr id="20" name="Text 18"/>
          <p:cNvSpPr/>
          <p:nvPr/>
        </p:nvSpPr>
        <p:spPr>
          <a:xfrm>
            <a:off x="1353312" y="4160520"/>
            <a:ext cx="4069080" cy="274320"/>
          </a:xfrm>
          <a:prstGeom prst="rect">
            <a:avLst/>
          </a:prstGeom>
          <a:noFill/>
          <a:ln/>
        </p:spPr>
        <p:txBody>
          <a:bodyPr wrap="square" lIns="0" tIns="0" rIns="0" bIns="0" rtlCol="0" anchor="ctr">
            <a:normAutofit/>
          </a:bodyPr>
          <a:lstStyle/>
          <a:p>
            <a:pPr indent="0" marL="0">
              <a:buNone/>
            </a:pPr>
            <a:r>
              <a:rPr lang="en-US" sz="1350" dirty="0">
                <a:solidFill>
                  <a:srgbClr val="172033"/>
                </a:solidFill>
                <a:latin typeface="Calibri" pitchFamily="34" charset="0"/>
                <a:ea typeface="Calibri" pitchFamily="34" charset="-122"/>
                <a:cs typeface="Calibri" pitchFamily="34" charset="-120"/>
              </a:rPr>
              <a:t>Research proposal draft</a:t>
            </a:r>
            <a:endParaRPr lang="en-US" sz="1350" dirty="0"/>
          </a:p>
        </p:txBody>
      </p:sp>
      <p:sp>
        <p:nvSpPr>
          <p:cNvPr id="21" name="Shape 19"/>
          <p:cNvSpPr/>
          <p:nvPr/>
        </p:nvSpPr>
        <p:spPr>
          <a:xfrm>
            <a:off x="950976" y="4709160"/>
            <a:ext cx="228600" cy="228600"/>
          </a:xfrm>
          <a:prstGeom prst="ellipse">
            <a:avLst/>
          </a:prstGeom>
          <a:solidFill>
            <a:srgbClr val="15803D"/>
          </a:solidFill>
          <a:ln w="12700">
            <a:solidFill>
              <a:srgbClr val="15803D"/>
            </a:solidFill>
            <a:prstDash val="solid"/>
          </a:ln>
        </p:spPr>
      </p:sp>
      <p:sp>
        <p:nvSpPr>
          <p:cNvPr id="22" name="Text 20"/>
          <p:cNvSpPr/>
          <p:nvPr/>
        </p:nvSpPr>
        <p:spPr>
          <a:xfrm>
            <a:off x="950976" y="4736592"/>
            <a:ext cx="228600" cy="109728"/>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a:t>
            </a:r>
            <a:endParaRPr lang="en-US" sz="800" dirty="0"/>
          </a:p>
        </p:txBody>
      </p:sp>
      <p:sp>
        <p:nvSpPr>
          <p:cNvPr id="23" name="Text 21"/>
          <p:cNvSpPr/>
          <p:nvPr/>
        </p:nvSpPr>
        <p:spPr>
          <a:xfrm>
            <a:off x="1353312" y="4672584"/>
            <a:ext cx="4069080" cy="274320"/>
          </a:xfrm>
          <a:prstGeom prst="rect">
            <a:avLst/>
          </a:prstGeom>
          <a:noFill/>
          <a:ln/>
        </p:spPr>
        <p:txBody>
          <a:bodyPr wrap="square" lIns="0" tIns="0" rIns="0" bIns="0" rtlCol="0" anchor="ctr">
            <a:normAutofit/>
          </a:bodyPr>
          <a:lstStyle/>
          <a:p>
            <a:pPr indent="0" marL="0">
              <a:buNone/>
            </a:pPr>
            <a:r>
              <a:rPr lang="en-US" sz="1350" dirty="0">
                <a:solidFill>
                  <a:srgbClr val="172033"/>
                </a:solidFill>
                <a:latin typeface="Calibri" pitchFamily="34" charset="0"/>
                <a:ea typeface="Calibri" pitchFamily="34" charset="-122"/>
                <a:cs typeface="Calibri" pitchFamily="34" charset="-120"/>
              </a:rPr>
              <a:t>Direct dataset audit: 9,990 reviews</a:t>
            </a:r>
            <a:endParaRPr lang="en-US" sz="1350" dirty="0"/>
          </a:p>
        </p:txBody>
      </p:sp>
      <p:sp>
        <p:nvSpPr>
          <p:cNvPr id="24" name="Shape 22"/>
          <p:cNvSpPr/>
          <p:nvPr/>
        </p:nvSpPr>
        <p:spPr>
          <a:xfrm>
            <a:off x="6199632" y="1261872"/>
            <a:ext cx="5349240" cy="4434840"/>
          </a:xfrm>
          <a:prstGeom prst="roundRect">
            <a:avLst>
              <a:gd name="adj" fmla="val 1649"/>
            </a:avLst>
          </a:prstGeom>
          <a:solidFill>
            <a:srgbClr val="FEF3C7"/>
          </a:solidFill>
          <a:ln w="12700">
            <a:solidFill>
              <a:srgbClr val="FEF3C7"/>
            </a:solidFill>
            <a:prstDash val="solid"/>
          </a:ln>
        </p:spPr>
      </p:sp>
      <p:sp>
        <p:nvSpPr>
          <p:cNvPr id="25" name="Text 23"/>
          <p:cNvSpPr/>
          <p:nvPr/>
        </p:nvSpPr>
        <p:spPr>
          <a:xfrm>
            <a:off x="6473952" y="1600200"/>
            <a:ext cx="2377440" cy="292608"/>
          </a:xfrm>
          <a:prstGeom prst="rect">
            <a:avLst/>
          </a:prstGeom>
          <a:noFill/>
          <a:ln/>
        </p:spPr>
        <p:txBody>
          <a:bodyPr wrap="square" lIns="0" tIns="0" rIns="0" bIns="0" rtlCol="0" anchor="ctr"/>
          <a:lstStyle/>
          <a:p>
            <a:pPr indent="0" marL="0">
              <a:buNone/>
            </a:pPr>
            <a:r>
              <a:rPr lang="en-US" sz="1400" b="1" spc="60" kern="0" dirty="0">
                <a:solidFill>
                  <a:srgbClr val="D97706"/>
                </a:solidFill>
                <a:latin typeface="Calibri" pitchFamily="34" charset="0"/>
                <a:ea typeface="Calibri" pitchFamily="34" charset="-122"/>
                <a:cs typeface="Calibri" pitchFamily="34" charset="-120"/>
              </a:rPr>
              <a:t>OPEN / MUST BE VALIDATED</a:t>
            </a:r>
            <a:endParaRPr lang="en-US" sz="1400" dirty="0"/>
          </a:p>
        </p:txBody>
      </p:sp>
      <p:sp>
        <p:nvSpPr>
          <p:cNvPr id="26" name="Shape 24"/>
          <p:cNvSpPr/>
          <p:nvPr/>
        </p:nvSpPr>
        <p:spPr>
          <a:xfrm>
            <a:off x="6510528" y="2148840"/>
            <a:ext cx="228600" cy="228600"/>
          </a:xfrm>
          <a:prstGeom prst="ellipse">
            <a:avLst/>
          </a:prstGeom>
          <a:solidFill>
            <a:srgbClr val="F59E0B"/>
          </a:solidFill>
          <a:ln w="12700">
            <a:solidFill>
              <a:srgbClr val="F59E0B"/>
            </a:solidFill>
            <a:prstDash val="solid"/>
          </a:ln>
        </p:spPr>
      </p:sp>
      <p:sp>
        <p:nvSpPr>
          <p:cNvPr id="27" name="Text 25"/>
          <p:cNvSpPr/>
          <p:nvPr/>
        </p:nvSpPr>
        <p:spPr>
          <a:xfrm>
            <a:off x="6510528" y="2176272"/>
            <a:ext cx="228600" cy="109728"/>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a:t>
            </a:r>
            <a:endParaRPr lang="en-US" sz="850" dirty="0"/>
          </a:p>
        </p:txBody>
      </p:sp>
      <p:sp>
        <p:nvSpPr>
          <p:cNvPr id="28" name="Text 26"/>
          <p:cNvSpPr/>
          <p:nvPr/>
        </p:nvSpPr>
        <p:spPr>
          <a:xfrm>
            <a:off x="6912864" y="2112264"/>
            <a:ext cx="4160520" cy="274320"/>
          </a:xfrm>
          <a:prstGeom prst="rect">
            <a:avLst/>
          </a:prstGeom>
          <a:noFill/>
          <a:ln/>
        </p:spPr>
        <p:txBody>
          <a:bodyPr wrap="square" lIns="0" tIns="0" rIns="0" bIns="0" rtlCol="0" anchor="ctr">
            <a:normAutofit/>
          </a:bodyPr>
          <a:lstStyle/>
          <a:p>
            <a:pPr indent="0" marL="0">
              <a:buNone/>
            </a:pPr>
            <a:r>
              <a:rPr lang="en-US" sz="1350" dirty="0">
                <a:solidFill>
                  <a:srgbClr val="172033"/>
                </a:solidFill>
                <a:latin typeface="Calibri" pitchFamily="34" charset="0"/>
                <a:ea typeface="Calibri" pitchFamily="34" charset="-122"/>
                <a:cs typeface="Calibri" pitchFamily="34" charset="-120"/>
              </a:rPr>
              <a:t>True inconsistency prevalence</a:t>
            </a:r>
            <a:endParaRPr lang="en-US" sz="1350" dirty="0"/>
          </a:p>
        </p:txBody>
      </p:sp>
      <p:sp>
        <p:nvSpPr>
          <p:cNvPr id="29" name="Shape 27"/>
          <p:cNvSpPr/>
          <p:nvPr/>
        </p:nvSpPr>
        <p:spPr>
          <a:xfrm>
            <a:off x="6510528" y="2660904"/>
            <a:ext cx="228600" cy="228600"/>
          </a:xfrm>
          <a:prstGeom prst="ellipse">
            <a:avLst/>
          </a:prstGeom>
          <a:solidFill>
            <a:srgbClr val="F59E0B"/>
          </a:solidFill>
          <a:ln w="12700">
            <a:solidFill>
              <a:srgbClr val="F59E0B"/>
            </a:solidFill>
            <a:prstDash val="solid"/>
          </a:ln>
        </p:spPr>
      </p:sp>
      <p:sp>
        <p:nvSpPr>
          <p:cNvPr id="30" name="Text 28"/>
          <p:cNvSpPr/>
          <p:nvPr/>
        </p:nvSpPr>
        <p:spPr>
          <a:xfrm>
            <a:off x="6510528" y="2688336"/>
            <a:ext cx="228600" cy="109728"/>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a:t>
            </a:r>
            <a:endParaRPr lang="en-US" sz="850" dirty="0"/>
          </a:p>
        </p:txBody>
      </p:sp>
      <p:sp>
        <p:nvSpPr>
          <p:cNvPr id="31" name="Text 29"/>
          <p:cNvSpPr/>
          <p:nvPr/>
        </p:nvSpPr>
        <p:spPr>
          <a:xfrm>
            <a:off x="6912864" y="2624328"/>
            <a:ext cx="4160520" cy="274320"/>
          </a:xfrm>
          <a:prstGeom prst="rect">
            <a:avLst/>
          </a:prstGeom>
          <a:noFill/>
          <a:ln/>
        </p:spPr>
        <p:txBody>
          <a:bodyPr wrap="square" lIns="0" tIns="0" rIns="0" bIns="0" rtlCol="0" anchor="ctr">
            <a:normAutofit/>
          </a:bodyPr>
          <a:lstStyle/>
          <a:p>
            <a:pPr indent="0" marL="0">
              <a:buNone/>
            </a:pPr>
            <a:r>
              <a:rPr lang="en-US" sz="1350" dirty="0">
                <a:solidFill>
                  <a:srgbClr val="172033"/>
                </a:solidFill>
                <a:latin typeface="Calibri" pitchFamily="34" charset="0"/>
                <a:ea typeface="Calibri" pitchFamily="34" charset="-122"/>
                <a:cs typeface="Calibri" pitchFamily="34" charset="-120"/>
              </a:rPr>
              <a:t>Best sentiment estimator</a:t>
            </a:r>
            <a:endParaRPr lang="en-US" sz="1350" dirty="0"/>
          </a:p>
        </p:txBody>
      </p:sp>
      <p:sp>
        <p:nvSpPr>
          <p:cNvPr id="32" name="Shape 30"/>
          <p:cNvSpPr/>
          <p:nvPr/>
        </p:nvSpPr>
        <p:spPr>
          <a:xfrm>
            <a:off x="6510528" y="3172968"/>
            <a:ext cx="228600" cy="228600"/>
          </a:xfrm>
          <a:prstGeom prst="ellipse">
            <a:avLst/>
          </a:prstGeom>
          <a:solidFill>
            <a:srgbClr val="F59E0B"/>
          </a:solidFill>
          <a:ln w="12700">
            <a:solidFill>
              <a:srgbClr val="F59E0B"/>
            </a:solidFill>
            <a:prstDash val="solid"/>
          </a:ln>
        </p:spPr>
      </p:sp>
      <p:sp>
        <p:nvSpPr>
          <p:cNvPr id="33" name="Text 31"/>
          <p:cNvSpPr/>
          <p:nvPr/>
        </p:nvSpPr>
        <p:spPr>
          <a:xfrm>
            <a:off x="6510528" y="3200400"/>
            <a:ext cx="228600" cy="109728"/>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a:t>
            </a:r>
            <a:endParaRPr lang="en-US" sz="850" dirty="0"/>
          </a:p>
        </p:txBody>
      </p:sp>
      <p:sp>
        <p:nvSpPr>
          <p:cNvPr id="34" name="Text 32"/>
          <p:cNvSpPr/>
          <p:nvPr/>
        </p:nvSpPr>
        <p:spPr>
          <a:xfrm>
            <a:off x="6912864" y="3136392"/>
            <a:ext cx="4160520" cy="274320"/>
          </a:xfrm>
          <a:prstGeom prst="rect">
            <a:avLst/>
          </a:prstGeom>
          <a:noFill/>
          <a:ln/>
        </p:spPr>
        <p:txBody>
          <a:bodyPr wrap="square" lIns="0" tIns="0" rIns="0" bIns="0" rtlCol="0" anchor="ctr">
            <a:normAutofit/>
          </a:bodyPr>
          <a:lstStyle/>
          <a:p>
            <a:pPr indent="0" marL="0">
              <a:buNone/>
            </a:pPr>
            <a:r>
              <a:rPr lang="en-US" sz="1350" dirty="0">
                <a:solidFill>
                  <a:srgbClr val="172033"/>
                </a:solidFill>
                <a:latin typeface="Calibri" pitchFamily="34" charset="0"/>
                <a:ea typeface="Calibri" pitchFamily="34" charset="-122"/>
                <a:cs typeface="Calibri" pitchFamily="34" charset="-120"/>
              </a:rPr>
              <a:t>Normalization and threshold</a:t>
            </a:r>
            <a:endParaRPr lang="en-US" sz="1350" dirty="0"/>
          </a:p>
        </p:txBody>
      </p:sp>
      <p:sp>
        <p:nvSpPr>
          <p:cNvPr id="35" name="Shape 33"/>
          <p:cNvSpPr/>
          <p:nvPr/>
        </p:nvSpPr>
        <p:spPr>
          <a:xfrm>
            <a:off x="6510528" y="3685032"/>
            <a:ext cx="228600" cy="228600"/>
          </a:xfrm>
          <a:prstGeom prst="ellipse">
            <a:avLst/>
          </a:prstGeom>
          <a:solidFill>
            <a:srgbClr val="F59E0B"/>
          </a:solidFill>
          <a:ln w="12700">
            <a:solidFill>
              <a:srgbClr val="F59E0B"/>
            </a:solidFill>
            <a:prstDash val="solid"/>
          </a:ln>
        </p:spPr>
      </p:sp>
      <p:sp>
        <p:nvSpPr>
          <p:cNvPr id="36" name="Text 34"/>
          <p:cNvSpPr/>
          <p:nvPr/>
        </p:nvSpPr>
        <p:spPr>
          <a:xfrm>
            <a:off x="6510528" y="3712464"/>
            <a:ext cx="228600" cy="109728"/>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a:t>
            </a:r>
            <a:endParaRPr lang="en-US" sz="850" dirty="0"/>
          </a:p>
        </p:txBody>
      </p:sp>
      <p:sp>
        <p:nvSpPr>
          <p:cNvPr id="37" name="Text 35"/>
          <p:cNvSpPr/>
          <p:nvPr/>
        </p:nvSpPr>
        <p:spPr>
          <a:xfrm>
            <a:off x="6912864" y="3648456"/>
            <a:ext cx="4160520" cy="274320"/>
          </a:xfrm>
          <a:prstGeom prst="rect">
            <a:avLst/>
          </a:prstGeom>
          <a:noFill/>
          <a:ln/>
        </p:spPr>
        <p:txBody>
          <a:bodyPr wrap="square" lIns="0" tIns="0" rIns="0" bIns="0" rtlCol="0" anchor="ctr">
            <a:normAutofit/>
          </a:bodyPr>
          <a:lstStyle/>
          <a:p>
            <a:pPr indent="0" marL="0">
              <a:buNone/>
            </a:pPr>
            <a:r>
              <a:rPr lang="en-US" sz="1350" dirty="0">
                <a:solidFill>
                  <a:srgbClr val="172033"/>
                </a:solidFill>
                <a:latin typeface="Calibri" pitchFamily="34" charset="0"/>
                <a:ea typeface="Calibri" pitchFamily="34" charset="-122"/>
                <a:cs typeface="Calibri" pitchFamily="34" charset="-120"/>
              </a:rPr>
              <a:t>Final discrepancy measure</a:t>
            </a:r>
            <a:endParaRPr lang="en-US" sz="1350" dirty="0"/>
          </a:p>
        </p:txBody>
      </p:sp>
      <p:sp>
        <p:nvSpPr>
          <p:cNvPr id="38" name="Shape 36"/>
          <p:cNvSpPr/>
          <p:nvPr/>
        </p:nvSpPr>
        <p:spPr>
          <a:xfrm>
            <a:off x="6510528" y="4197096"/>
            <a:ext cx="228600" cy="228600"/>
          </a:xfrm>
          <a:prstGeom prst="ellipse">
            <a:avLst/>
          </a:prstGeom>
          <a:solidFill>
            <a:srgbClr val="F59E0B"/>
          </a:solidFill>
          <a:ln w="12700">
            <a:solidFill>
              <a:srgbClr val="F59E0B"/>
            </a:solidFill>
            <a:prstDash val="solid"/>
          </a:ln>
        </p:spPr>
      </p:sp>
      <p:sp>
        <p:nvSpPr>
          <p:cNvPr id="39" name="Text 37"/>
          <p:cNvSpPr/>
          <p:nvPr/>
        </p:nvSpPr>
        <p:spPr>
          <a:xfrm>
            <a:off x="6510528" y="4224528"/>
            <a:ext cx="228600" cy="109728"/>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a:t>
            </a:r>
            <a:endParaRPr lang="en-US" sz="850" dirty="0"/>
          </a:p>
        </p:txBody>
      </p:sp>
      <p:sp>
        <p:nvSpPr>
          <p:cNvPr id="40" name="Text 38"/>
          <p:cNvSpPr/>
          <p:nvPr/>
        </p:nvSpPr>
        <p:spPr>
          <a:xfrm>
            <a:off x="6912864" y="4160520"/>
            <a:ext cx="4160520" cy="274320"/>
          </a:xfrm>
          <a:prstGeom prst="rect">
            <a:avLst/>
          </a:prstGeom>
          <a:noFill/>
          <a:ln/>
        </p:spPr>
        <p:txBody>
          <a:bodyPr wrap="square" lIns="0" tIns="0" rIns="0" bIns="0" rtlCol="0" anchor="ctr">
            <a:normAutofit/>
          </a:bodyPr>
          <a:lstStyle/>
          <a:p>
            <a:pPr indent="0" marL="0">
              <a:buNone/>
            </a:pPr>
            <a:r>
              <a:rPr lang="en-US" sz="1350" dirty="0">
                <a:solidFill>
                  <a:srgbClr val="172033"/>
                </a:solidFill>
                <a:latin typeface="Calibri" pitchFamily="34" charset="0"/>
                <a:ea typeface="Calibri" pitchFamily="34" charset="-122"/>
                <a:cs typeface="Calibri" pitchFamily="34" charset="-120"/>
              </a:rPr>
              <a:t>Construct validity of Sublimation / Anger</a:t>
            </a:r>
            <a:endParaRPr lang="en-US" sz="1350" dirty="0"/>
          </a:p>
        </p:txBody>
      </p:sp>
      <p:sp>
        <p:nvSpPr>
          <p:cNvPr id="41" name="Shape 39"/>
          <p:cNvSpPr/>
          <p:nvPr/>
        </p:nvSpPr>
        <p:spPr>
          <a:xfrm>
            <a:off x="6510528" y="4709160"/>
            <a:ext cx="228600" cy="228600"/>
          </a:xfrm>
          <a:prstGeom prst="ellipse">
            <a:avLst/>
          </a:prstGeom>
          <a:solidFill>
            <a:srgbClr val="F59E0B"/>
          </a:solidFill>
          <a:ln w="12700">
            <a:solidFill>
              <a:srgbClr val="F59E0B"/>
            </a:solidFill>
            <a:prstDash val="solid"/>
          </a:ln>
        </p:spPr>
      </p:sp>
      <p:sp>
        <p:nvSpPr>
          <p:cNvPr id="42" name="Text 40"/>
          <p:cNvSpPr/>
          <p:nvPr/>
        </p:nvSpPr>
        <p:spPr>
          <a:xfrm>
            <a:off x="6510528" y="4736592"/>
            <a:ext cx="228600" cy="109728"/>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a:t>
            </a:r>
            <a:endParaRPr lang="en-US" sz="850" dirty="0"/>
          </a:p>
        </p:txBody>
      </p:sp>
      <p:sp>
        <p:nvSpPr>
          <p:cNvPr id="43" name="Text 41"/>
          <p:cNvSpPr/>
          <p:nvPr/>
        </p:nvSpPr>
        <p:spPr>
          <a:xfrm>
            <a:off x="6912864" y="4672584"/>
            <a:ext cx="4160520" cy="274320"/>
          </a:xfrm>
          <a:prstGeom prst="rect">
            <a:avLst/>
          </a:prstGeom>
          <a:noFill/>
          <a:ln/>
        </p:spPr>
        <p:txBody>
          <a:bodyPr wrap="square" lIns="0" tIns="0" rIns="0" bIns="0" rtlCol="0" anchor="ctr">
            <a:normAutofit/>
          </a:bodyPr>
          <a:lstStyle/>
          <a:p>
            <a:pPr indent="0" marL="0">
              <a:buNone/>
            </a:pPr>
            <a:r>
              <a:rPr lang="en-US" sz="1350" dirty="0">
                <a:solidFill>
                  <a:srgbClr val="172033"/>
                </a:solidFill>
                <a:latin typeface="Calibri" pitchFamily="34" charset="0"/>
                <a:ea typeface="Calibri" pitchFamily="34" charset="-122"/>
                <a:cs typeface="Calibri" pitchFamily="34" charset="-120"/>
              </a:rPr>
              <a:t>Buffering effect on observed ratings</a:t>
            </a:r>
            <a:endParaRPr lang="en-US" sz="1350" dirty="0"/>
          </a:p>
        </p:txBody>
      </p:sp>
      <p:sp>
        <p:nvSpPr>
          <p:cNvPr id="44" name="Text 42"/>
          <p:cNvSpPr/>
          <p:nvPr/>
        </p:nvSpPr>
        <p:spPr>
          <a:xfrm>
            <a:off x="868680" y="5879592"/>
            <a:ext cx="1097280" cy="201168"/>
          </a:xfrm>
          <a:prstGeom prst="rect">
            <a:avLst/>
          </a:prstGeom>
          <a:noFill/>
          <a:ln/>
        </p:spPr>
        <p:txBody>
          <a:bodyPr wrap="square" lIns="0" tIns="0" rIns="0" bIns="0" rtlCol="0" anchor="ctr"/>
          <a:lstStyle/>
          <a:p>
            <a:pPr indent="0" marL="0">
              <a:buNone/>
            </a:pPr>
            <a:r>
              <a:rPr lang="en-US" sz="1100" b="1" dirty="0">
                <a:solidFill>
                  <a:srgbClr val="0F766E"/>
                </a:solidFill>
                <a:latin typeface="Calibri" pitchFamily="34" charset="0"/>
                <a:ea typeface="Calibri" pitchFamily="34" charset="-122"/>
                <a:cs typeface="Calibri" pitchFamily="34" charset="-120"/>
              </a:rPr>
              <a:t>Current phase</a:t>
            </a:r>
            <a:endParaRPr lang="en-US" sz="1100" dirty="0"/>
          </a:p>
        </p:txBody>
      </p:sp>
      <p:sp>
        <p:nvSpPr>
          <p:cNvPr id="45" name="Text 43"/>
          <p:cNvSpPr/>
          <p:nvPr/>
        </p:nvSpPr>
        <p:spPr>
          <a:xfrm>
            <a:off x="1874520" y="5843016"/>
            <a:ext cx="6400800" cy="246888"/>
          </a:xfrm>
          <a:prstGeom prst="rect">
            <a:avLst/>
          </a:prstGeom>
          <a:noFill/>
          <a:ln/>
        </p:spPr>
        <p:txBody>
          <a:bodyPr wrap="square" lIns="0" tIns="0" rIns="0" bIns="0" rtlCol="0" anchor="ctr">
            <a:normAutofit/>
          </a:bodyPr>
          <a:lstStyle/>
          <a:p>
            <a:pPr indent="0" marL="0">
              <a:buNone/>
            </a:pPr>
            <a:r>
              <a:rPr lang="en-US" sz="1300" b="1" dirty="0">
                <a:solidFill>
                  <a:srgbClr val="172033"/>
                </a:solidFill>
                <a:latin typeface="Calibri" pitchFamily="34" charset="0"/>
                <a:ea typeface="Calibri" pitchFamily="34" charset="-122"/>
                <a:cs typeface="Calibri" pitchFamily="34" charset="-120"/>
              </a:rPr>
              <a:t>B1 schema/EDA  →  B2 evaluation set  →  B3 independent annotation</a:t>
            </a:r>
            <a:endParaRPr lang="en-US" sz="1300" dirty="0"/>
          </a:p>
        </p:txBody>
      </p:sp>
      <p:sp>
        <p:nvSpPr>
          <p:cNvPr id="46" name="Text 44"/>
          <p:cNvSpPr/>
          <p:nvPr/>
        </p:nvSpPr>
        <p:spPr>
          <a:xfrm>
            <a:off x="8732520" y="5843016"/>
            <a:ext cx="2423160" cy="246888"/>
          </a:xfrm>
          <a:prstGeom prst="rect">
            <a:avLst/>
          </a:prstGeom>
          <a:noFill/>
          <a:ln/>
        </p:spPr>
        <p:txBody>
          <a:bodyPr wrap="square" lIns="0" tIns="0" rIns="0" bIns="0" rtlCol="0" anchor="ctr"/>
          <a:lstStyle/>
          <a:p>
            <a:pPr algn="r" indent="0" marL="0">
              <a:buNone/>
            </a:pPr>
            <a:r>
              <a:rPr lang="en-US" sz="1300" b="1" dirty="0">
                <a:solidFill>
                  <a:srgbClr val="7C3AED"/>
                </a:solidFill>
                <a:latin typeface="Calibri" pitchFamily="34" charset="0"/>
                <a:ea typeface="Calibri" pitchFamily="34" charset="-122"/>
                <a:cs typeface="Calibri" pitchFamily="34" charset="-120"/>
              </a:rPr>
              <a:t>Next milestone: RDR-0003</a:t>
            </a:r>
            <a:endParaRPr lang="en-US" sz="1300" dirty="0"/>
          </a:p>
        </p:txBody>
      </p:sp>
      <p:sp>
        <p:nvSpPr>
          <p:cNvPr id="47" name="Text 45"/>
          <p:cNvSpPr/>
          <p:nvPr/>
        </p:nvSpPr>
        <p:spPr>
          <a:xfrm>
            <a:off x="640080" y="6172200"/>
            <a:ext cx="10607040" cy="164592"/>
          </a:xfrm>
          <a:prstGeom prst="rect">
            <a:avLst/>
          </a:prstGeom>
          <a:noFill/>
          <a:ln/>
        </p:spPr>
        <p:txBody>
          <a:bodyPr wrap="square" lIns="0" tIns="0" rIns="0" bIns="0" rtlCol="0" anchor="ctr">
            <a:normAutofit/>
          </a:bodyPr>
          <a:lstStyle/>
          <a:p>
            <a:pPr indent="0" marL="0">
              <a:buNone/>
            </a:pPr>
            <a:r>
              <a:rPr lang="en-US" sz="850" i="1" dirty="0">
                <a:solidFill>
                  <a:srgbClr val="64748B"/>
                </a:solidFill>
                <a:latin typeface="Calibri" pitchFamily="34" charset="0"/>
                <a:ea typeface="Calibri" pitchFamily="34" charset="-122"/>
                <a:cs typeface="Calibri" pitchFamily="34" charset="-120"/>
              </a:rPr>
              <a:t>Source: STATUS.md, project overview, proposal draft, and survey synthesis.</a:t>
            </a:r>
            <a:endParaRPr lang="en-US" sz="850" dirty="0"/>
          </a:p>
        </p:txBody>
      </p:sp>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58368" y="658368"/>
            <a:ext cx="6766560" cy="548640"/>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Discussion with the supervisor</a:t>
            </a:r>
            <a:endParaRPr lang="en-US" sz="3100" dirty="0"/>
          </a:p>
        </p:txBody>
      </p:sp>
      <p:sp>
        <p:nvSpPr>
          <p:cNvPr id="3" name="Text 1"/>
          <p:cNvSpPr/>
          <p:nvPr/>
        </p:nvSpPr>
        <p:spPr>
          <a:xfrm>
            <a:off x="676656" y="1353312"/>
            <a:ext cx="5029200" cy="292608"/>
          </a:xfrm>
          <a:prstGeom prst="rect">
            <a:avLst/>
          </a:prstGeom>
          <a:noFill/>
          <a:ln/>
        </p:spPr>
        <p:txBody>
          <a:bodyPr wrap="square" lIns="0" tIns="0" rIns="0" bIns="0" rtlCol="0" anchor="ctr"/>
          <a:lstStyle/>
          <a:p>
            <a:pPr indent="0" marL="0">
              <a:buNone/>
            </a:pPr>
            <a:r>
              <a:rPr lang="en-US" sz="1500" dirty="0">
                <a:solidFill>
                  <a:srgbClr val="CBD5E1"/>
                </a:solidFill>
                <a:latin typeface="Calibri" pitchFamily="34" charset="0"/>
                <a:ea typeface="Calibri" pitchFamily="34" charset="-122"/>
                <a:cs typeface="Calibri" pitchFamily="34" charset="-120"/>
              </a:rPr>
              <a:t>Three decisions would unblock the next phase</a:t>
            </a:r>
            <a:endParaRPr lang="en-US" sz="1500" dirty="0"/>
          </a:p>
        </p:txBody>
      </p:sp>
      <p:sp>
        <p:nvSpPr>
          <p:cNvPr id="4" name="Shape 2"/>
          <p:cNvSpPr/>
          <p:nvPr/>
        </p:nvSpPr>
        <p:spPr>
          <a:xfrm>
            <a:off x="713232" y="2011680"/>
            <a:ext cx="621792" cy="621792"/>
          </a:xfrm>
          <a:prstGeom prst="ellipse">
            <a:avLst/>
          </a:prstGeom>
          <a:solidFill>
            <a:srgbClr val="0F766E"/>
          </a:solidFill>
          <a:ln w="19050">
            <a:solidFill>
              <a:srgbClr val="14B8A6"/>
            </a:solidFill>
            <a:prstDash val="solid"/>
          </a:ln>
        </p:spPr>
      </p:sp>
      <p:sp>
        <p:nvSpPr>
          <p:cNvPr id="5" name="Text 3"/>
          <p:cNvSpPr/>
          <p:nvPr/>
        </p:nvSpPr>
        <p:spPr>
          <a:xfrm>
            <a:off x="713232" y="2212848"/>
            <a:ext cx="621792" cy="1828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6" name="Text 4"/>
          <p:cNvSpPr/>
          <p:nvPr/>
        </p:nvSpPr>
        <p:spPr>
          <a:xfrm>
            <a:off x="1600200" y="2029968"/>
            <a:ext cx="1920240" cy="2743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Scope</a:t>
            </a:r>
            <a:endParaRPr lang="en-US" sz="1700" dirty="0"/>
          </a:p>
        </p:txBody>
      </p:sp>
      <p:sp>
        <p:nvSpPr>
          <p:cNvPr id="7" name="Text 5"/>
          <p:cNvSpPr/>
          <p:nvPr/>
        </p:nvSpPr>
        <p:spPr>
          <a:xfrm>
            <a:off x="1600200" y="2404872"/>
            <a:ext cx="5715000" cy="420624"/>
          </a:xfrm>
          <a:prstGeom prst="rect">
            <a:avLst/>
          </a:prstGeom>
          <a:noFill/>
          <a:ln/>
        </p:spPr>
        <p:txBody>
          <a:bodyPr wrap="square" lIns="0" tIns="0" rIns="0" bIns="0" rtlCol="0" anchor="ctr">
            <a:normAutofit/>
          </a:bodyPr>
          <a:lstStyle/>
          <a:p>
            <a:pPr indent="0" marL="0">
              <a:buNone/>
            </a:pPr>
            <a:r>
              <a:rPr lang="en-US" sz="1250" dirty="0">
                <a:solidFill>
                  <a:srgbClr val="CBD5E1"/>
                </a:solidFill>
                <a:latin typeface="Calibri" pitchFamily="34" charset="0"/>
                <a:ea typeface="Calibri" pitchFamily="34" charset="-122"/>
                <a:cs typeface="Calibri" pitchFamily="34" charset="-120"/>
              </a:rPr>
              <a:t>Use the labeled English TripAdvisor subset as the validation corpus before expanding.</a:t>
            </a:r>
            <a:endParaRPr lang="en-US" sz="1250" dirty="0"/>
          </a:p>
        </p:txBody>
      </p:sp>
      <p:sp>
        <p:nvSpPr>
          <p:cNvPr id="8" name="Shape 6"/>
          <p:cNvSpPr/>
          <p:nvPr/>
        </p:nvSpPr>
        <p:spPr>
          <a:xfrm>
            <a:off x="713232" y="3182112"/>
            <a:ext cx="621792" cy="621792"/>
          </a:xfrm>
          <a:prstGeom prst="ellipse">
            <a:avLst/>
          </a:prstGeom>
          <a:solidFill>
            <a:srgbClr val="D97706"/>
          </a:solidFill>
          <a:ln w="19050">
            <a:solidFill>
              <a:srgbClr val="F59E0B"/>
            </a:solidFill>
            <a:prstDash val="solid"/>
          </a:ln>
        </p:spPr>
      </p:sp>
      <p:sp>
        <p:nvSpPr>
          <p:cNvPr id="9" name="Text 7"/>
          <p:cNvSpPr/>
          <p:nvPr/>
        </p:nvSpPr>
        <p:spPr>
          <a:xfrm>
            <a:off x="713232" y="3383280"/>
            <a:ext cx="621792" cy="1828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0" name="Text 8"/>
          <p:cNvSpPr/>
          <p:nvPr/>
        </p:nvSpPr>
        <p:spPr>
          <a:xfrm>
            <a:off x="1600200" y="3200400"/>
            <a:ext cx="1920240" cy="2743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Evaluation design</a:t>
            </a:r>
            <a:endParaRPr lang="en-US" sz="1700" dirty="0"/>
          </a:p>
        </p:txBody>
      </p:sp>
      <p:sp>
        <p:nvSpPr>
          <p:cNvPr id="11" name="Text 9"/>
          <p:cNvSpPr/>
          <p:nvPr/>
        </p:nvSpPr>
        <p:spPr>
          <a:xfrm>
            <a:off x="1600200" y="3575304"/>
            <a:ext cx="5715000" cy="420624"/>
          </a:xfrm>
          <a:prstGeom prst="rect">
            <a:avLst/>
          </a:prstGeom>
          <a:noFill/>
          <a:ln/>
        </p:spPr>
        <p:txBody>
          <a:bodyPr wrap="square" lIns="0" tIns="0" rIns="0" bIns="0" rtlCol="0" anchor="ctr">
            <a:normAutofit/>
          </a:bodyPr>
          <a:lstStyle/>
          <a:p>
            <a:pPr indent="0" marL="0">
              <a:buNone/>
            </a:pPr>
            <a:r>
              <a:rPr lang="en-US" sz="1250" dirty="0">
                <a:solidFill>
                  <a:srgbClr val="CBD5E1"/>
                </a:solidFill>
                <a:latin typeface="Calibri" pitchFamily="34" charset="0"/>
                <a:ea typeface="Calibri" pitchFamily="34" charset="-122"/>
                <a:cs typeface="Calibri" pitchFamily="34" charset="-120"/>
              </a:rPr>
              <a:t>Approve the three-stratum benchmark and two-annotator protocol.</a:t>
            </a:r>
            <a:endParaRPr lang="en-US" sz="1250" dirty="0"/>
          </a:p>
        </p:txBody>
      </p:sp>
      <p:sp>
        <p:nvSpPr>
          <p:cNvPr id="12" name="Shape 10"/>
          <p:cNvSpPr/>
          <p:nvPr/>
        </p:nvSpPr>
        <p:spPr>
          <a:xfrm>
            <a:off x="713232" y="4352544"/>
            <a:ext cx="621792" cy="621792"/>
          </a:xfrm>
          <a:prstGeom prst="ellipse">
            <a:avLst/>
          </a:prstGeom>
          <a:solidFill>
            <a:srgbClr val="0F766E"/>
          </a:solidFill>
          <a:ln w="19050">
            <a:solidFill>
              <a:srgbClr val="14B8A6"/>
            </a:solidFill>
            <a:prstDash val="solid"/>
          </a:ln>
        </p:spPr>
      </p:sp>
      <p:sp>
        <p:nvSpPr>
          <p:cNvPr id="13" name="Text 11"/>
          <p:cNvSpPr/>
          <p:nvPr/>
        </p:nvSpPr>
        <p:spPr>
          <a:xfrm>
            <a:off x="713232" y="4553712"/>
            <a:ext cx="621792" cy="1828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4" name="Text 12"/>
          <p:cNvSpPr/>
          <p:nvPr/>
        </p:nvSpPr>
        <p:spPr>
          <a:xfrm>
            <a:off x="1600200" y="4370832"/>
            <a:ext cx="1920240" cy="2743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Terminology</a:t>
            </a:r>
            <a:endParaRPr lang="en-US" sz="1700" dirty="0"/>
          </a:p>
        </p:txBody>
      </p:sp>
      <p:sp>
        <p:nvSpPr>
          <p:cNvPr id="15" name="Text 13"/>
          <p:cNvSpPr/>
          <p:nvPr/>
        </p:nvSpPr>
        <p:spPr>
          <a:xfrm>
            <a:off x="1600200" y="4745736"/>
            <a:ext cx="5715000" cy="420624"/>
          </a:xfrm>
          <a:prstGeom prst="rect">
            <a:avLst/>
          </a:prstGeom>
          <a:noFill/>
          <a:ln/>
        </p:spPr>
        <p:txBody>
          <a:bodyPr wrap="square" lIns="0" tIns="0" rIns="0" bIns="0" rtlCol="0" anchor="ctr">
            <a:normAutofit/>
          </a:bodyPr>
          <a:lstStyle/>
          <a:p>
            <a:pPr indent="0" marL="0">
              <a:buNone/>
            </a:pPr>
            <a:r>
              <a:rPr lang="en-US" sz="1250" dirty="0">
                <a:solidFill>
                  <a:srgbClr val="CBD5E1"/>
                </a:solidFill>
                <a:latin typeface="Calibri" pitchFamily="34" charset="0"/>
                <a:ea typeface="Calibri" pitchFamily="34" charset="-122"/>
                <a:cs typeface="Calibri" pitchFamily="34" charset="-120"/>
              </a:rPr>
              <a:t>Use “buffering / punitive” as neutral labels until construct validity is established.</a:t>
            </a:r>
            <a:endParaRPr lang="en-US" sz="1250" dirty="0"/>
          </a:p>
        </p:txBody>
      </p:sp>
      <p:sp>
        <p:nvSpPr>
          <p:cNvPr id="16" name="Shape 14"/>
          <p:cNvSpPr/>
          <p:nvPr/>
        </p:nvSpPr>
        <p:spPr>
          <a:xfrm>
            <a:off x="7909560" y="1536192"/>
            <a:ext cx="3383280" cy="4251960"/>
          </a:xfrm>
          <a:prstGeom prst="roundRect">
            <a:avLst>
              <a:gd name="adj" fmla="val 2162"/>
            </a:avLst>
          </a:prstGeom>
          <a:solidFill>
            <a:srgbClr val="111827"/>
          </a:solidFill>
          <a:ln w="12700">
            <a:solidFill>
              <a:srgbClr val="334155"/>
            </a:solidFill>
            <a:prstDash val="solid"/>
          </a:ln>
        </p:spPr>
      </p:sp>
      <p:sp>
        <p:nvSpPr>
          <p:cNvPr id="17" name="Text 15"/>
          <p:cNvSpPr/>
          <p:nvPr/>
        </p:nvSpPr>
        <p:spPr>
          <a:xfrm>
            <a:off x="8247888" y="1901952"/>
            <a:ext cx="2697480" cy="347472"/>
          </a:xfrm>
          <a:prstGeom prst="rect">
            <a:avLst/>
          </a:prstGeom>
          <a:noFill/>
          <a:ln/>
        </p:spPr>
        <p:txBody>
          <a:bodyPr wrap="square" lIns="0" tIns="0" rIns="0" bIns="0" rtlCol="0" anchor="ctr"/>
          <a:lstStyle/>
          <a:p>
            <a:pPr algn="ctr" indent="0" marL="0">
              <a:buNone/>
            </a:pPr>
            <a:r>
              <a:rPr lang="en-US" sz="2100" b="1" dirty="0">
                <a:solidFill>
                  <a:srgbClr val="FEF3C7"/>
                </a:solidFill>
                <a:latin typeface="Cambria" pitchFamily="34" charset="0"/>
                <a:ea typeface="Cambria" pitchFamily="34" charset="-122"/>
                <a:cs typeface="Cambria" pitchFamily="34" charset="-120"/>
              </a:rPr>
              <a:t>Decision sought today</a:t>
            </a:r>
            <a:endParaRPr lang="en-US" sz="2100" dirty="0"/>
          </a:p>
        </p:txBody>
      </p:sp>
      <p:sp>
        <p:nvSpPr>
          <p:cNvPr id="18" name="Text 16"/>
          <p:cNvSpPr/>
          <p:nvPr/>
        </p:nvSpPr>
        <p:spPr>
          <a:xfrm>
            <a:off x="8247888" y="2578608"/>
            <a:ext cx="2697480" cy="960120"/>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Proceed to targeted validation before any model-building claim.</a:t>
            </a:r>
            <a:endParaRPr lang="en-US" sz="1800" dirty="0"/>
          </a:p>
        </p:txBody>
      </p:sp>
      <p:sp>
        <p:nvSpPr>
          <p:cNvPr id="19" name="Shape 17"/>
          <p:cNvSpPr/>
          <p:nvPr/>
        </p:nvSpPr>
        <p:spPr>
          <a:xfrm>
            <a:off x="8522208" y="3840480"/>
            <a:ext cx="2148840" cy="0"/>
          </a:xfrm>
          <a:prstGeom prst="line">
            <a:avLst/>
          </a:prstGeom>
          <a:noFill/>
          <a:ln w="25400">
            <a:solidFill>
              <a:srgbClr val="334155"/>
            </a:solidFill>
            <a:prstDash val="solid"/>
          </a:ln>
        </p:spPr>
      </p:sp>
      <p:sp>
        <p:nvSpPr>
          <p:cNvPr id="20" name="Text 18"/>
          <p:cNvSpPr/>
          <p:nvPr/>
        </p:nvSpPr>
        <p:spPr>
          <a:xfrm>
            <a:off x="8247888" y="4187952"/>
            <a:ext cx="2697480" cy="685800"/>
          </a:xfrm>
          <a:prstGeom prst="rect">
            <a:avLst/>
          </a:prstGeom>
          <a:noFill/>
          <a:ln/>
        </p:spPr>
        <p:txBody>
          <a:bodyPr wrap="square" lIns="0" tIns="0" rIns="0" bIns="0" rtlCol="0" anchor="ctr">
            <a:normAutofit/>
          </a:bodyPr>
          <a:lstStyle/>
          <a:p>
            <a:pPr algn="ctr" indent="0" marL="0">
              <a:buNone/>
            </a:pPr>
            <a:r>
              <a:rPr lang="en-US" sz="1250" dirty="0">
                <a:solidFill>
                  <a:srgbClr val="94A3B8"/>
                </a:solidFill>
                <a:latin typeface="Calibri" pitchFamily="34" charset="0"/>
                <a:ea typeface="Calibri" pitchFamily="34" charset="-122"/>
                <a:cs typeface="Calibri" pitchFamily="34" charset="-120"/>
              </a:rPr>
              <a:t>No broad Survey Round 3</a:t>
            </a:r>
            <a:endParaRPr lang="en-US" sz="1250" dirty="0"/>
          </a:p>
          <a:p>
            <a:pPr algn="ctr" indent="0" marL="0">
              <a:buNone/>
            </a:pPr>
            <a:r>
              <a:rPr lang="en-US" sz="1250" dirty="0">
                <a:solidFill>
                  <a:srgbClr val="94A3B8"/>
                </a:solidFill>
                <a:latin typeface="Calibri" pitchFamily="34" charset="0"/>
                <a:ea typeface="Calibri" pitchFamily="34" charset="-122"/>
                <a:cs typeface="Calibri" pitchFamily="34" charset="-120"/>
              </a:rPr>
              <a:t>unless validation exposes a specific gap.</a:t>
            </a:r>
            <a:endParaRPr lang="en-US" sz="1250" dirty="0"/>
          </a:p>
        </p:txBody>
      </p:sp>
      <p:sp>
        <p:nvSpPr>
          <p:cNvPr id="21" name="Text 19"/>
          <p:cNvSpPr/>
          <p:nvPr/>
        </p:nvSpPr>
        <p:spPr>
          <a:xfrm>
            <a:off x="8247888" y="5138928"/>
            <a:ext cx="2697480" cy="384048"/>
          </a:xfrm>
          <a:prstGeom prst="rect">
            <a:avLst/>
          </a:prstGeom>
          <a:noFill/>
          <a:ln/>
        </p:spPr>
        <p:txBody>
          <a:bodyPr wrap="square" lIns="0" tIns="0" rIns="0" bIns="0" rtlCol="0" anchor="ctr"/>
          <a:lstStyle/>
          <a:p>
            <a:pPr algn="ctr" indent="0" marL="0">
              <a:buNone/>
            </a:pPr>
            <a:r>
              <a:rPr lang="en-US" sz="2400" b="1" dirty="0">
                <a:solidFill>
                  <a:srgbClr val="CCFBF1"/>
                </a:solidFill>
                <a:latin typeface="Cambria" pitchFamily="34" charset="0"/>
                <a:ea typeface="Cambria" pitchFamily="34" charset="-122"/>
                <a:cs typeface="Cambria" pitchFamily="34" charset="-120"/>
              </a:rPr>
              <a:t>Q&amp;A</a:t>
            </a:r>
            <a:endParaRPr lang="en-US" sz="2400" dirty="0"/>
          </a:p>
        </p:txBody>
      </p:sp>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4A3B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40080" y="320040"/>
            <a:ext cx="5029200" cy="182880"/>
          </a:xfrm>
          <a:prstGeom prst="rect">
            <a:avLst/>
          </a:prstGeom>
          <a:noFill/>
          <a:ln/>
        </p:spPr>
        <p:txBody>
          <a:bodyPr wrap="square" lIns="0" tIns="0" rIns="0" bIns="0" rtlCol="0" anchor="ctr"/>
          <a:lstStyle/>
          <a:p>
            <a:pPr indent="0" marL="0">
              <a:buNone/>
            </a:pPr>
            <a:r>
              <a:rPr lang="en-US" sz="1000" b="1" spc="120" kern="0" dirty="0">
                <a:solidFill>
                  <a:srgbClr val="0F766E"/>
                </a:solidFill>
                <a:latin typeface="Calibri" pitchFamily="34" charset="0"/>
                <a:ea typeface="Calibri" pitchFamily="34" charset="-122"/>
                <a:cs typeface="Calibri" pitchFamily="34" charset="-120"/>
              </a:rPr>
              <a:t>APPENDIX</a:t>
            </a:r>
            <a:endParaRPr lang="en-US" sz="1000" dirty="0"/>
          </a:p>
        </p:txBody>
      </p:sp>
      <p:sp>
        <p:nvSpPr>
          <p:cNvPr id="3" name="Text 1"/>
          <p:cNvSpPr/>
          <p:nvPr/>
        </p:nvSpPr>
        <p:spPr>
          <a:xfrm>
            <a:off x="640080" y="548640"/>
            <a:ext cx="10881360" cy="502920"/>
          </a:xfrm>
          <a:prstGeom prst="rect">
            <a:avLst/>
          </a:prstGeom>
          <a:noFill/>
          <a:ln/>
        </p:spPr>
        <p:txBody>
          <a:bodyPr wrap="square" lIns="0" tIns="0" rIns="0" bIns="0" rtlCol="0" anchor="ctr">
            <a:normAutofit/>
          </a:bodyPr>
          <a:lstStyle/>
          <a:p>
            <a:pPr indent="0" marL="0">
              <a:buNone/>
            </a:pPr>
            <a:r>
              <a:rPr lang="en-US" sz="2900" b="1" dirty="0">
                <a:solidFill>
                  <a:srgbClr val="172033"/>
                </a:solidFill>
                <a:latin typeface="Cambria" pitchFamily="34" charset="0"/>
                <a:ea typeface="Cambria" pitchFamily="34" charset="-122"/>
                <a:cs typeface="Cambria" pitchFamily="34" charset="-120"/>
              </a:rPr>
              <a:t>Selected references</a:t>
            </a:r>
            <a:endParaRPr lang="en-US" sz="2900" dirty="0"/>
          </a:p>
        </p:txBody>
      </p:sp>
      <p:sp>
        <p:nvSpPr>
          <p:cNvPr id="4" name="Text 2"/>
          <p:cNvSpPr/>
          <p:nvPr/>
        </p:nvSpPr>
        <p:spPr>
          <a:xfrm>
            <a:off x="658368" y="1325880"/>
            <a:ext cx="384048" cy="256032"/>
          </a:xfrm>
          <a:prstGeom prst="rect">
            <a:avLst/>
          </a:prstGeom>
          <a:noFill/>
          <a:ln/>
        </p:spPr>
        <p:txBody>
          <a:bodyPr wrap="square" lIns="0" tIns="0" rIns="0" bIns="0" rtlCol="0" anchor="ctr"/>
          <a:lstStyle/>
          <a:p>
            <a:pPr indent="0" marL="0">
              <a:buNone/>
            </a:pPr>
            <a:r>
              <a:rPr lang="en-US" sz="1300" b="1" dirty="0">
                <a:solidFill>
                  <a:srgbClr val="0F766E"/>
                </a:solidFill>
                <a:latin typeface="Cambria" pitchFamily="34" charset="0"/>
                <a:ea typeface="Cambria" pitchFamily="34" charset="-122"/>
                <a:cs typeface="Cambria" pitchFamily="34" charset="-120"/>
              </a:rPr>
              <a:t>01</a:t>
            </a:r>
            <a:endParaRPr lang="en-US" sz="1300" dirty="0"/>
          </a:p>
        </p:txBody>
      </p:sp>
      <p:sp>
        <p:nvSpPr>
          <p:cNvPr id="5" name="Text 3"/>
          <p:cNvSpPr/>
          <p:nvPr/>
        </p:nvSpPr>
        <p:spPr>
          <a:xfrm>
            <a:off x="1161288" y="1325880"/>
            <a:ext cx="4709160" cy="658368"/>
          </a:xfrm>
          <a:prstGeom prst="rect">
            <a:avLst/>
          </a:prstGeom>
          <a:noFill/>
          <a:ln/>
        </p:spPr>
        <p:txBody>
          <a:bodyPr wrap="square" lIns="0" tIns="0" rIns="0" bIns="0" rtlCol="0" anchor="ctr">
            <a:normAutofit/>
          </a:bodyPr>
          <a:lstStyle/>
          <a:p>
            <a:pPr indent="0" marL="0">
              <a:buNone/>
            </a:pPr>
            <a:r>
              <a:rPr lang="en-US" sz="1050" dirty="0">
                <a:solidFill>
                  <a:srgbClr val="172033"/>
                </a:solidFill>
                <a:latin typeface="Calibri" pitchFamily="34" charset="0"/>
                <a:ea typeface="Calibri" pitchFamily="34" charset="-122"/>
                <a:cs typeface="Calibri" pitchFamily="34" charset="-120"/>
              </a:rPr>
              <a:t>Le, H. T. M., Nguyen, T. Q., &amp; Nguyen, B. T. (2026). Unlocking insights into customer sentiment analysis: Impact of loyalty on online hotel ratings. IJHM, 134, 104574.</a:t>
            </a:r>
            <a:endParaRPr lang="en-US" sz="1050" dirty="0"/>
          </a:p>
        </p:txBody>
      </p:sp>
      <p:sp>
        <p:nvSpPr>
          <p:cNvPr id="6" name="Text 4"/>
          <p:cNvSpPr/>
          <p:nvPr/>
        </p:nvSpPr>
        <p:spPr>
          <a:xfrm>
            <a:off x="658368" y="2258568"/>
            <a:ext cx="384048" cy="256032"/>
          </a:xfrm>
          <a:prstGeom prst="rect">
            <a:avLst/>
          </a:prstGeom>
          <a:noFill/>
          <a:ln/>
        </p:spPr>
        <p:txBody>
          <a:bodyPr wrap="square" lIns="0" tIns="0" rIns="0" bIns="0" rtlCol="0" anchor="ctr"/>
          <a:lstStyle/>
          <a:p>
            <a:pPr indent="0" marL="0">
              <a:buNone/>
            </a:pPr>
            <a:r>
              <a:rPr lang="en-US" sz="1300" b="1" dirty="0">
                <a:solidFill>
                  <a:srgbClr val="0F766E"/>
                </a:solidFill>
                <a:latin typeface="Cambria" pitchFamily="34" charset="0"/>
                <a:ea typeface="Cambria" pitchFamily="34" charset="-122"/>
                <a:cs typeface="Cambria" pitchFamily="34" charset="-120"/>
              </a:rPr>
              <a:t>02</a:t>
            </a:r>
            <a:endParaRPr lang="en-US" sz="1300" dirty="0"/>
          </a:p>
        </p:txBody>
      </p:sp>
      <p:sp>
        <p:nvSpPr>
          <p:cNvPr id="7" name="Text 5"/>
          <p:cNvSpPr/>
          <p:nvPr/>
        </p:nvSpPr>
        <p:spPr>
          <a:xfrm>
            <a:off x="1161288" y="2258568"/>
            <a:ext cx="4709160" cy="658368"/>
          </a:xfrm>
          <a:prstGeom prst="rect">
            <a:avLst/>
          </a:prstGeom>
          <a:noFill/>
          <a:ln/>
        </p:spPr>
        <p:txBody>
          <a:bodyPr wrap="square" lIns="0" tIns="0" rIns="0" bIns="0" rtlCol="0" anchor="ctr">
            <a:normAutofit/>
          </a:bodyPr>
          <a:lstStyle/>
          <a:p>
            <a:pPr indent="0" marL="0">
              <a:buNone/>
            </a:pPr>
            <a:r>
              <a:rPr lang="en-US" sz="1050" dirty="0">
                <a:solidFill>
                  <a:srgbClr val="172033"/>
                </a:solidFill>
                <a:latin typeface="Calibri" pitchFamily="34" charset="0"/>
                <a:ea typeface="Calibri" pitchFamily="34" charset="-122"/>
                <a:cs typeface="Calibri" pitchFamily="34" charset="-120"/>
              </a:rPr>
              <a:t>Almansour, A., Alotaibi, R., &amp; Alharbi, H. (2022). Text-rating review discrepancy (TRRD). Future Business Journal, 8, 3.</a:t>
            </a:r>
            <a:endParaRPr lang="en-US" sz="1050" dirty="0"/>
          </a:p>
        </p:txBody>
      </p:sp>
      <p:sp>
        <p:nvSpPr>
          <p:cNvPr id="8" name="Text 6"/>
          <p:cNvSpPr/>
          <p:nvPr/>
        </p:nvSpPr>
        <p:spPr>
          <a:xfrm>
            <a:off x="658368" y="3191256"/>
            <a:ext cx="384048" cy="256032"/>
          </a:xfrm>
          <a:prstGeom prst="rect">
            <a:avLst/>
          </a:prstGeom>
          <a:noFill/>
          <a:ln/>
        </p:spPr>
        <p:txBody>
          <a:bodyPr wrap="square" lIns="0" tIns="0" rIns="0" bIns="0" rtlCol="0" anchor="ctr"/>
          <a:lstStyle/>
          <a:p>
            <a:pPr indent="0" marL="0">
              <a:buNone/>
            </a:pPr>
            <a:r>
              <a:rPr lang="en-US" sz="1300" b="1" dirty="0">
                <a:solidFill>
                  <a:srgbClr val="0F766E"/>
                </a:solidFill>
                <a:latin typeface="Cambria" pitchFamily="34" charset="0"/>
                <a:ea typeface="Cambria" pitchFamily="34" charset="-122"/>
                <a:cs typeface="Cambria" pitchFamily="34" charset="-120"/>
              </a:rPr>
              <a:t>03</a:t>
            </a:r>
            <a:endParaRPr lang="en-US" sz="1300" dirty="0"/>
          </a:p>
        </p:txBody>
      </p:sp>
      <p:sp>
        <p:nvSpPr>
          <p:cNvPr id="9" name="Text 7"/>
          <p:cNvSpPr/>
          <p:nvPr/>
        </p:nvSpPr>
        <p:spPr>
          <a:xfrm>
            <a:off x="1161288" y="3191256"/>
            <a:ext cx="4709160" cy="658368"/>
          </a:xfrm>
          <a:prstGeom prst="rect">
            <a:avLst/>
          </a:prstGeom>
          <a:noFill/>
          <a:ln/>
        </p:spPr>
        <p:txBody>
          <a:bodyPr wrap="square" lIns="0" tIns="0" rIns="0" bIns="0" rtlCol="0" anchor="ctr">
            <a:normAutofit/>
          </a:bodyPr>
          <a:lstStyle/>
          <a:p>
            <a:pPr indent="0" marL="0">
              <a:buNone/>
            </a:pPr>
            <a:r>
              <a:rPr lang="en-US" sz="1050" dirty="0">
                <a:solidFill>
                  <a:srgbClr val="172033"/>
                </a:solidFill>
                <a:latin typeface="Calibri" pitchFamily="34" charset="0"/>
                <a:ea typeface="Calibri" pitchFamily="34" charset="-122"/>
                <a:cs typeface="Calibri" pitchFamily="34" charset="-120"/>
              </a:rPr>
              <a:t>Bigne, E., Ruiz, C., Perez-Cabañero, C., &amp; Cuenca, A. (2023). Are customer star ratings and sentiments aligned? Service Business, 17, 281–314.</a:t>
            </a:r>
            <a:endParaRPr lang="en-US" sz="1050" dirty="0"/>
          </a:p>
        </p:txBody>
      </p:sp>
      <p:sp>
        <p:nvSpPr>
          <p:cNvPr id="10" name="Text 8"/>
          <p:cNvSpPr/>
          <p:nvPr/>
        </p:nvSpPr>
        <p:spPr>
          <a:xfrm>
            <a:off x="658368" y="4123944"/>
            <a:ext cx="384048" cy="256032"/>
          </a:xfrm>
          <a:prstGeom prst="rect">
            <a:avLst/>
          </a:prstGeom>
          <a:noFill/>
          <a:ln/>
        </p:spPr>
        <p:txBody>
          <a:bodyPr wrap="square" lIns="0" tIns="0" rIns="0" bIns="0" rtlCol="0" anchor="ctr"/>
          <a:lstStyle/>
          <a:p>
            <a:pPr indent="0" marL="0">
              <a:buNone/>
            </a:pPr>
            <a:r>
              <a:rPr lang="en-US" sz="1300" b="1" dirty="0">
                <a:solidFill>
                  <a:srgbClr val="0F766E"/>
                </a:solidFill>
                <a:latin typeface="Cambria" pitchFamily="34" charset="0"/>
                <a:ea typeface="Cambria" pitchFamily="34" charset="-122"/>
                <a:cs typeface="Cambria" pitchFamily="34" charset="-120"/>
              </a:rPr>
              <a:t>04</a:t>
            </a:r>
            <a:endParaRPr lang="en-US" sz="1300" dirty="0"/>
          </a:p>
        </p:txBody>
      </p:sp>
      <p:sp>
        <p:nvSpPr>
          <p:cNvPr id="11" name="Text 9"/>
          <p:cNvSpPr/>
          <p:nvPr/>
        </p:nvSpPr>
        <p:spPr>
          <a:xfrm>
            <a:off x="1161288" y="4123944"/>
            <a:ext cx="4709160" cy="658368"/>
          </a:xfrm>
          <a:prstGeom prst="rect">
            <a:avLst/>
          </a:prstGeom>
          <a:noFill/>
          <a:ln/>
        </p:spPr>
        <p:txBody>
          <a:bodyPr wrap="square" lIns="0" tIns="0" rIns="0" bIns="0" rtlCol="0" anchor="ctr">
            <a:normAutofit/>
          </a:bodyPr>
          <a:lstStyle/>
          <a:p>
            <a:pPr indent="0" marL="0">
              <a:buNone/>
            </a:pPr>
            <a:r>
              <a:rPr lang="en-US" sz="1050" dirty="0">
                <a:solidFill>
                  <a:srgbClr val="172033"/>
                </a:solidFill>
                <a:latin typeface="Calibri" pitchFamily="34" charset="0"/>
                <a:ea typeface="Calibri" pitchFamily="34" charset="-122"/>
                <a:cs typeface="Calibri" pitchFamily="34" charset="-120"/>
              </a:rPr>
              <a:t>Kwon, B., Lee, J., Min, J., Kwak, C., &amp; Choi, H. S. (2025). Beyond the stars: rating-text inconsistency and review usefulness. APJIS, 35(1), 49–72.</a:t>
            </a:r>
            <a:endParaRPr lang="en-US" sz="1050" dirty="0"/>
          </a:p>
        </p:txBody>
      </p:sp>
      <p:sp>
        <p:nvSpPr>
          <p:cNvPr id="12" name="Text 10"/>
          <p:cNvSpPr/>
          <p:nvPr/>
        </p:nvSpPr>
        <p:spPr>
          <a:xfrm>
            <a:off x="658368" y="5056632"/>
            <a:ext cx="384048" cy="256032"/>
          </a:xfrm>
          <a:prstGeom prst="rect">
            <a:avLst/>
          </a:prstGeom>
          <a:noFill/>
          <a:ln/>
        </p:spPr>
        <p:txBody>
          <a:bodyPr wrap="square" lIns="0" tIns="0" rIns="0" bIns="0" rtlCol="0" anchor="ctr"/>
          <a:lstStyle/>
          <a:p>
            <a:pPr indent="0" marL="0">
              <a:buNone/>
            </a:pPr>
            <a:r>
              <a:rPr lang="en-US" sz="1300" b="1" dirty="0">
                <a:solidFill>
                  <a:srgbClr val="0F766E"/>
                </a:solidFill>
                <a:latin typeface="Cambria" pitchFamily="34" charset="0"/>
                <a:ea typeface="Cambria" pitchFamily="34" charset="-122"/>
                <a:cs typeface="Cambria" pitchFamily="34" charset="-120"/>
              </a:rPr>
              <a:t>05</a:t>
            </a:r>
            <a:endParaRPr lang="en-US" sz="1300" dirty="0"/>
          </a:p>
        </p:txBody>
      </p:sp>
      <p:sp>
        <p:nvSpPr>
          <p:cNvPr id="13" name="Text 11"/>
          <p:cNvSpPr/>
          <p:nvPr/>
        </p:nvSpPr>
        <p:spPr>
          <a:xfrm>
            <a:off x="1161288" y="5056632"/>
            <a:ext cx="4709160" cy="658368"/>
          </a:xfrm>
          <a:prstGeom prst="rect">
            <a:avLst/>
          </a:prstGeom>
          <a:noFill/>
          <a:ln/>
        </p:spPr>
        <p:txBody>
          <a:bodyPr wrap="square" lIns="0" tIns="0" rIns="0" bIns="0" rtlCol="0" anchor="ctr">
            <a:normAutofit/>
          </a:bodyPr>
          <a:lstStyle/>
          <a:p>
            <a:pPr indent="0" marL="0">
              <a:buNone/>
            </a:pPr>
            <a:r>
              <a:rPr lang="en-US" sz="1050" dirty="0">
                <a:solidFill>
                  <a:srgbClr val="172033"/>
                </a:solidFill>
                <a:latin typeface="Calibri" pitchFamily="34" charset="0"/>
                <a:ea typeface="Calibri" pitchFamily="34" charset="-122"/>
                <a:cs typeface="Calibri" pitchFamily="34" charset="-120"/>
              </a:rPr>
              <a:t>Wang, P., Zhang, H., Yuan, X., &amp; Zhang, X. (2025). Score-textual inconsistency and hotel performance. IJHM, 130, 104271.</a:t>
            </a:r>
            <a:endParaRPr lang="en-US" sz="1050" dirty="0"/>
          </a:p>
        </p:txBody>
      </p:sp>
      <p:sp>
        <p:nvSpPr>
          <p:cNvPr id="14" name="Text 12"/>
          <p:cNvSpPr/>
          <p:nvPr/>
        </p:nvSpPr>
        <p:spPr>
          <a:xfrm>
            <a:off x="6217920" y="1325880"/>
            <a:ext cx="384048" cy="256032"/>
          </a:xfrm>
          <a:prstGeom prst="rect">
            <a:avLst/>
          </a:prstGeom>
          <a:noFill/>
          <a:ln/>
        </p:spPr>
        <p:txBody>
          <a:bodyPr wrap="square" lIns="0" tIns="0" rIns="0" bIns="0" rtlCol="0" anchor="ctr"/>
          <a:lstStyle/>
          <a:p>
            <a:pPr indent="0" marL="0">
              <a:buNone/>
            </a:pPr>
            <a:r>
              <a:rPr lang="en-US" sz="1300" b="1" dirty="0">
                <a:solidFill>
                  <a:srgbClr val="0F766E"/>
                </a:solidFill>
                <a:latin typeface="Cambria" pitchFamily="34" charset="0"/>
                <a:ea typeface="Cambria" pitchFamily="34" charset="-122"/>
                <a:cs typeface="Cambria" pitchFamily="34" charset="-120"/>
              </a:rPr>
              <a:t>06</a:t>
            </a:r>
            <a:endParaRPr lang="en-US" sz="1300" dirty="0"/>
          </a:p>
        </p:txBody>
      </p:sp>
      <p:sp>
        <p:nvSpPr>
          <p:cNvPr id="15" name="Text 13"/>
          <p:cNvSpPr/>
          <p:nvPr/>
        </p:nvSpPr>
        <p:spPr>
          <a:xfrm>
            <a:off x="6720840" y="1325880"/>
            <a:ext cx="4709160" cy="658368"/>
          </a:xfrm>
          <a:prstGeom prst="rect">
            <a:avLst/>
          </a:prstGeom>
          <a:noFill/>
          <a:ln/>
        </p:spPr>
        <p:txBody>
          <a:bodyPr wrap="square" lIns="0" tIns="0" rIns="0" bIns="0" rtlCol="0" anchor="ctr">
            <a:normAutofit/>
          </a:bodyPr>
          <a:lstStyle/>
          <a:p>
            <a:pPr indent="0" marL="0">
              <a:buNone/>
            </a:pPr>
            <a:r>
              <a:rPr lang="en-US" sz="1050" dirty="0">
                <a:solidFill>
                  <a:srgbClr val="172033"/>
                </a:solidFill>
                <a:latin typeface="Calibri" pitchFamily="34" charset="0"/>
                <a:ea typeface="Calibri" pitchFamily="34" charset="-122"/>
                <a:cs typeface="Calibri" pitchFamily="34" charset="-120"/>
              </a:rPr>
              <a:t>Huang, Z., &amp; Lo, A. (2025). Human vs. robot service providers in service failures: forgiveness and recovery expectation. Information Technology &amp; Tourism, 27, 417–448.</a:t>
            </a:r>
            <a:endParaRPr lang="en-US" sz="1050" dirty="0"/>
          </a:p>
        </p:txBody>
      </p:sp>
      <p:sp>
        <p:nvSpPr>
          <p:cNvPr id="16" name="Text 14"/>
          <p:cNvSpPr/>
          <p:nvPr/>
        </p:nvSpPr>
        <p:spPr>
          <a:xfrm>
            <a:off x="6217920" y="2258568"/>
            <a:ext cx="384048" cy="256032"/>
          </a:xfrm>
          <a:prstGeom prst="rect">
            <a:avLst/>
          </a:prstGeom>
          <a:noFill/>
          <a:ln/>
        </p:spPr>
        <p:txBody>
          <a:bodyPr wrap="square" lIns="0" tIns="0" rIns="0" bIns="0" rtlCol="0" anchor="ctr"/>
          <a:lstStyle/>
          <a:p>
            <a:pPr indent="0" marL="0">
              <a:buNone/>
            </a:pPr>
            <a:r>
              <a:rPr lang="en-US" sz="1300" b="1" dirty="0">
                <a:solidFill>
                  <a:srgbClr val="0F766E"/>
                </a:solidFill>
                <a:latin typeface="Cambria" pitchFamily="34" charset="0"/>
                <a:ea typeface="Cambria" pitchFamily="34" charset="-122"/>
                <a:cs typeface="Cambria" pitchFamily="34" charset="-120"/>
              </a:rPr>
              <a:t>07</a:t>
            </a:r>
            <a:endParaRPr lang="en-US" sz="1300" dirty="0"/>
          </a:p>
        </p:txBody>
      </p:sp>
      <p:sp>
        <p:nvSpPr>
          <p:cNvPr id="17" name="Text 15"/>
          <p:cNvSpPr/>
          <p:nvPr/>
        </p:nvSpPr>
        <p:spPr>
          <a:xfrm>
            <a:off x="6720840" y="2258568"/>
            <a:ext cx="4709160" cy="658368"/>
          </a:xfrm>
          <a:prstGeom prst="rect">
            <a:avLst/>
          </a:prstGeom>
          <a:noFill/>
          <a:ln/>
        </p:spPr>
        <p:txBody>
          <a:bodyPr wrap="square" lIns="0" tIns="0" rIns="0" bIns="0" rtlCol="0" anchor="ctr">
            <a:normAutofit/>
          </a:bodyPr>
          <a:lstStyle/>
          <a:p>
            <a:pPr indent="0" marL="0">
              <a:buNone/>
            </a:pPr>
            <a:r>
              <a:rPr lang="en-US" sz="1050" dirty="0">
                <a:solidFill>
                  <a:srgbClr val="172033"/>
                </a:solidFill>
                <a:latin typeface="Calibri" pitchFamily="34" charset="0"/>
                <a:ea typeface="Calibri" pitchFamily="34" charset="-122"/>
                <a:cs typeface="Calibri" pitchFamily="34" charset="-120"/>
              </a:rPr>
              <a:t>Wei, J., et al. (2025). Consumer forgiveness in online travel agency service recovery. International Journal of Tourism Research, 27(6).</a:t>
            </a:r>
            <a:endParaRPr lang="en-US" sz="1050" dirty="0"/>
          </a:p>
        </p:txBody>
      </p:sp>
      <p:sp>
        <p:nvSpPr>
          <p:cNvPr id="18" name="Text 16"/>
          <p:cNvSpPr/>
          <p:nvPr/>
        </p:nvSpPr>
        <p:spPr>
          <a:xfrm>
            <a:off x="6217920" y="3191256"/>
            <a:ext cx="384048" cy="256032"/>
          </a:xfrm>
          <a:prstGeom prst="rect">
            <a:avLst/>
          </a:prstGeom>
          <a:noFill/>
          <a:ln/>
        </p:spPr>
        <p:txBody>
          <a:bodyPr wrap="square" lIns="0" tIns="0" rIns="0" bIns="0" rtlCol="0" anchor="ctr"/>
          <a:lstStyle/>
          <a:p>
            <a:pPr indent="0" marL="0">
              <a:buNone/>
            </a:pPr>
            <a:r>
              <a:rPr lang="en-US" sz="1300" b="1" dirty="0">
                <a:solidFill>
                  <a:srgbClr val="0F766E"/>
                </a:solidFill>
                <a:latin typeface="Cambria" pitchFamily="34" charset="0"/>
                <a:ea typeface="Cambria" pitchFamily="34" charset="-122"/>
                <a:cs typeface="Cambria" pitchFamily="34" charset="-120"/>
              </a:rPr>
              <a:t>08</a:t>
            </a:r>
            <a:endParaRPr lang="en-US" sz="1300" dirty="0"/>
          </a:p>
        </p:txBody>
      </p:sp>
      <p:sp>
        <p:nvSpPr>
          <p:cNvPr id="19" name="Text 17"/>
          <p:cNvSpPr/>
          <p:nvPr/>
        </p:nvSpPr>
        <p:spPr>
          <a:xfrm>
            <a:off x="6720840" y="3191256"/>
            <a:ext cx="4709160" cy="658368"/>
          </a:xfrm>
          <a:prstGeom prst="rect">
            <a:avLst/>
          </a:prstGeom>
          <a:noFill/>
          <a:ln/>
        </p:spPr>
        <p:txBody>
          <a:bodyPr wrap="square" lIns="0" tIns="0" rIns="0" bIns="0" rtlCol="0" anchor="ctr">
            <a:normAutofit/>
          </a:bodyPr>
          <a:lstStyle/>
          <a:p>
            <a:pPr indent="0" marL="0">
              <a:buNone/>
            </a:pPr>
            <a:r>
              <a:rPr lang="en-US" sz="1050" dirty="0">
                <a:solidFill>
                  <a:srgbClr val="172033"/>
                </a:solidFill>
                <a:latin typeface="Calibri" pitchFamily="34" charset="0"/>
                <a:ea typeface="Calibri" pitchFamily="34" charset="-122"/>
                <a:cs typeface="Calibri" pitchFamily="34" charset="-120"/>
              </a:rPr>
              <a:t>Öztürk, A. C. (2026). Aspect–sentiment drivers of hotel review ratings with interpretable high-utility rules. IEEE Access, 14, 39496–39511.</a:t>
            </a:r>
            <a:endParaRPr lang="en-US" sz="1050" dirty="0"/>
          </a:p>
        </p:txBody>
      </p:sp>
      <p:sp>
        <p:nvSpPr>
          <p:cNvPr id="20" name="Text 18"/>
          <p:cNvSpPr/>
          <p:nvPr/>
        </p:nvSpPr>
        <p:spPr>
          <a:xfrm>
            <a:off x="6217920" y="4123944"/>
            <a:ext cx="384048" cy="256032"/>
          </a:xfrm>
          <a:prstGeom prst="rect">
            <a:avLst/>
          </a:prstGeom>
          <a:noFill/>
          <a:ln/>
        </p:spPr>
        <p:txBody>
          <a:bodyPr wrap="square" lIns="0" tIns="0" rIns="0" bIns="0" rtlCol="0" anchor="ctr"/>
          <a:lstStyle/>
          <a:p>
            <a:pPr indent="0" marL="0">
              <a:buNone/>
            </a:pPr>
            <a:r>
              <a:rPr lang="en-US" sz="1300" b="1" dirty="0">
                <a:solidFill>
                  <a:srgbClr val="0F766E"/>
                </a:solidFill>
                <a:latin typeface="Cambria" pitchFamily="34" charset="0"/>
                <a:ea typeface="Cambria" pitchFamily="34" charset="-122"/>
                <a:cs typeface="Cambria" pitchFamily="34" charset="-120"/>
              </a:rPr>
              <a:t>09</a:t>
            </a:r>
            <a:endParaRPr lang="en-US" sz="1300" dirty="0"/>
          </a:p>
        </p:txBody>
      </p:sp>
      <p:sp>
        <p:nvSpPr>
          <p:cNvPr id="21" name="Text 19"/>
          <p:cNvSpPr/>
          <p:nvPr/>
        </p:nvSpPr>
        <p:spPr>
          <a:xfrm>
            <a:off x="6720840" y="4123944"/>
            <a:ext cx="4709160" cy="658368"/>
          </a:xfrm>
          <a:prstGeom prst="rect">
            <a:avLst/>
          </a:prstGeom>
          <a:noFill/>
          <a:ln/>
        </p:spPr>
        <p:txBody>
          <a:bodyPr wrap="square" lIns="0" tIns="0" rIns="0" bIns="0" rtlCol="0" anchor="ctr">
            <a:normAutofit/>
          </a:bodyPr>
          <a:lstStyle/>
          <a:p>
            <a:pPr indent="0" marL="0">
              <a:buNone/>
            </a:pPr>
            <a:r>
              <a:rPr lang="en-US" sz="1050" dirty="0">
                <a:solidFill>
                  <a:srgbClr val="172033"/>
                </a:solidFill>
                <a:latin typeface="Calibri" pitchFamily="34" charset="0"/>
                <a:ea typeface="Calibri" pitchFamily="34" charset="-122"/>
                <a:cs typeface="Calibri" pitchFamily="34" charset="-120"/>
              </a:rPr>
              <a:t>Abaiyan, R., et al. (2026). Fault of our stars: Behavioral drivers of rating–sentiment incongruence. arXiv preprint 2606.25518.</a:t>
            </a:r>
            <a:endParaRPr lang="en-US" sz="1050" dirty="0"/>
          </a:p>
        </p:txBody>
      </p:sp>
      <p:sp>
        <p:nvSpPr>
          <p:cNvPr id="22" name="Text 20"/>
          <p:cNvSpPr/>
          <p:nvPr/>
        </p:nvSpPr>
        <p:spPr>
          <a:xfrm>
            <a:off x="6217920" y="5056632"/>
            <a:ext cx="384048" cy="256032"/>
          </a:xfrm>
          <a:prstGeom prst="rect">
            <a:avLst/>
          </a:prstGeom>
          <a:noFill/>
          <a:ln/>
        </p:spPr>
        <p:txBody>
          <a:bodyPr wrap="square" lIns="0" tIns="0" rIns="0" bIns="0" rtlCol="0" anchor="ctr"/>
          <a:lstStyle/>
          <a:p>
            <a:pPr indent="0" marL="0">
              <a:buNone/>
            </a:pPr>
            <a:r>
              <a:rPr lang="en-US" sz="1300" b="1" dirty="0">
                <a:solidFill>
                  <a:srgbClr val="0F766E"/>
                </a:solidFill>
                <a:latin typeface="Cambria" pitchFamily="34" charset="0"/>
                <a:ea typeface="Cambria" pitchFamily="34" charset="-122"/>
                <a:cs typeface="Cambria" pitchFamily="34" charset="-120"/>
              </a:rPr>
              <a:t>10</a:t>
            </a:r>
            <a:endParaRPr lang="en-US" sz="1300" dirty="0"/>
          </a:p>
        </p:txBody>
      </p:sp>
      <p:sp>
        <p:nvSpPr>
          <p:cNvPr id="23" name="Text 21"/>
          <p:cNvSpPr/>
          <p:nvPr/>
        </p:nvSpPr>
        <p:spPr>
          <a:xfrm>
            <a:off x="6720840" y="5056632"/>
            <a:ext cx="4709160" cy="658368"/>
          </a:xfrm>
          <a:prstGeom prst="rect">
            <a:avLst/>
          </a:prstGeom>
          <a:noFill/>
          <a:ln/>
        </p:spPr>
        <p:txBody>
          <a:bodyPr wrap="square" lIns="0" tIns="0" rIns="0" bIns="0" rtlCol="0" anchor="ctr">
            <a:normAutofit/>
          </a:bodyPr>
          <a:lstStyle/>
          <a:p>
            <a:pPr indent="0" marL="0">
              <a:buNone/>
            </a:pPr>
            <a:r>
              <a:rPr lang="en-US" sz="1050" dirty="0">
                <a:solidFill>
                  <a:srgbClr val="172033"/>
                </a:solidFill>
                <a:latin typeface="Calibri" pitchFamily="34" charset="0"/>
                <a:ea typeface="Calibri" pitchFamily="34" charset="-122"/>
                <a:cs typeface="Calibri" pitchFamily="34" charset="-120"/>
              </a:rPr>
              <a:t>Jayakody, D., Thenahandi, P., &amp; Jayarathna, S. (2026). SentimentLens: Reconciling sentiment and ratings in hospitality. arXiv preprint 2606.00084.</a:t>
            </a:r>
            <a:endParaRPr lang="en-US" sz="1050" dirty="0"/>
          </a:p>
        </p:txBody>
      </p:sp>
      <p:sp>
        <p:nvSpPr>
          <p:cNvPr id="24" name="Shape 22"/>
          <p:cNvSpPr/>
          <p:nvPr/>
        </p:nvSpPr>
        <p:spPr>
          <a:xfrm>
            <a:off x="1051560" y="5907024"/>
            <a:ext cx="10058400" cy="329184"/>
          </a:xfrm>
          <a:prstGeom prst="roundRect">
            <a:avLst>
              <a:gd name="adj" fmla="val 22222"/>
            </a:avLst>
          </a:prstGeom>
          <a:solidFill>
            <a:srgbClr val="F1F5F9"/>
          </a:solidFill>
          <a:ln w="12700">
            <a:solidFill>
              <a:srgbClr val="F1F5F9"/>
            </a:solidFill>
            <a:prstDash val="solid"/>
          </a:ln>
        </p:spPr>
      </p:sp>
      <p:sp>
        <p:nvSpPr>
          <p:cNvPr id="25" name="Text 23"/>
          <p:cNvSpPr/>
          <p:nvPr/>
        </p:nvSpPr>
        <p:spPr>
          <a:xfrm>
            <a:off x="1261872" y="5989320"/>
            <a:ext cx="9646920" cy="146304"/>
          </a:xfrm>
          <a:prstGeom prst="rect">
            <a:avLst/>
          </a:prstGeom>
          <a:noFill/>
          <a:ln/>
        </p:spPr>
        <p:txBody>
          <a:bodyPr wrap="square" lIns="0" tIns="0" rIns="0" bIns="0" rtlCol="0" anchor="ctr">
            <a:normAutofit/>
          </a:bodyPr>
          <a:lstStyle/>
          <a:p>
            <a:pPr algn="ctr" indent="0" marL="0">
              <a:buNone/>
            </a:pPr>
            <a:r>
              <a:rPr lang="en-US" sz="950" dirty="0">
                <a:solidFill>
                  <a:srgbClr val="64748B"/>
                </a:solidFill>
                <a:latin typeface="Calibri" pitchFamily="34" charset="0"/>
                <a:ea typeface="Calibri" pitchFamily="34" charset="-122"/>
                <a:cs typeface="Calibri" pitchFamily="34" charset="-120"/>
              </a:rPr>
              <a:t>Full survey matrix, DOI links, access status, and evidence limitations are documented in refs/INDEX.md and docs/logs/literature-survey/.</a:t>
            </a:r>
            <a:endParaRPr lang="en-US" sz="950" dirty="0"/>
          </a:p>
        </p:txBody>
      </p:sp>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FPT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Reviews and Ratings Disagree</dc:title>
  <dc:subject>Project overview and literature survey outcomes</dc:subject>
  <dc:creator>SRIPRJ Research Team</dc:creator>
  <cp:lastModifiedBy>SRIPRJ Research Team</cp:lastModifiedBy>
  <cp:revision>1</cp:revision>
  <dcterms:created xsi:type="dcterms:W3CDTF">2026-09-21T08:37:13Z</dcterms:created>
  <dcterms:modified xsi:type="dcterms:W3CDTF">2026-09-21T08:37:13Z</dcterms:modified>
</cp:coreProperties>
</file>