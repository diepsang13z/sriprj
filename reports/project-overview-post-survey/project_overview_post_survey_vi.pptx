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buổi trình bày: cho thấy nhóm đã hoàn tất những gì sau hai vòng survey, research gap nào đã được xác lập, và validation nào cần làm tiếp. Tên đề tài vẫn là working title, chưa phải quyết định cuối.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chính: survey đã đủ để chuyển sang validation có mục tiêu. 404 là số đếm trực tiếp hiện tại từ dataset; các tài liệu cũ ghi 402 cần được cập nhật sau. Không gọi 404 trường hợp này là true inconsistency trước khi gán nhãn người.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ví dụ cho thấy vì sao không thể dùng rule “có negative span = bất nhất”. Ví dụ 5 sao có service recovery rõ; ví dụ 2 sao có lời khen nhưng lỗi phòng nghiêm trọng, nên điểm thấp vẫn hợp lý. Đây là lý do phải có human ground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kế thừa dữ liệu, pipeline và baseline của paper gốc; không phủ nhận kết quả mô hình. Phần mở rộng tập trung vào hai hạn chế: Loyalty có rủi ro lập luận vòng, và mismatch chưa được giải thích.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set hiện tại gồm 7 nguồn inconsistency, 3 hospitality ABSA và 5 forgiveness/buffering sau khi chuyển Valdivia thành provenance source và Puh thành legacy baseline. Broad search dừng tạm vì đọc thêm không giải quyết được estimator, threshold và normalization.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luận survey thứ nhất: mismatch không được xóa như noise. Tuy nhiên mixed review không đồng nghĩa với mismatch; vì vậy bước tiếp theo phải là human annotation có control, không phải huấn luyện model ngay.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gap đo lường nằm ở giao của ba yêu cầu: magnitude, direction và aspect-level. Công thức có dấu là candidate extension của nhóm, chưa được gọi là validated measure cho đến khi so với nhãn người.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Literature hỗ trợ cơ chế forgiveness nhưng thường đo bằng survey và các outcome như dissatisfaction hoặc repatronage. Nhóm chưa tìm thấy kiểm định trực tiếp sang observed star rating. Vì vậy chưa nên gọi Sublimation/Anger là construct chính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RQ này là cách diễn đạt ngắn gọn cho hướng hiện tại. Nhấn mạnh với thầy rằng đây là draft để xin alignment, không phải RQ đã khóa.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set gồm ba nhóm để vừa kiểm tra hai hướng mismatch vừa đo false positive trên review bình thường. Không cân bằng nhân tạo hai hướng; giữ prevalence thật và báo giới hạn nếu mirror subset thiếu.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RDR-0003 không được ban hành theo cảm tính. Ba formulation phải chạy trên cùng ground truth và đạt đồng thời các tiêu chí. Nếu candidate measure thất bại, phương án an toàn là giữ matrix baseline và tìm đúng failure, không mở broad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giúp phân biệt rõ deliverable đã có với kết quả thực nghiệm chưa có. Nhóm đã hoàn thành survey, protocol và draft; chưa tuyên bố measure, prevalence hay hiệu ứng buffering.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Đề nghị thầy góp ý vào ba quyết định cụ thể. Nếu được đồng ý, nhóm chuyển thẳng sang targeted validation; không tiếp tục broad survey và cũng chưa xây nhiều model song song.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phụ lục; chỉ mở khi thầy hỏi nguồn. Hai nguồn 2026 về directional typology và aspect conflict là preprint, cần nói rõ trạng thái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21792" y="6510528"/>
            <a:ext cx="4754880" cy="146304"/>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DAP391m  |  Báo cáo tiến độ dự án</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21792" y="6510528"/>
            <a:ext cx="4114800" cy="146304"/>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DAP391m  |  FPT University</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4A3B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85800" y="576072"/>
            <a:ext cx="3429000" cy="310896"/>
          </a:xfrm>
          <a:prstGeom prst="roundRect">
            <a:avLst>
              <a:gd name="adj" fmla="val 23529"/>
            </a:avLst>
          </a:prstGeom>
          <a:solidFill>
            <a:srgbClr val="134E4A"/>
          </a:solidFill>
          <a:ln w="12700">
            <a:solidFill>
              <a:srgbClr val="134E4A">
                <a:alpha val="0"/>
              </a:srgbClr>
            </a:solidFill>
            <a:prstDash val="solid"/>
          </a:ln>
        </p:spPr>
      </p:sp>
      <p:sp>
        <p:nvSpPr>
          <p:cNvPr id="3" name="Text 1"/>
          <p:cNvSpPr/>
          <p:nvPr/>
        </p:nvSpPr>
        <p:spPr>
          <a:xfrm>
            <a:off x="758952" y="630936"/>
            <a:ext cx="3282696" cy="146304"/>
          </a:xfrm>
          <a:prstGeom prst="rect">
            <a:avLst/>
          </a:prstGeom>
          <a:noFill/>
          <a:ln/>
        </p:spPr>
        <p:txBody>
          <a:bodyPr wrap="square" lIns="0" tIns="0" rIns="0" bIns="0" rtlCol="0" anchor="ctr">
            <a:normAutofit/>
          </a:bodyPr>
          <a:lstStyle/>
          <a:p>
            <a:pPr algn="ctr" indent="0" marL="0">
              <a:buNone/>
            </a:pPr>
            <a:r>
              <a:rPr lang="en-US" sz="950" b="1" dirty="0">
                <a:solidFill>
                  <a:srgbClr val="CCFBF1"/>
                </a:solidFill>
                <a:latin typeface="Calibri" pitchFamily="34" charset="0"/>
                <a:ea typeface="Calibri" pitchFamily="34" charset="-122"/>
                <a:cs typeface="Calibri" pitchFamily="34" charset="-120"/>
              </a:rPr>
              <a:t>TỔNG QUAN DỰ ÁN + KẾT QUẢ SAU KHẢO SÁT</a:t>
            </a:r>
            <a:endParaRPr lang="en-US" sz="950" dirty="0"/>
          </a:p>
        </p:txBody>
      </p:sp>
      <p:sp>
        <p:nvSpPr>
          <p:cNvPr id="4" name="Text 2"/>
          <p:cNvSpPr/>
          <p:nvPr/>
        </p:nvSpPr>
        <p:spPr>
          <a:xfrm>
            <a:off x="685800" y="1143000"/>
            <a:ext cx="6126480" cy="150876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Khi lời nhận xét và</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điểm số mâu thuẫn</a:t>
            </a:r>
            <a:endParaRPr lang="en-US" sz="3800" dirty="0"/>
          </a:p>
        </p:txBody>
      </p:sp>
      <p:sp>
        <p:nvSpPr>
          <p:cNvPr id="5" name="Text 3"/>
          <p:cNvSpPr/>
          <p:nvPr/>
        </p:nvSpPr>
        <p:spPr>
          <a:xfrm>
            <a:off x="713232" y="2834640"/>
            <a:ext cx="5669280" cy="713232"/>
          </a:xfrm>
          <a:prstGeom prst="rect">
            <a:avLst/>
          </a:prstGeom>
          <a:noFill/>
          <a:ln/>
        </p:spPr>
        <p:txBody>
          <a:bodyPr wrap="square" lIns="0" tIns="0" rIns="0" bIns="0" rtlCol="0" anchor="ctr">
            <a:normAutofit/>
          </a:bodyPr>
          <a:lstStyle/>
          <a:p>
            <a:pPr indent="0" marL="0">
              <a:buNone/>
            </a:pPr>
            <a:r>
              <a:rPr lang="en-US" sz="2000" dirty="0">
                <a:solidFill>
                  <a:srgbClr val="CBD5E1"/>
                </a:solidFill>
                <a:latin typeface="Calibri" pitchFamily="34" charset="0"/>
                <a:ea typeface="Calibri" pitchFamily="34" charset="-122"/>
                <a:cs typeface="Calibri" pitchFamily="34" charset="-120"/>
              </a:rPr>
              <a:t>Bất nhất cảm xúc – điểm số ở cấp khía cạnh</a:t>
            </a:r>
            <a:endParaRPr lang="en-US" sz="2000" dirty="0"/>
          </a:p>
          <a:p>
            <a:pPr indent="0" marL="0">
              <a:buNone/>
            </a:pPr>
            <a:r>
              <a:rPr lang="en-US" sz="2000" dirty="0">
                <a:solidFill>
                  <a:srgbClr val="CBD5E1"/>
                </a:solidFill>
                <a:latin typeface="Calibri" pitchFamily="34" charset="0"/>
                <a:ea typeface="Calibri" pitchFamily="34" charset="-122"/>
                <a:cs typeface="Calibri" pitchFamily="34" charset="-120"/>
              </a:rPr>
              <a:t>trong đánh giá khách sạn trực tuyến</a:t>
            </a:r>
            <a:endParaRPr lang="en-US" sz="2000" dirty="0"/>
          </a:p>
        </p:txBody>
      </p:sp>
      <p:sp>
        <p:nvSpPr>
          <p:cNvPr id="6" name="Text 4"/>
          <p:cNvSpPr/>
          <p:nvPr/>
        </p:nvSpPr>
        <p:spPr>
          <a:xfrm>
            <a:off x="713232" y="3822192"/>
            <a:ext cx="5715000" cy="256032"/>
          </a:xfrm>
          <a:prstGeom prst="rect">
            <a:avLst/>
          </a:prstGeom>
          <a:noFill/>
          <a:ln/>
        </p:spPr>
        <p:txBody>
          <a:bodyPr wrap="square" lIns="0" tIns="0" rIns="0" bIns="0" rtlCol="0" anchor="ctr"/>
          <a:lstStyle/>
          <a:p>
            <a:pPr indent="0" marL="0">
              <a:buNone/>
            </a:pPr>
            <a:r>
              <a:rPr lang="en-US" sz="1250" b="1" dirty="0">
                <a:solidFill>
                  <a:srgbClr val="F59E0B"/>
                </a:solidFill>
                <a:latin typeface="Calibri" pitchFamily="34" charset="0"/>
                <a:ea typeface="Calibri" pitchFamily="34" charset="-122"/>
                <a:cs typeface="Calibri" pitchFamily="34" charset="-120"/>
              </a:rPr>
              <a:t>Hướng nghiên cứu dự kiến  |  Sau khảo sát, trước kiểm định</a:t>
            </a:r>
            <a:endParaRPr lang="en-US" sz="1250" dirty="0"/>
          </a:p>
        </p:txBody>
      </p:sp>
      <p:sp>
        <p:nvSpPr>
          <p:cNvPr id="7" name="Shape 5"/>
          <p:cNvSpPr/>
          <p:nvPr/>
        </p:nvSpPr>
        <p:spPr>
          <a:xfrm>
            <a:off x="7360920" y="1051560"/>
            <a:ext cx="1874520" cy="1874520"/>
          </a:xfrm>
          <a:prstGeom prst="ellipse">
            <a:avLst/>
          </a:prstGeom>
          <a:solidFill>
            <a:srgbClr val="134E4A"/>
          </a:solidFill>
          <a:ln w="25400">
            <a:solidFill>
              <a:srgbClr val="14B8A6"/>
            </a:solidFill>
            <a:prstDash val="solid"/>
          </a:ln>
        </p:spPr>
      </p:sp>
      <p:sp>
        <p:nvSpPr>
          <p:cNvPr id="8" name="Text 6"/>
          <p:cNvSpPr/>
          <p:nvPr/>
        </p:nvSpPr>
        <p:spPr>
          <a:xfrm>
            <a:off x="7360920" y="1673352"/>
            <a:ext cx="1874520" cy="365760"/>
          </a:xfrm>
          <a:prstGeom prst="rect">
            <a:avLst/>
          </a:prstGeom>
          <a:noFill/>
          <a:ln/>
        </p:spPr>
        <p:txBody>
          <a:bodyPr wrap="square" lIns="0" tIns="0" rIns="0" bIns="0" rtlCol="0" anchor="ctr"/>
          <a:lstStyle/>
          <a:p>
            <a:pPr algn="ctr" indent="0" marL="0">
              <a:buNone/>
            </a:pPr>
            <a:r>
              <a:rPr lang="en-US" sz="2400" b="1" dirty="0">
                <a:solidFill>
                  <a:srgbClr val="CCFBF1"/>
                </a:solidFill>
                <a:latin typeface="Calibri" pitchFamily="34" charset="0"/>
                <a:ea typeface="Calibri" pitchFamily="34" charset="-122"/>
                <a:cs typeface="Calibri" pitchFamily="34" charset="-120"/>
              </a:rPr>
              <a:t>VĂN BẢN</a:t>
            </a:r>
            <a:endParaRPr lang="en-US" sz="2400" dirty="0"/>
          </a:p>
        </p:txBody>
      </p:sp>
      <p:sp>
        <p:nvSpPr>
          <p:cNvPr id="9" name="Shape 7"/>
          <p:cNvSpPr/>
          <p:nvPr/>
        </p:nvSpPr>
        <p:spPr>
          <a:xfrm>
            <a:off x="9464040" y="3127248"/>
            <a:ext cx="1874520" cy="1874520"/>
          </a:xfrm>
          <a:prstGeom prst="ellipse">
            <a:avLst/>
          </a:prstGeom>
          <a:solidFill>
            <a:srgbClr val="78350F"/>
          </a:solidFill>
          <a:ln w="25400">
            <a:solidFill>
              <a:srgbClr val="F59E0B"/>
            </a:solidFill>
            <a:prstDash val="solid"/>
          </a:ln>
        </p:spPr>
      </p:sp>
      <p:sp>
        <p:nvSpPr>
          <p:cNvPr id="10" name="Text 8"/>
          <p:cNvSpPr/>
          <p:nvPr/>
        </p:nvSpPr>
        <p:spPr>
          <a:xfrm>
            <a:off x="9464040" y="3685032"/>
            <a:ext cx="1874520" cy="438912"/>
          </a:xfrm>
          <a:prstGeom prst="rect">
            <a:avLst/>
          </a:prstGeom>
          <a:noFill/>
          <a:ln/>
        </p:spPr>
        <p:txBody>
          <a:bodyPr wrap="square" lIns="0" tIns="0" rIns="0" bIns="0" rtlCol="0" anchor="ctr"/>
          <a:lstStyle/>
          <a:p>
            <a:pPr algn="ctr" indent="0" marL="0">
              <a:buNone/>
            </a:pPr>
            <a:r>
              <a:rPr lang="en-US" sz="3000" b="1" dirty="0">
                <a:solidFill>
                  <a:srgbClr val="FEF3C7"/>
                </a:solidFill>
                <a:latin typeface="Cambria" pitchFamily="34" charset="0"/>
                <a:ea typeface="Cambria" pitchFamily="34" charset="-122"/>
                <a:cs typeface="Cambria" pitchFamily="34" charset="-120"/>
              </a:rPr>
              <a:t>5.0</a:t>
            </a:r>
            <a:endParaRPr lang="en-US" sz="3000" dirty="0"/>
          </a:p>
        </p:txBody>
      </p:sp>
      <p:sp>
        <p:nvSpPr>
          <p:cNvPr id="11" name="Shape 9"/>
          <p:cNvSpPr/>
          <p:nvPr/>
        </p:nvSpPr>
        <p:spPr>
          <a:xfrm>
            <a:off x="8851392" y="2532888"/>
            <a:ext cx="1417320" cy="1234440"/>
          </a:xfrm>
          <a:prstGeom prst="line">
            <a:avLst/>
          </a:prstGeom>
          <a:noFill/>
          <a:ln w="50800">
            <a:solidFill>
              <a:srgbClr val="E11D48"/>
            </a:solidFill>
            <a:prstDash val="solid"/>
            <a:headEnd type="none"/>
            <a:tailEnd type="triangle"/>
          </a:ln>
        </p:spPr>
      </p:sp>
      <p:sp>
        <p:nvSpPr>
          <p:cNvPr id="12" name="Shape 10"/>
          <p:cNvSpPr/>
          <p:nvPr/>
        </p:nvSpPr>
        <p:spPr>
          <a:xfrm flipV="1">
            <a:off x="7955280" y="2542032"/>
            <a:ext cx="1508760" cy="1188720"/>
          </a:xfrm>
          <a:prstGeom prst="line">
            <a:avLst/>
          </a:prstGeom>
          <a:noFill/>
          <a:ln w="50800">
            <a:solidFill>
              <a:srgbClr val="E11D48"/>
            </a:solidFill>
            <a:prstDash val="solid"/>
            <a:headEnd type="none"/>
            <a:tailEnd type="triangle"/>
          </a:ln>
        </p:spPr>
      </p:sp>
      <p:sp>
        <p:nvSpPr>
          <p:cNvPr id="13" name="Text 11"/>
          <p:cNvSpPr/>
          <p:nvPr/>
        </p:nvSpPr>
        <p:spPr>
          <a:xfrm>
            <a:off x="8668512" y="2962656"/>
            <a:ext cx="1097280" cy="640080"/>
          </a:xfrm>
          <a:prstGeom prst="rect">
            <a:avLst/>
          </a:prstGeom>
          <a:noFill/>
          <a:ln/>
        </p:spPr>
        <p:txBody>
          <a:bodyPr wrap="square" lIns="0" tIns="0" rIns="0" bIns="0" rtlCol="0" anchor="ctr"/>
          <a:lstStyle/>
          <a:p>
            <a:pPr algn="ctr" indent="0" marL="0">
              <a:buNone/>
            </a:pPr>
            <a:r>
              <a:rPr lang="en-US" sz="3800" b="1" dirty="0">
                <a:solidFill>
                  <a:srgbClr val="FFE4E6"/>
                </a:solidFill>
                <a:latin typeface="Cambria" pitchFamily="34" charset="0"/>
                <a:ea typeface="Cambria" pitchFamily="34" charset="-122"/>
                <a:cs typeface="Cambria" pitchFamily="34" charset="-120"/>
              </a:rPr>
              <a:t>?</a:t>
            </a:r>
            <a:endParaRPr lang="en-US" sz="3800" dirty="0"/>
          </a:p>
        </p:txBody>
      </p:sp>
      <p:sp>
        <p:nvSpPr>
          <p:cNvPr id="14" name="Text 12"/>
          <p:cNvSpPr/>
          <p:nvPr/>
        </p:nvSpPr>
        <p:spPr>
          <a:xfrm>
            <a:off x="7388352" y="5285232"/>
            <a:ext cx="3931920" cy="594360"/>
          </a:xfrm>
          <a:prstGeom prst="rect">
            <a:avLst/>
          </a:prstGeom>
          <a:noFill/>
          <a:ln/>
        </p:spPr>
        <p:txBody>
          <a:bodyPr wrap="square" lIns="0" tIns="0" rIns="0" bIns="0" rtlCol="0" anchor="ctr">
            <a:normAutofit/>
          </a:bodyPr>
          <a:lstStyle/>
          <a:p>
            <a:pPr algn="ctr" indent="0" marL="0">
              <a:buNone/>
            </a:pPr>
            <a:r>
              <a:rPr lang="en-US" sz="1400" dirty="0">
                <a:solidFill>
                  <a:srgbClr val="CBD5E1"/>
                </a:solidFill>
                <a:latin typeface="Calibri" pitchFamily="34" charset="0"/>
                <a:ea typeface="Calibri" pitchFamily="34" charset="-122"/>
                <a:cs typeface="Calibri" pitchFamily="34" charset="-120"/>
              </a:rPr>
              <a:t>Hai tín hiệu. Một khách hàng.</a:t>
            </a:r>
            <a:endParaRPr lang="en-US" sz="1400" dirty="0"/>
          </a:p>
          <a:p>
            <a:pPr algn="ctr" indent="0" marL="0">
              <a:buNone/>
            </a:pPr>
            <a:r>
              <a:rPr lang="en-US" sz="1400" dirty="0">
                <a:solidFill>
                  <a:srgbClr val="CBD5E1"/>
                </a:solidFill>
                <a:latin typeface="Calibri" pitchFamily="34" charset="0"/>
                <a:ea typeface="Calibri" pitchFamily="34" charset="-122"/>
                <a:cs typeface="Calibri" pitchFamily="34" charset="-120"/>
              </a:rPr>
              <a:t>Đôi khi là hai câu chuyện khác nhau.</a:t>
            </a:r>
            <a:endParaRPr lang="en-US" sz="140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4A3B8"/>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indent="0" marL="0">
              <a:buNone/>
            </a:pPr>
            <a:r>
              <a:rPr lang="en-US" sz="1000" b="1" spc="120" kern="0" dirty="0">
                <a:solidFill>
                  <a:srgbClr val="0F766E"/>
                </a:solidFill>
                <a:latin typeface="Calibri" pitchFamily="34" charset="0"/>
                <a:ea typeface="Calibri" pitchFamily="34" charset="-122"/>
                <a:cs typeface="Calibri" pitchFamily="34" charset="-120"/>
              </a:rPr>
              <a:t>ẢNH CHỤP TIẾN ĐỘ</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indent="0" marL="0">
              <a:buNone/>
            </a:pPr>
            <a:r>
              <a:rPr lang="en-US" sz="2900" b="1" dirty="0">
                <a:solidFill>
                  <a:srgbClr val="172033"/>
                </a:solidFill>
                <a:latin typeface="Cambria" pitchFamily="34" charset="0"/>
                <a:ea typeface="Cambria" pitchFamily="34" charset="-122"/>
                <a:cs typeface="Cambria" pitchFamily="34" charset="-120"/>
              </a:rPr>
              <a:t>Dự án trong một phút</a:t>
            </a:r>
            <a:endParaRPr lang="en-US" sz="2900" dirty="0"/>
          </a:p>
        </p:txBody>
      </p:sp>
      <p:sp>
        <p:nvSpPr>
          <p:cNvPr id="4" name="Shape 2"/>
          <p:cNvSpPr/>
          <p:nvPr/>
        </p:nvSpPr>
        <p:spPr>
          <a:xfrm>
            <a:off x="640080" y="1261872"/>
            <a:ext cx="2606040" cy="1417320"/>
          </a:xfrm>
          <a:prstGeom prst="roundRect">
            <a:avLst>
              <a:gd name="adj" fmla="val 5161"/>
            </a:avLst>
          </a:prstGeom>
          <a:solidFill>
            <a:srgbClr val="FFFFFF"/>
          </a:solidFill>
          <a:ln w="12700">
            <a:solidFill>
              <a:srgbClr val="E2E8F0"/>
            </a:solidFill>
            <a:prstDash val="solid"/>
          </a:ln>
        </p:spPr>
      </p:sp>
      <p:sp>
        <p:nvSpPr>
          <p:cNvPr id="5" name="Shape 3"/>
          <p:cNvSpPr/>
          <p:nvPr/>
        </p:nvSpPr>
        <p:spPr>
          <a:xfrm>
            <a:off x="841248" y="1481328"/>
            <a:ext cx="292608" cy="292608"/>
          </a:xfrm>
          <a:prstGeom prst="ellipse">
            <a:avLst/>
          </a:prstGeom>
          <a:solidFill>
            <a:srgbClr val="14B8A6"/>
          </a:solidFill>
          <a:ln w="12700">
            <a:solidFill>
              <a:srgbClr val="14B8A6"/>
            </a:solidFill>
            <a:prstDash val="solid"/>
          </a:ln>
        </p:spPr>
      </p:sp>
      <p:sp>
        <p:nvSpPr>
          <p:cNvPr id="6" name="Text 4"/>
          <p:cNvSpPr/>
          <p:nvPr/>
        </p:nvSpPr>
        <p:spPr>
          <a:xfrm>
            <a:off x="841248" y="1746504"/>
            <a:ext cx="2203704" cy="438912"/>
          </a:xfrm>
          <a:prstGeom prst="rect">
            <a:avLst/>
          </a:prstGeom>
          <a:noFill/>
          <a:ln/>
        </p:spPr>
        <p:txBody>
          <a:bodyPr wrap="square" lIns="0" tIns="0" rIns="0" bIns="0" rtlCol="0" anchor="ctr">
            <a:normAutofit/>
          </a:bodyPr>
          <a:lstStyle/>
          <a:p>
            <a:pPr indent="0" marL="0">
              <a:buNone/>
            </a:pPr>
            <a:r>
              <a:rPr lang="en-US" sz="2800" b="1" dirty="0">
                <a:solidFill>
                  <a:srgbClr val="172033"/>
                </a:solidFill>
                <a:latin typeface="Cambria" pitchFamily="34" charset="0"/>
                <a:ea typeface="Cambria" pitchFamily="34" charset="-122"/>
                <a:cs typeface="Cambria" pitchFamily="34" charset="-120"/>
              </a:rPr>
              <a:t>15</a:t>
            </a:r>
            <a:endParaRPr lang="en-US" sz="2800" dirty="0"/>
          </a:p>
        </p:txBody>
      </p:sp>
      <p:sp>
        <p:nvSpPr>
          <p:cNvPr id="7" name="Text 5"/>
          <p:cNvSpPr/>
          <p:nvPr/>
        </p:nvSpPr>
        <p:spPr>
          <a:xfrm>
            <a:off x="841248" y="2194560"/>
            <a:ext cx="2203704" cy="219456"/>
          </a:xfrm>
          <a:prstGeom prst="rect">
            <a:avLst/>
          </a:prstGeom>
          <a:noFill/>
          <a:ln/>
        </p:spPr>
        <p:txBody>
          <a:bodyPr wrap="square" lIns="0" tIns="0" rIns="0" bIns="0" rtlCol="0" anchor="ctr">
            <a:normAutofit/>
          </a:bodyPr>
          <a:lstStyle/>
          <a:p>
            <a:pPr indent="0" marL="0">
              <a:buNone/>
            </a:pPr>
            <a:r>
              <a:rPr lang="en-US" sz="1300" b="1" dirty="0">
                <a:solidFill>
                  <a:srgbClr val="475569"/>
                </a:solidFill>
                <a:latin typeface="Calibri" pitchFamily="34" charset="0"/>
                <a:ea typeface="Calibri" pitchFamily="34" charset="-122"/>
                <a:cs typeface="Calibri" pitchFamily="34" charset="-120"/>
              </a:rPr>
              <a:t>bài báo hạt nhân</a:t>
            </a:r>
            <a:endParaRPr lang="en-US" sz="1300" dirty="0"/>
          </a:p>
        </p:txBody>
      </p:sp>
      <p:sp>
        <p:nvSpPr>
          <p:cNvPr id="8" name="Text 6"/>
          <p:cNvSpPr/>
          <p:nvPr/>
        </p:nvSpPr>
        <p:spPr>
          <a:xfrm>
            <a:off x="841248" y="2432304"/>
            <a:ext cx="2203704" cy="146304"/>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Calibri" pitchFamily="34" charset="0"/>
                <a:ea typeface="Calibri" pitchFamily="34" charset="-122"/>
                <a:cs typeface="Calibri" pitchFamily="34" charset="-120"/>
              </a:rPr>
              <a:t>thuộc ba cụm bằng chứng</a:t>
            </a:r>
            <a:endParaRPr lang="en-US" sz="850" dirty="0"/>
          </a:p>
        </p:txBody>
      </p:sp>
      <p:sp>
        <p:nvSpPr>
          <p:cNvPr id="9" name="Shape 7"/>
          <p:cNvSpPr/>
          <p:nvPr/>
        </p:nvSpPr>
        <p:spPr>
          <a:xfrm>
            <a:off x="3456432" y="1261872"/>
            <a:ext cx="2606040" cy="1417320"/>
          </a:xfrm>
          <a:prstGeom prst="roundRect">
            <a:avLst>
              <a:gd name="adj" fmla="val 5161"/>
            </a:avLst>
          </a:prstGeom>
          <a:solidFill>
            <a:srgbClr val="FFFFFF"/>
          </a:solidFill>
          <a:ln w="12700">
            <a:solidFill>
              <a:srgbClr val="E2E8F0"/>
            </a:solidFill>
            <a:prstDash val="solid"/>
          </a:ln>
        </p:spPr>
      </p:sp>
      <p:sp>
        <p:nvSpPr>
          <p:cNvPr id="10" name="Shape 8"/>
          <p:cNvSpPr/>
          <p:nvPr/>
        </p:nvSpPr>
        <p:spPr>
          <a:xfrm>
            <a:off x="3657600" y="1481328"/>
            <a:ext cx="292608" cy="292608"/>
          </a:xfrm>
          <a:prstGeom prst="ellipse">
            <a:avLst/>
          </a:prstGeom>
          <a:solidFill>
            <a:srgbClr val="2563EB"/>
          </a:solidFill>
          <a:ln w="12700">
            <a:solidFill>
              <a:srgbClr val="2563EB"/>
            </a:solidFill>
            <a:prstDash val="solid"/>
          </a:ln>
        </p:spPr>
      </p:sp>
      <p:sp>
        <p:nvSpPr>
          <p:cNvPr id="11" name="Text 9"/>
          <p:cNvSpPr/>
          <p:nvPr/>
        </p:nvSpPr>
        <p:spPr>
          <a:xfrm>
            <a:off x="3657600" y="1746504"/>
            <a:ext cx="2203704" cy="438912"/>
          </a:xfrm>
          <a:prstGeom prst="rect">
            <a:avLst/>
          </a:prstGeom>
          <a:noFill/>
          <a:ln/>
        </p:spPr>
        <p:txBody>
          <a:bodyPr wrap="square" lIns="0" tIns="0" rIns="0" bIns="0" rtlCol="0" anchor="ctr">
            <a:normAutofit/>
          </a:bodyPr>
          <a:lstStyle/>
          <a:p>
            <a:pPr indent="0" marL="0">
              <a:buNone/>
            </a:pPr>
            <a:r>
              <a:rPr lang="en-US" sz="2800" b="1" dirty="0">
                <a:solidFill>
                  <a:srgbClr val="172033"/>
                </a:solidFill>
                <a:latin typeface="Cambria" pitchFamily="34" charset="0"/>
                <a:ea typeface="Cambria" pitchFamily="34" charset="-122"/>
                <a:cs typeface="Cambria" pitchFamily="34" charset="-120"/>
              </a:rPr>
              <a:t>9,990</a:t>
            </a:r>
            <a:endParaRPr lang="en-US" sz="2800" dirty="0"/>
          </a:p>
        </p:txBody>
      </p:sp>
      <p:sp>
        <p:nvSpPr>
          <p:cNvPr id="12" name="Text 10"/>
          <p:cNvSpPr/>
          <p:nvPr/>
        </p:nvSpPr>
        <p:spPr>
          <a:xfrm>
            <a:off x="3657600" y="2194560"/>
            <a:ext cx="2203704" cy="219456"/>
          </a:xfrm>
          <a:prstGeom prst="rect">
            <a:avLst/>
          </a:prstGeom>
          <a:noFill/>
          <a:ln/>
        </p:spPr>
        <p:txBody>
          <a:bodyPr wrap="square" lIns="0" tIns="0" rIns="0" bIns="0" rtlCol="0" anchor="ctr">
            <a:normAutofit/>
          </a:bodyPr>
          <a:lstStyle/>
          <a:p>
            <a:pPr indent="0" marL="0">
              <a:buNone/>
            </a:pPr>
            <a:r>
              <a:rPr lang="en-US" sz="1300" b="1" dirty="0">
                <a:solidFill>
                  <a:srgbClr val="475569"/>
                </a:solidFill>
                <a:latin typeface="Calibri" pitchFamily="34" charset="0"/>
                <a:ea typeface="Calibri" pitchFamily="34" charset="-122"/>
                <a:cs typeface="Calibri" pitchFamily="34" charset="-120"/>
              </a:rPr>
              <a:t>review đã gán nhãn</a:t>
            </a:r>
            <a:endParaRPr lang="en-US" sz="1300" dirty="0"/>
          </a:p>
        </p:txBody>
      </p:sp>
      <p:sp>
        <p:nvSpPr>
          <p:cNvPr id="13" name="Text 11"/>
          <p:cNvSpPr/>
          <p:nvPr/>
        </p:nvSpPr>
        <p:spPr>
          <a:xfrm>
            <a:off x="3657600" y="2432304"/>
            <a:ext cx="2203704" cy="146304"/>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Calibri" pitchFamily="34" charset="0"/>
                <a:ea typeface="Calibri" pitchFamily="34" charset="-122"/>
                <a:cs typeface="Calibri" pitchFamily="34" charset="-120"/>
              </a:rPr>
              <a:t>tập con TripAdvisor tiếng Anh</a:t>
            </a:r>
            <a:endParaRPr lang="en-US" sz="850" dirty="0"/>
          </a:p>
        </p:txBody>
      </p:sp>
      <p:sp>
        <p:nvSpPr>
          <p:cNvPr id="14" name="Shape 12"/>
          <p:cNvSpPr/>
          <p:nvPr/>
        </p:nvSpPr>
        <p:spPr>
          <a:xfrm>
            <a:off x="6281928" y="1261872"/>
            <a:ext cx="2606040" cy="1417320"/>
          </a:xfrm>
          <a:prstGeom prst="roundRect">
            <a:avLst>
              <a:gd name="adj" fmla="val 5161"/>
            </a:avLst>
          </a:prstGeom>
          <a:solidFill>
            <a:srgbClr val="FFFFFF"/>
          </a:solidFill>
          <a:ln w="12700">
            <a:solidFill>
              <a:srgbClr val="E2E8F0"/>
            </a:solidFill>
            <a:prstDash val="solid"/>
          </a:ln>
        </p:spPr>
      </p:sp>
      <p:sp>
        <p:nvSpPr>
          <p:cNvPr id="15" name="Shape 13"/>
          <p:cNvSpPr/>
          <p:nvPr/>
        </p:nvSpPr>
        <p:spPr>
          <a:xfrm>
            <a:off x="6483096" y="1481328"/>
            <a:ext cx="292608" cy="292608"/>
          </a:xfrm>
          <a:prstGeom prst="ellipse">
            <a:avLst/>
          </a:prstGeom>
          <a:solidFill>
            <a:srgbClr val="E11D48"/>
          </a:solidFill>
          <a:ln w="12700">
            <a:solidFill>
              <a:srgbClr val="E11D48"/>
            </a:solidFill>
            <a:prstDash val="solid"/>
          </a:ln>
        </p:spPr>
      </p:sp>
      <p:sp>
        <p:nvSpPr>
          <p:cNvPr id="16" name="Text 14"/>
          <p:cNvSpPr/>
          <p:nvPr/>
        </p:nvSpPr>
        <p:spPr>
          <a:xfrm>
            <a:off x="6483096" y="1746504"/>
            <a:ext cx="2203704" cy="438912"/>
          </a:xfrm>
          <a:prstGeom prst="rect">
            <a:avLst/>
          </a:prstGeom>
          <a:noFill/>
          <a:ln/>
        </p:spPr>
        <p:txBody>
          <a:bodyPr wrap="square" lIns="0" tIns="0" rIns="0" bIns="0" rtlCol="0" anchor="ctr">
            <a:normAutofit/>
          </a:bodyPr>
          <a:lstStyle/>
          <a:p>
            <a:pPr indent="0" marL="0">
              <a:buNone/>
            </a:pPr>
            <a:r>
              <a:rPr lang="en-US" sz="2800" b="1" dirty="0">
                <a:solidFill>
                  <a:srgbClr val="172033"/>
                </a:solidFill>
                <a:latin typeface="Cambria" pitchFamily="34" charset="0"/>
                <a:ea typeface="Cambria" pitchFamily="34" charset="-122"/>
                <a:cs typeface="Cambria" pitchFamily="34" charset="-120"/>
              </a:rPr>
              <a:t>404</a:t>
            </a:r>
            <a:endParaRPr lang="en-US" sz="2800" dirty="0"/>
          </a:p>
        </p:txBody>
      </p:sp>
      <p:sp>
        <p:nvSpPr>
          <p:cNvPr id="17" name="Text 15"/>
          <p:cNvSpPr/>
          <p:nvPr/>
        </p:nvSpPr>
        <p:spPr>
          <a:xfrm>
            <a:off x="6483096" y="2194560"/>
            <a:ext cx="2203704" cy="219456"/>
          </a:xfrm>
          <a:prstGeom prst="rect">
            <a:avLst/>
          </a:prstGeom>
          <a:noFill/>
          <a:ln/>
        </p:spPr>
        <p:txBody>
          <a:bodyPr wrap="square" lIns="0" tIns="0" rIns="0" bIns="0" rtlCol="0" anchor="ctr">
            <a:normAutofit/>
          </a:bodyPr>
          <a:lstStyle/>
          <a:p>
            <a:pPr indent="0" marL="0">
              <a:buNone/>
            </a:pPr>
            <a:r>
              <a:rPr lang="en-US" sz="1300" b="1" dirty="0">
                <a:solidFill>
                  <a:srgbClr val="475569"/>
                </a:solidFill>
                <a:latin typeface="Calibri" pitchFamily="34" charset="0"/>
                <a:ea typeface="Calibri" pitchFamily="34" charset="-122"/>
                <a:cs typeface="Calibri" pitchFamily="34" charset="-120"/>
              </a:rPr>
              <a:t>5 sao + đoạn tiêu cực</a:t>
            </a:r>
            <a:endParaRPr lang="en-US" sz="1300" dirty="0"/>
          </a:p>
        </p:txBody>
      </p:sp>
      <p:sp>
        <p:nvSpPr>
          <p:cNvPr id="18" name="Text 16"/>
          <p:cNvSpPr/>
          <p:nvPr/>
        </p:nvSpPr>
        <p:spPr>
          <a:xfrm>
            <a:off x="6483096" y="2432304"/>
            <a:ext cx="2203704" cy="146304"/>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Calibri" pitchFamily="34" charset="0"/>
                <a:ea typeface="Calibri" pitchFamily="34" charset="-122"/>
                <a:cs typeface="Calibri" pitchFamily="34" charset="-120"/>
              </a:rPr>
              <a:t>ca nghi vấn, chưa xác nhận</a:t>
            </a:r>
            <a:endParaRPr lang="en-US" sz="850" dirty="0"/>
          </a:p>
        </p:txBody>
      </p:sp>
      <p:sp>
        <p:nvSpPr>
          <p:cNvPr id="19" name="Shape 17"/>
          <p:cNvSpPr/>
          <p:nvPr/>
        </p:nvSpPr>
        <p:spPr>
          <a:xfrm>
            <a:off x="9098280" y="1261872"/>
            <a:ext cx="2450592" cy="1417320"/>
          </a:xfrm>
          <a:prstGeom prst="roundRect">
            <a:avLst>
              <a:gd name="adj" fmla="val 5161"/>
            </a:avLst>
          </a:prstGeom>
          <a:solidFill>
            <a:srgbClr val="FFFFFF"/>
          </a:solidFill>
          <a:ln w="12700">
            <a:solidFill>
              <a:srgbClr val="E2E8F0"/>
            </a:solidFill>
            <a:prstDash val="solid"/>
          </a:ln>
        </p:spPr>
      </p:sp>
      <p:sp>
        <p:nvSpPr>
          <p:cNvPr id="20" name="Shape 18"/>
          <p:cNvSpPr/>
          <p:nvPr/>
        </p:nvSpPr>
        <p:spPr>
          <a:xfrm>
            <a:off x="9299448" y="1481328"/>
            <a:ext cx="292608" cy="292608"/>
          </a:xfrm>
          <a:prstGeom prst="ellipse">
            <a:avLst/>
          </a:prstGeom>
          <a:solidFill>
            <a:srgbClr val="F59E0B"/>
          </a:solidFill>
          <a:ln w="12700">
            <a:solidFill>
              <a:srgbClr val="F59E0B"/>
            </a:solidFill>
            <a:prstDash val="solid"/>
          </a:ln>
        </p:spPr>
      </p:sp>
      <p:sp>
        <p:nvSpPr>
          <p:cNvPr id="21" name="Text 19"/>
          <p:cNvSpPr/>
          <p:nvPr/>
        </p:nvSpPr>
        <p:spPr>
          <a:xfrm>
            <a:off x="9299448" y="1746504"/>
            <a:ext cx="2048256" cy="438912"/>
          </a:xfrm>
          <a:prstGeom prst="rect">
            <a:avLst/>
          </a:prstGeom>
          <a:noFill/>
          <a:ln/>
        </p:spPr>
        <p:txBody>
          <a:bodyPr wrap="square" lIns="0" tIns="0" rIns="0" bIns="0" rtlCol="0" anchor="ctr">
            <a:normAutofit/>
          </a:bodyPr>
          <a:lstStyle/>
          <a:p>
            <a:pPr indent="0" marL="0">
              <a:buNone/>
            </a:pPr>
            <a:r>
              <a:rPr lang="en-US" sz="2800" b="1" dirty="0">
                <a:solidFill>
                  <a:srgbClr val="172033"/>
                </a:solidFill>
                <a:latin typeface="Cambria" pitchFamily="34" charset="0"/>
                <a:ea typeface="Cambria" pitchFamily="34" charset="-122"/>
                <a:cs typeface="Cambria" pitchFamily="34" charset="-120"/>
              </a:rPr>
              <a:t>199</a:t>
            </a:r>
            <a:endParaRPr lang="en-US" sz="2800" dirty="0"/>
          </a:p>
        </p:txBody>
      </p:sp>
      <p:sp>
        <p:nvSpPr>
          <p:cNvPr id="22" name="Text 20"/>
          <p:cNvSpPr/>
          <p:nvPr/>
        </p:nvSpPr>
        <p:spPr>
          <a:xfrm>
            <a:off x="9299448" y="2194560"/>
            <a:ext cx="2048256" cy="219456"/>
          </a:xfrm>
          <a:prstGeom prst="rect">
            <a:avLst/>
          </a:prstGeom>
          <a:noFill/>
          <a:ln/>
        </p:spPr>
        <p:txBody>
          <a:bodyPr wrap="square" lIns="0" tIns="0" rIns="0" bIns="0" rtlCol="0" anchor="ctr">
            <a:normAutofit/>
          </a:bodyPr>
          <a:lstStyle/>
          <a:p>
            <a:pPr indent="0" marL="0">
              <a:buNone/>
            </a:pPr>
            <a:r>
              <a:rPr lang="en-US" sz="1300" b="1" dirty="0">
                <a:solidFill>
                  <a:srgbClr val="475569"/>
                </a:solidFill>
                <a:latin typeface="Calibri" pitchFamily="34" charset="0"/>
                <a:ea typeface="Calibri" pitchFamily="34" charset="-122"/>
                <a:cs typeface="Calibri" pitchFamily="34" charset="-120"/>
              </a:rPr>
              <a:t>1–2 sao + đoạn tích cực</a:t>
            </a:r>
            <a:endParaRPr lang="en-US" sz="1300" dirty="0"/>
          </a:p>
        </p:txBody>
      </p:sp>
      <p:sp>
        <p:nvSpPr>
          <p:cNvPr id="23" name="Text 21"/>
          <p:cNvSpPr/>
          <p:nvPr/>
        </p:nvSpPr>
        <p:spPr>
          <a:xfrm>
            <a:off x="9299448" y="2432304"/>
            <a:ext cx="2048256" cy="146304"/>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Calibri" pitchFamily="34" charset="0"/>
                <a:ea typeface="Calibri" pitchFamily="34" charset="-122"/>
                <a:cs typeface="Calibri" pitchFamily="34" charset="-120"/>
              </a:rPr>
              <a:t>ca đối xứng nghi vấn</a:t>
            </a:r>
            <a:endParaRPr lang="en-US" sz="850" dirty="0"/>
          </a:p>
        </p:txBody>
      </p:sp>
      <p:sp>
        <p:nvSpPr>
          <p:cNvPr id="24" name="Text 22"/>
          <p:cNvSpPr/>
          <p:nvPr/>
        </p:nvSpPr>
        <p:spPr>
          <a:xfrm>
            <a:off x="658368" y="3200400"/>
            <a:ext cx="1234440" cy="274320"/>
          </a:xfrm>
          <a:prstGeom prst="rect">
            <a:avLst/>
          </a:prstGeom>
          <a:noFill/>
          <a:ln/>
        </p:spPr>
        <p:txBody>
          <a:bodyPr wrap="square" lIns="0" tIns="0" rIns="0" bIns="0" rtlCol="0" anchor="ctr"/>
          <a:lstStyle/>
          <a:p>
            <a:pPr indent="0" marL="0">
              <a:buNone/>
            </a:pPr>
            <a:r>
              <a:rPr lang="en-US" sz="1400" b="1" dirty="0">
                <a:solidFill>
                  <a:srgbClr val="15803D"/>
                </a:solidFill>
                <a:latin typeface="Calibri" pitchFamily="34" charset="0"/>
                <a:ea typeface="Calibri" pitchFamily="34" charset="-122"/>
                <a:cs typeface="Calibri" pitchFamily="34" charset="-120"/>
              </a:rPr>
              <a:t>Đã hoàn thành</a:t>
            </a:r>
            <a:endParaRPr lang="en-US" sz="1400" dirty="0"/>
          </a:p>
        </p:txBody>
      </p:sp>
      <p:sp>
        <p:nvSpPr>
          <p:cNvPr id="25" name="Text 23"/>
          <p:cNvSpPr/>
          <p:nvPr/>
        </p:nvSpPr>
        <p:spPr>
          <a:xfrm>
            <a:off x="6528816" y="3200400"/>
            <a:ext cx="1371600" cy="274320"/>
          </a:xfrm>
          <a:prstGeom prst="rect">
            <a:avLst/>
          </a:prstGeom>
          <a:noFill/>
          <a:ln/>
        </p:spPr>
        <p:txBody>
          <a:bodyPr wrap="square" lIns="0" tIns="0" rIns="0" bIns="0" rtlCol="0" anchor="ctr"/>
          <a:lstStyle/>
          <a:p>
            <a:pPr indent="0" marL="0">
              <a:buNone/>
            </a:pPr>
            <a:r>
              <a:rPr lang="en-US" sz="1400" b="1" dirty="0">
                <a:solidFill>
                  <a:srgbClr val="D97706"/>
                </a:solidFill>
                <a:latin typeface="Calibri" pitchFamily="34" charset="0"/>
                <a:ea typeface="Calibri" pitchFamily="34" charset="-122"/>
                <a:cs typeface="Calibri" pitchFamily="34" charset="-120"/>
              </a:rPr>
              <a:t>Cổng hiện tại</a:t>
            </a:r>
            <a:endParaRPr lang="en-US" sz="1400" dirty="0"/>
          </a:p>
        </p:txBody>
      </p:sp>
      <p:sp>
        <p:nvSpPr>
          <p:cNvPr id="26" name="Shape 24"/>
          <p:cNvSpPr/>
          <p:nvPr/>
        </p:nvSpPr>
        <p:spPr>
          <a:xfrm>
            <a:off x="658368" y="3794760"/>
            <a:ext cx="530352" cy="530352"/>
          </a:xfrm>
          <a:prstGeom prst="ellipse">
            <a:avLst/>
          </a:prstGeom>
          <a:solidFill>
            <a:srgbClr val="0F766E"/>
          </a:solidFill>
          <a:ln w="12700">
            <a:solidFill>
              <a:srgbClr val="0F766E"/>
            </a:solidFill>
            <a:prstDash val="solid"/>
          </a:ln>
        </p:spPr>
      </p:sp>
      <p:sp>
        <p:nvSpPr>
          <p:cNvPr id="27" name="Text 25"/>
          <p:cNvSpPr/>
          <p:nvPr/>
        </p:nvSpPr>
        <p:spPr>
          <a:xfrm>
            <a:off x="658368" y="3922776"/>
            <a:ext cx="530352"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8" name="Shape 26"/>
          <p:cNvSpPr/>
          <p:nvPr/>
        </p:nvSpPr>
        <p:spPr>
          <a:xfrm>
            <a:off x="1225296" y="4059936"/>
            <a:ext cx="1481328" cy="0"/>
          </a:xfrm>
          <a:prstGeom prst="line">
            <a:avLst/>
          </a:prstGeom>
          <a:noFill/>
          <a:ln w="38100">
            <a:solidFill>
              <a:srgbClr val="14B8A6"/>
            </a:solidFill>
            <a:prstDash val="solid"/>
            <a:tailEnd type="triangle"/>
          </a:ln>
        </p:spPr>
      </p:sp>
      <p:sp>
        <p:nvSpPr>
          <p:cNvPr id="29" name="Text 27"/>
          <p:cNvSpPr/>
          <p:nvPr/>
        </p:nvSpPr>
        <p:spPr>
          <a:xfrm>
            <a:off x="429768" y="4507992"/>
            <a:ext cx="1005840" cy="219456"/>
          </a:xfrm>
          <a:prstGeom prst="rect">
            <a:avLst/>
          </a:prstGeom>
          <a:noFill/>
          <a:ln/>
        </p:spPr>
        <p:txBody>
          <a:bodyPr wrap="square" lIns="0" tIns="0" rIns="0" bIns="0" rtlCol="0" anchor="ctr"/>
          <a:lstStyle/>
          <a:p>
            <a:pPr algn="ctr" indent="0" marL="0">
              <a:buNone/>
            </a:pPr>
            <a:r>
              <a:rPr lang="en-US" sz="1300" b="1" dirty="0">
                <a:solidFill>
                  <a:srgbClr val="172033"/>
                </a:solidFill>
                <a:latin typeface="Calibri" pitchFamily="34" charset="0"/>
                <a:ea typeface="Calibri" pitchFamily="34" charset="-122"/>
                <a:cs typeface="Calibri" pitchFamily="34" charset="-120"/>
              </a:rPr>
              <a:t>Khảo sát</a:t>
            </a:r>
            <a:endParaRPr lang="en-US" sz="1300" dirty="0"/>
          </a:p>
        </p:txBody>
      </p:sp>
      <p:sp>
        <p:nvSpPr>
          <p:cNvPr id="30" name="Text 28"/>
          <p:cNvSpPr/>
          <p:nvPr/>
        </p:nvSpPr>
        <p:spPr>
          <a:xfrm>
            <a:off x="274320" y="4773168"/>
            <a:ext cx="1325880" cy="201168"/>
          </a:xfrm>
          <a:prstGeom prst="rect">
            <a:avLst/>
          </a:prstGeom>
          <a:noFill/>
          <a:ln/>
        </p:spPr>
        <p:txBody>
          <a:bodyPr wrap="square" lIns="0" tIns="0" rIns="0" bIns="0" rtlCol="0" anchor="ctr">
            <a:normAutofit/>
          </a:bodyPr>
          <a:lstStyle/>
          <a:p>
            <a:pPr algn="ctr" indent="0" marL="0">
              <a:buNone/>
            </a:pPr>
            <a:r>
              <a:rPr lang="en-US" sz="1000" dirty="0">
                <a:solidFill>
                  <a:srgbClr val="64748B"/>
                </a:solidFill>
                <a:latin typeface="Calibri" pitchFamily="34" charset="0"/>
                <a:ea typeface="Calibri" pitchFamily="34" charset="-122"/>
                <a:cs typeface="Calibri" pitchFamily="34" charset="-120"/>
              </a:rPr>
              <a:t>2 vòng</a:t>
            </a:r>
            <a:endParaRPr lang="en-US" sz="1000" dirty="0"/>
          </a:p>
        </p:txBody>
      </p:sp>
      <p:sp>
        <p:nvSpPr>
          <p:cNvPr id="31" name="Shape 29"/>
          <p:cNvSpPr/>
          <p:nvPr/>
        </p:nvSpPr>
        <p:spPr>
          <a:xfrm>
            <a:off x="2743200" y="3794760"/>
            <a:ext cx="530352" cy="530352"/>
          </a:xfrm>
          <a:prstGeom prst="ellipse">
            <a:avLst/>
          </a:prstGeom>
          <a:solidFill>
            <a:srgbClr val="0F766E"/>
          </a:solidFill>
          <a:ln w="12700">
            <a:solidFill>
              <a:srgbClr val="0F766E"/>
            </a:solidFill>
            <a:prstDash val="solid"/>
          </a:ln>
        </p:spPr>
      </p:sp>
      <p:sp>
        <p:nvSpPr>
          <p:cNvPr id="32" name="Text 30"/>
          <p:cNvSpPr/>
          <p:nvPr/>
        </p:nvSpPr>
        <p:spPr>
          <a:xfrm>
            <a:off x="2743200" y="3922776"/>
            <a:ext cx="530352"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3" name="Shape 31"/>
          <p:cNvSpPr/>
          <p:nvPr/>
        </p:nvSpPr>
        <p:spPr>
          <a:xfrm>
            <a:off x="3310128" y="4059936"/>
            <a:ext cx="1481328" cy="0"/>
          </a:xfrm>
          <a:prstGeom prst="line">
            <a:avLst/>
          </a:prstGeom>
          <a:noFill/>
          <a:ln w="38100">
            <a:solidFill>
              <a:srgbClr val="14B8A6"/>
            </a:solidFill>
            <a:prstDash val="solid"/>
            <a:tailEnd type="triangle"/>
          </a:ln>
        </p:spPr>
      </p:sp>
      <p:sp>
        <p:nvSpPr>
          <p:cNvPr id="34" name="Text 32"/>
          <p:cNvSpPr/>
          <p:nvPr/>
        </p:nvSpPr>
        <p:spPr>
          <a:xfrm>
            <a:off x="2514600" y="4507992"/>
            <a:ext cx="1005840" cy="219456"/>
          </a:xfrm>
          <a:prstGeom prst="rect">
            <a:avLst/>
          </a:prstGeom>
          <a:noFill/>
          <a:ln/>
        </p:spPr>
        <p:txBody>
          <a:bodyPr wrap="square" lIns="0" tIns="0" rIns="0" bIns="0" rtlCol="0" anchor="ctr"/>
          <a:lstStyle/>
          <a:p>
            <a:pPr algn="ctr" indent="0" marL="0">
              <a:buNone/>
            </a:pPr>
            <a:r>
              <a:rPr lang="en-US" sz="1300" b="1" dirty="0">
                <a:solidFill>
                  <a:srgbClr val="172033"/>
                </a:solidFill>
                <a:latin typeface="Calibri" pitchFamily="34" charset="0"/>
                <a:ea typeface="Calibri" pitchFamily="34" charset="-122"/>
                <a:cs typeface="Calibri" pitchFamily="34" charset="-120"/>
              </a:rPr>
              <a:t>Khoảng trống</a:t>
            </a:r>
            <a:endParaRPr lang="en-US" sz="1300" dirty="0"/>
          </a:p>
        </p:txBody>
      </p:sp>
      <p:sp>
        <p:nvSpPr>
          <p:cNvPr id="35" name="Text 33"/>
          <p:cNvSpPr/>
          <p:nvPr/>
        </p:nvSpPr>
        <p:spPr>
          <a:xfrm>
            <a:off x="2359152" y="4773168"/>
            <a:ext cx="1325880" cy="201168"/>
          </a:xfrm>
          <a:prstGeom prst="rect">
            <a:avLst/>
          </a:prstGeom>
          <a:noFill/>
          <a:ln/>
        </p:spPr>
        <p:txBody>
          <a:bodyPr wrap="square" lIns="0" tIns="0" rIns="0" bIns="0" rtlCol="0" anchor="ctr">
            <a:normAutofit/>
          </a:bodyPr>
          <a:lstStyle/>
          <a:p>
            <a:pPr algn="ctr" indent="0" marL="0">
              <a:buNone/>
            </a:pPr>
            <a:r>
              <a:rPr lang="en-US" sz="1000" dirty="0">
                <a:solidFill>
                  <a:srgbClr val="64748B"/>
                </a:solidFill>
                <a:latin typeface="Calibri" pitchFamily="34" charset="0"/>
                <a:ea typeface="Calibri" pitchFamily="34" charset="-122"/>
                <a:cs typeface="Calibri" pitchFamily="34" charset="-120"/>
              </a:rPr>
              <a:t>đã xác định</a:t>
            </a:r>
            <a:endParaRPr lang="en-US" sz="1000" dirty="0"/>
          </a:p>
        </p:txBody>
      </p:sp>
      <p:sp>
        <p:nvSpPr>
          <p:cNvPr id="36" name="Shape 34"/>
          <p:cNvSpPr/>
          <p:nvPr/>
        </p:nvSpPr>
        <p:spPr>
          <a:xfrm>
            <a:off x="4828032" y="3794760"/>
            <a:ext cx="530352" cy="530352"/>
          </a:xfrm>
          <a:prstGeom prst="ellipse">
            <a:avLst/>
          </a:prstGeom>
          <a:solidFill>
            <a:srgbClr val="0F766E"/>
          </a:solidFill>
          <a:ln w="12700">
            <a:solidFill>
              <a:srgbClr val="0F766E"/>
            </a:solidFill>
            <a:prstDash val="solid"/>
          </a:ln>
        </p:spPr>
      </p:sp>
      <p:sp>
        <p:nvSpPr>
          <p:cNvPr id="37" name="Text 35"/>
          <p:cNvSpPr/>
          <p:nvPr/>
        </p:nvSpPr>
        <p:spPr>
          <a:xfrm>
            <a:off x="4828032" y="3922776"/>
            <a:ext cx="530352"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8" name="Shape 36"/>
          <p:cNvSpPr/>
          <p:nvPr/>
        </p:nvSpPr>
        <p:spPr>
          <a:xfrm>
            <a:off x="5394960" y="4059936"/>
            <a:ext cx="1481328" cy="0"/>
          </a:xfrm>
          <a:prstGeom prst="line">
            <a:avLst/>
          </a:prstGeom>
          <a:noFill/>
          <a:ln w="38100">
            <a:solidFill>
              <a:srgbClr val="14B8A6"/>
            </a:solidFill>
            <a:prstDash val="solid"/>
            <a:tailEnd type="triangle"/>
          </a:ln>
        </p:spPr>
      </p:sp>
      <p:sp>
        <p:nvSpPr>
          <p:cNvPr id="39" name="Text 37"/>
          <p:cNvSpPr/>
          <p:nvPr/>
        </p:nvSpPr>
        <p:spPr>
          <a:xfrm>
            <a:off x="4599432" y="4507992"/>
            <a:ext cx="1005840" cy="219456"/>
          </a:xfrm>
          <a:prstGeom prst="rect">
            <a:avLst/>
          </a:prstGeom>
          <a:noFill/>
          <a:ln/>
        </p:spPr>
        <p:txBody>
          <a:bodyPr wrap="square" lIns="0" tIns="0" rIns="0" bIns="0" rtlCol="0" anchor="ctr"/>
          <a:lstStyle/>
          <a:p>
            <a:pPr algn="ctr" indent="0" marL="0">
              <a:buNone/>
            </a:pPr>
            <a:r>
              <a:rPr lang="en-US" sz="1300" b="1" dirty="0">
                <a:solidFill>
                  <a:srgbClr val="172033"/>
                </a:solidFill>
                <a:latin typeface="Calibri" pitchFamily="34" charset="0"/>
                <a:ea typeface="Calibri" pitchFamily="34" charset="-122"/>
                <a:cs typeface="Calibri" pitchFamily="34" charset="-120"/>
              </a:rPr>
              <a:t>Quy trình</a:t>
            </a:r>
            <a:endParaRPr lang="en-US" sz="1300" dirty="0"/>
          </a:p>
        </p:txBody>
      </p:sp>
      <p:sp>
        <p:nvSpPr>
          <p:cNvPr id="40" name="Text 38"/>
          <p:cNvSpPr/>
          <p:nvPr/>
        </p:nvSpPr>
        <p:spPr>
          <a:xfrm>
            <a:off x="4443984" y="4773168"/>
            <a:ext cx="1325880" cy="201168"/>
          </a:xfrm>
          <a:prstGeom prst="rect">
            <a:avLst/>
          </a:prstGeom>
          <a:noFill/>
          <a:ln/>
        </p:spPr>
        <p:txBody>
          <a:bodyPr wrap="square" lIns="0" tIns="0" rIns="0" bIns="0" rtlCol="0" anchor="ctr">
            <a:normAutofit/>
          </a:bodyPr>
          <a:lstStyle/>
          <a:p>
            <a:pPr algn="ctr" indent="0" marL="0">
              <a:buNone/>
            </a:pPr>
            <a:r>
              <a:rPr lang="en-US" sz="1000" dirty="0">
                <a:solidFill>
                  <a:srgbClr val="64748B"/>
                </a:solidFill>
                <a:latin typeface="Calibri" pitchFamily="34" charset="0"/>
                <a:ea typeface="Calibri" pitchFamily="34" charset="-122"/>
                <a:cs typeface="Calibri" pitchFamily="34" charset="-120"/>
              </a:rPr>
              <a:t>đã tài liệu hóa</a:t>
            </a:r>
            <a:endParaRPr lang="en-US" sz="1000" dirty="0"/>
          </a:p>
        </p:txBody>
      </p:sp>
      <p:sp>
        <p:nvSpPr>
          <p:cNvPr id="41" name="Shape 39"/>
          <p:cNvSpPr/>
          <p:nvPr/>
        </p:nvSpPr>
        <p:spPr>
          <a:xfrm>
            <a:off x="6912864" y="3794760"/>
            <a:ext cx="530352" cy="530352"/>
          </a:xfrm>
          <a:prstGeom prst="ellipse">
            <a:avLst/>
          </a:prstGeom>
          <a:solidFill>
            <a:srgbClr val="D97706"/>
          </a:solidFill>
          <a:ln w="12700">
            <a:solidFill>
              <a:srgbClr val="D97706"/>
            </a:solidFill>
            <a:prstDash val="solid"/>
          </a:ln>
        </p:spPr>
      </p:sp>
      <p:sp>
        <p:nvSpPr>
          <p:cNvPr id="42" name="Text 40"/>
          <p:cNvSpPr/>
          <p:nvPr/>
        </p:nvSpPr>
        <p:spPr>
          <a:xfrm>
            <a:off x="6912864" y="3922776"/>
            <a:ext cx="530352"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3" name="Shape 41"/>
          <p:cNvSpPr/>
          <p:nvPr/>
        </p:nvSpPr>
        <p:spPr>
          <a:xfrm>
            <a:off x="7479792" y="4059936"/>
            <a:ext cx="1481328" cy="0"/>
          </a:xfrm>
          <a:prstGeom prst="line">
            <a:avLst/>
          </a:prstGeom>
          <a:noFill/>
          <a:ln w="38100">
            <a:solidFill>
              <a:srgbClr val="CBD5E1"/>
            </a:solidFill>
            <a:prstDash val="solid"/>
            <a:tailEnd type="triangle"/>
          </a:ln>
        </p:spPr>
      </p:sp>
      <p:sp>
        <p:nvSpPr>
          <p:cNvPr id="44" name="Text 42"/>
          <p:cNvSpPr/>
          <p:nvPr/>
        </p:nvSpPr>
        <p:spPr>
          <a:xfrm>
            <a:off x="6684264" y="4507992"/>
            <a:ext cx="1005840" cy="219456"/>
          </a:xfrm>
          <a:prstGeom prst="rect">
            <a:avLst/>
          </a:prstGeom>
          <a:noFill/>
          <a:ln/>
        </p:spPr>
        <p:txBody>
          <a:bodyPr wrap="square" lIns="0" tIns="0" rIns="0" bIns="0" rtlCol="0" anchor="ctr"/>
          <a:lstStyle/>
          <a:p>
            <a:pPr algn="ctr" indent="0" marL="0">
              <a:buNone/>
            </a:pPr>
            <a:r>
              <a:rPr lang="en-US" sz="1300" b="1" dirty="0">
                <a:solidFill>
                  <a:srgbClr val="172033"/>
                </a:solidFill>
                <a:latin typeface="Calibri" pitchFamily="34" charset="0"/>
                <a:ea typeface="Calibri" pitchFamily="34" charset="-122"/>
                <a:cs typeface="Calibri" pitchFamily="34" charset="-120"/>
              </a:rPr>
              <a:t>Kiểm định</a:t>
            </a:r>
            <a:endParaRPr lang="en-US" sz="1300" dirty="0"/>
          </a:p>
        </p:txBody>
      </p:sp>
      <p:sp>
        <p:nvSpPr>
          <p:cNvPr id="45" name="Text 43"/>
          <p:cNvSpPr/>
          <p:nvPr/>
        </p:nvSpPr>
        <p:spPr>
          <a:xfrm>
            <a:off x="6528816" y="4773168"/>
            <a:ext cx="1325880" cy="201168"/>
          </a:xfrm>
          <a:prstGeom prst="rect">
            <a:avLst/>
          </a:prstGeom>
          <a:noFill/>
          <a:ln/>
        </p:spPr>
        <p:txBody>
          <a:bodyPr wrap="square" lIns="0" tIns="0" rIns="0" bIns="0" rtlCol="0" anchor="ctr">
            <a:normAutofit/>
          </a:bodyPr>
          <a:lstStyle/>
          <a:p>
            <a:pPr algn="ctr" indent="0" marL="0">
              <a:buNone/>
            </a:pPr>
            <a:r>
              <a:rPr lang="en-US" sz="1000" dirty="0">
                <a:solidFill>
                  <a:srgbClr val="64748B"/>
                </a:solidFill>
                <a:latin typeface="Calibri" pitchFamily="34" charset="0"/>
                <a:ea typeface="Calibri" pitchFamily="34" charset="-122"/>
                <a:cs typeface="Calibri" pitchFamily="34" charset="-120"/>
              </a:rPr>
              <a:t>bước kế</a:t>
            </a:r>
            <a:endParaRPr lang="en-US" sz="1000" dirty="0"/>
          </a:p>
        </p:txBody>
      </p:sp>
      <p:sp>
        <p:nvSpPr>
          <p:cNvPr id="46" name="Shape 44"/>
          <p:cNvSpPr/>
          <p:nvPr/>
        </p:nvSpPr>
        <p:spPr>
          <a:xfrm>
            <a:off x="8997696" y="3794760"/>
            <a:ext cx="530352" cy="530352"/>
          </a:xfrm>
          <a:prstGeom prst="ellipse">
            <a:avLst/>
          </a:prstGeom>
          <a:solidFill>
            <a:srgbClr val="CBD5E1"/>
          </a:solidFill>
          <a:ln w="12700">
            <a:solidFill>
              <a:srgbClr val="CBD5E1"/>
            </a:solidFill>
            <a:prstDash val="solid"/>
          </a:ln>
        </p:spPr>
      </p:sp>
      <p:sp>
        <p:nvSpPr>
          <p:cNvPr id="47" name="Text 45"/>
          <p:cNvSpPr/>
          <p:nvPr/>
        </p:nvSpPr>
        <p:spPr>
          <a:xfrm>
            <a:off x="8997696" y="3922776"/>
            <a:ext cx="530352"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8" name="Text 46"/>
          <p:cNvSpPr/>
          <p:nvPr/>
        </p:nvSpPr>
        <p:spPr>
          <a:xfrm>
            <a:off x="8769096" y="4507992"/>
            <a:ext cx="1005840" cy="219456"/>
          </a:xfrm>
          <a:prstGeom prst="rect">
            <a:avLst/>
          </a:prstGeom>
          <a:noFill/>
          <a:ln/>
        </p:spPr>
        <p:txBody>
          <a:bodyPr wrap="square" lIns="0" tIns="0" rIns="0" bIns="0" rtlCol="0" anchor="ctr"/>
          <a:lstStyle/>
          <a:p>
            <a:pPr algn="ctr" indent="0" marL="0">
              <a:buNone/>
            </a:pPr>
            <a:r>
              <a:rPr lang="en-US" sz="1300" b="1" dirty="0">
                <a:solidFill>
                  <a:srgbClr val="172033"/>
                </a:solidFill>
                <a:latin typeface="Calibri" pitchFamily="34" charset="0"/>
                <a:ea typeface="Calibri" pitchFamily="34" charset="-122"/>
                <a:cs typeface="Calibri" pitchFamily="34" charset="-120"/>
              </a:rPr>
              <a:t>Mô hình</a:t>
            </a:r>
            <a:endParaRPr lang="en-US" sz="1300" dirty="0"/>
          </a:p>
        </p:txBody>
      </p:sp>
      <p:sp>
        <p:nvSpPr>
          <p:cNvPr id="49" name="Text 47"/>
          <p:cNvSpPr/>
          <p:nvPr/>
        </p:nvSpPr>
        <p:spPr>
          <a:xfrm>
            <a:off x="8613648" y="4773168"/>
            <a:ext cx="1325880" cy="201168"/>
          </a:xfrm>
          <a:prstGeom prst="rect">
            <a:avLst/>
          </a:prstGeom>
          <a:noFill/>
          <a:ln/>
        </p:spPr>
        <p:txBody>
          <a:bodyPr wrap="square" lIns="0" tIns="0" rIns="0" bIns="0" rtlCol="0" anchor="ctr">
            <a:normAutofit/>
          </a:bodyPr>
          <a:lstStyle/>
          <a:p>
            <a:pPr algn="ctr" indent="0" marL="0">
              <a:buNone/>
            </a:pPr>
            <a:r>
              <a:rPr lang="en-US" sz="1000" dirty="0">
                <a:solidFill>
                  <a:srgbClr val="64748B"/>
                </a:solidFill>
                <a:latin typeface="Calibri" pitchFamily="34" charset="0"/>
                <a:ea typeface="Calibri" pitchFamily="34" charset="-122"/>
                <a:cs typeface="Calibri" pitchFamily="34" charset="-120"/>
              </a:rPr>
              <a:t>sau RDR-0003</a:t>
            </a:r>
            <a:endParaRPr lang="en-US" sz="1000" dirty="0"/>
          </a:p>
        </p:txBody>
      </p:sp>
      <p:sp>
        <p:nvSpPr>
          <p:cNvPr id="50" name="Shape 48"/>
          <p:cNvSpPr/>
          <p:nvPr/>
        </p:nvSpPr>
        <p:spPr>
          <a:xfrm>
            <a:off x="658368" y="5303520"/>
            <a:ext cx="10881360" cy="566928"/>
          </a:xfrm>
          <a:prstGeom prst="roundRect">
            <a:avLst>
              <a:gd name="adj" fmla="val 12903"/>
            </a:avLst>
          </a:prstGeom>
          <a:solidFill>
            <a:srgbClr val="CCFBF1"/>
          </a:solidFill>
          <a:ln w="12700">
            <a:solidFill>
              <a:srgbClr val="CCFBF1"/>
            </a:solidFill>
            <a:prstDash val="solid"/>
          </a:ln>
        </p:spPr>
      </p:sp>
      <p:sp>
        <p:nvSpPr>
          <p:cNvPr id="51" name="Text 49"/>
          <p:cNvSpPr/>
          <p:nvPr/>
        </p:nvSpPr>
        <p:spPr>
          <a:xfrm>
            <a:off x="914400" y="5468112"/>
            <a:ext cx="10378440" cy="219456"/>
          </a:xfrm>
          <a:prstGeom prst="rect">
            <a:avLst/>
          </a:prstGeom>
          <a:noFill/>
          <a:ln/>
        </p:spPr>
        <p:txBody>
          <a:bodyPr wrap="square" lIns="0" tIns="0" rIns="0" bIns="0" rtlCol="0" anchor="ctr">
            <a:normAutofit/>
          </a:bodyPr>
          <a:lstStyle/>
          <a:p>
            <a:pPr algn="ctr" indent="0" marL="0">
              <a:buNone/>
            </a:pPr>
            <a:r>
              <a:rPr lang="en-US" sz="1500" b="1" dirty="0">
                <a:solidFill>
                  <a:srgbClr val="0F766E"/>
                </a:solidFill>
                <a:latin typeface="Calibri" pitchFamily="34" charset="0"/>
                <a:ea typeface="Calibri" pitchFamily="34" charset="-122"/>
                <a:cs typeface="Calibri" pitchFamily="34" charset="-120"/>
              </a:rPr>
              <a:t>Kết quả khảo sát: đủ bằng chứng để thiết kế kiểm định có mục tiêu — chưa đủ để chốt phép đo cuối.</a:t>
            </a:r>
            <a:endParaRPr lang="en-US" sz="1500" dirty="0"/>
          </a:p>
        </p:txBody>
      </p:sp>
      <p:sp>
        <p:nvSpPr>
          <p:cNvPr id="52" name="Text 50"/>
          <p:cNvSpPr/>
          <p:nvPr/>
        </p:nvSpPr>
        <p:spPr>
          <a:xfrm>
            <a:off x="640080" y="6172200"/>
            <a:ext cx="10607040" cy="164592"/>
          </a:xfrm>
          <a:prstGeom prst="rect">
            <a:avLst/>
          </a:prstGeom>
          <a:noFill/>
          <a:ln/>
        </p:spPr>
        <p:txBody>
          <a:bodyPr wrap="square" lIns="0" tIns="0" rIns="0" bIns="0" rtlCol="0" anchor="ctr">
            <a:normAutofit/>
          </a:bodyPr>
          <a:lstStyle/>
          <a:p>
            <a:pPr indent="0" marL="0">
              <a:buNone/>
            </a:pPr>
            <a:r>
              <a:rPr lang="en-US" sz="850" i="1" dirty="0">
                <a:solidFill>
                  <a:srgbClr val="64748B"/>
                </a:solidFill>
                <a:latin typeface="Calibri" pitchFamily="34" charset="0"/>
                <a:ea typeface="Calibri" pitchFamily="34" charset="-122"/>
                <a:cs typeface="Calibri" pitchFamily="34" charset="-120"/>
              </a:rPr>
              <a:t>Nguồn: STATUS.md; tổng hợp khảo sát; audit trực tiếp data/TripAdvisor_EN.json (404 và 199 trường hợp).</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indent="0" marL="0">
              <a:buNone/>
            </a:pPr>
            <a:r>
              <a:rPr lang="en-US" sz="1000" b="1" spc="120" kern="0" dirty="0">
                <a:solidFill>
                  <a:srgbClr val="0F766E"/>
                </a:solidFill>
                <a:latin typeface="Calibri" pitchFamily="34" charset="0"/>
                <a:ea typeface="Calibri" pitchFamily="34" charset="-122"/>
                <a:cs typeface="Calibri" pitchFamily="34" charset="-120"/>
              </a:rPr>
              <a:t>HIỆN TƯỢNG</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indent="0" marL="0">
              <a:buNone/>
            </a:pPr>
            <a:r>
              <a:rPr lang="en-US" sz="2900" b="1" dirty="0">
                <a:solidFill>
                  <a:srgbClr val="172033"/>
                </a:solidFill>
                <a:latin typeface="Cambria" pitchFamily="34" charset="0"/>
                <a:ea typeface="Cambria" pitchFamily="34" charset="-122"/>
                <a:cs typeface="Cambria" pitchFamily="34" charset="-120"/>
              </a:rPr>
              <a:t>Vì sao khớp từ khóa là chưa đủ</a:t>
            </a:r>
            <a:endParaRPr lang="en-US" sz="2900" dirty="0"/>
          </a:p>
        </p:txBody>
      </p:sp>
      <p:sp>
        <p:nvSpPr>
          <p:cNvPr id="4" name="Shape 2"/>
          <p:cNvSpPr/>
          <p:nvPr/>
        </p:nvSpPr>
        <p:spPr>
          <a:xfrm>
            <a:off x="640080" y="1234440"/>
            <a:ext cx="5349240" cy="4297680"/>
          </a:xfrm>
          <a:prstGeom prst="roundRect">
            <a:avLst>
              <a:gd name="adj" fmla="val 1702"/>
            </a:avLst>
          </a:prstGeom>
          <a:solidFill>
            <a:srgbClr val="FFFFFF"/>
          </a:solidFill>
          <a:ln w="12700">
            <a:solidFill>
              <a:srgbClr val="D1FAE5"/>
            </a:solidFill>
            <a:prstDash val="solid"/>
          </a:ln>
        </p:spPr>
      </p:sp>
      <p:sp>
        <p:nvSpPr>
          <p:cNvPr id="5" name="Shape 3"/>
          <p:cNvSpPr/>
          <p:nvPr/>
        </p:nvSpPr>
        <p:spPr>
          <a:xfrm>
            <a:off x="896112" y="1527048"/>
            <a:ext cx="1234440" cy="310896"/>
          </a:xfrm>
          <a:prstGeom prst="roundRect">
            <a:avLst>
              <a:gd name="adj" fmla="val 23529"/>
            </a:avLst>
          </a:prstGeom>
          <a:solidFill>
            <a:srgbClr val="DCFCE7"/>
          </a:solidFill>
          <a:ln w="12700">
            <a:solidFill>
              <a:srgbClr val="DCFCE7">
                <a:alpha val="0"/>
              </a:srgbClr>
            </a:solidFill>
            <a:prstDash val="solid"/>
          </a:ln>
        </p:spPr>
      </p:sp>
      <p:sp>
        <p:nvSpPr>
          <p:cNvPr id="6" name="Text 4"/>
          <p:cNvSpPr/>
          <p:nvPr/>
        </p:nvSpPr>
        <p:spPr>
          <a:xfrm>
            <a:off x="969264" y="1581912"/>
            <a:ext cx="1088136" cy="146304"/>
          </a:xfrm>
          <a:prstGeom prst="rect">
            <a:avLst/>
          </a:prstGeom>
          <a:noFill/>
          <a:ln/>
        </p:spPr>
        <p:txBody>
          <a:bodyPr wrap="square" lIns="0" tIns="0" rIns="0" bIns="0" rtlCol="0" anchor="ctr">
            <a:normAutofit/>
          </a:bodyPr>
          <a:lstStyle/>
          <a:p>
            <a:pPr algn="ctr" indent="0" marL="0">
              <a:buNone/>
            </a:pPr>
            <a:r>
              <a:rPr lang="en-US" sz="950" b="1" dirty="0">
                <a:solidFill>
                  <a:srgbClr val="15803D"/>
                </a:solidFill>
                <a:latin typeface="Calibri" pitchFamily="34" charset="0"/>
                <a:ea typeface="Calibri" pitchFamily="34" charset="-122"/>
                <a:cs typeface="Calibri" pitchFamily="34" charset="-120"/>
              </a:rPr>
              <a:t>5.0 ĐIỂM</a:t>
            </a:r>
            <a:endParaRPr lang="en-US" sz="950" dirty="0"/>
          </a:p>
        </p:txBody>
      </p:sp>
      <p:sp>
        <p:nvSpPr>
          <p:cNvPr id="7" name="Text 5"/>
          <p:cNvSpPr/>
          <p:nvPr/>
        </p:nvSpPr>
        <p:spPr>
          <a:xfrm>
            <a:off x="896112" y="2148840"/>
            <a:ext cx="4828032" cy="1051560"/>
          </a:xfrm>
          <a:prstGeom prst="rect">
            <a:avLst/>
          </a:prstGeom>
          <a:noFill/>
          <a:ln/>
        </p:spPr>
        <p:txBody>
          <a:bodyPr wrap="square" lIns="508" tIns="508" rIns="508" bIns="508" rtlCol="0" anchor="ctr">
            <a:normAutofit/>
          </a:bodyPr>
          <a:lstStyle/>
          <a:p>
            <a:pPr indent="0" marL="0">
              <a:buNone/>
            </a:pPr>
            <a:r>
              <a:rPr lang="en-US" sz="1900" i="1" dirty="0">
                <a:solidFill>
                  <a:srgbClr val="172033"/>
                </a:solidFill>
                <a:latin typeface="Cambria" pitchFamily="34" charset="0"/>
                <a:ea typeface="Cambria" pitchFamily="34" charset="-122"/>
                <a:cs typeface="Cambria" pitchFamily="34" charset="-120"/>
              </a:rPr>
              <a:t>“...phòng đầu tiên có vấn đề ở cửa, khách sạn lập tức đổi sang phòng tương đương.”</a:t>
            </a:r>
            <a:endParaRPr lang="en-US" sz="1900" dirty="0"/>
          </a:p>
        </p:txBody>
      </p:sp>
      <p:sp>
        <p:nvSpPr>
          <p:cNvPr id="8" name="Text 6"/>
          <p:cNvSpPr/>
          <p:nvPr/>
        </p:nvSpPr>
        <p:spPr>
          <a:xfrm>
            <a:off x="896112" y="3429000"/>
            <a:ext cx="4663440" cy="384048"/>
          </a:xfrm>
          <a:prstGeom prst="rect">
            <a:avLst/>
          </a:prstGeom>
          <a:noFill/>
          <a:ln/>
        </p:spPr>
        <p:txBody>
          <a:bodyPr wrap="square" lIns="0" tIns="0" rIns="0" bIns="0" rtlCol="0" anchor="ctr">
            <a:normAutofit/>
          </a:bodyPr>
          <a:lstStyle/>
          <a:p>
            <a:pPr indent="0" marL="0">
              <a:buNone/>
            </a:pPr>
            <a:r>
              <a:rPr lang="en-US" sz="1500" b="1" dirty="0">
                <a:solidFill>
                  <a:srgbClr val="0F766E"/>
                </a:solidFill>
                <a:latin typeface="Calibri" pitchFamily="34" charset="0"/>
                <a:ea typeface="Calibri" pitchFamily="34" charset="-122"/>
                <a:cs typeface="Calibri" pitchFamily="34" charset="-120"/>
              </a:rPr>
              <a:t>Dịch vụ khắc phục tích cực có thể đệm cho lỗi cơ sở vật chất.</a:t>
            </a:r>
            <a:endParaRPr lang="en-US" sz="1500" dirty="0"/>
          </a:p>
        </p:txBody>
      </p:sp>
      <p:sp>
        <p:nvSpPr>
          <p:cNvPr id="9" name="Text 7"/>
          <p:cNvSpPr/>
          <p:nvPr/>
        </p:nvSpPr>
        <p:spPr>
          <a:xfrm>
            <a:off x="896112" y="4014216"/>
            <a:ext cx="4663440" cy="292608"/>
          </a:xfrm>
          <a:prstGeom prst="rect">
            <a:avLst/>
          </a:prstGeom>
          <a:noFill/>
          <a:ln/>
        </p:spPr>
        <p:txBody>
          <a:bodyPr wrap="square" lIns="0" tIns="0" rIns="0" bIns="0" rtlCol="0" anchor="ctr"/>
          <a:lstStyle/>
          <a:p>
            <a:pPr indent="0" marL="0">
              <a:buNone/>
            </a:pPr>
            <a:r>
              <a:rPr lang="en-US" sz="1250" dirty="0">
                <a:solidFill>
                  <a:srgbClr val="475569"/>
                </a:solidFill>
                <a:latin typeface="Calibri" pitchFamily="34" charset="0"/>
                <a:ea typeface="Calibri" pitchFamily="34" charset="-122"/>
                <a:cs typeface="Calibri" pitchFamily="34" charset="-120"/>
              </a:rPr>
              <a:t>Cơ chế nghi vấn: tấm đệm / tha thứ</a:t>
            </a:r>
            <a:endParaRPr lang="en-US" sz="1250" dirty="0"/>
          </a:p>
        </p:txBody>
      </p:sp>
      <p:sp>
        <p:nvSpPr>
          <p:cNvPr id="10" name="Shape 8"/>
          <p:cNvSpPr/>
          <p:nvPr/>
        </p:nvSpPr>
        <p:spPr>
          <a:xfrm>
            <a:off x="914400" y="4736592"/>
            <a:ext cx="4526280" cy="0"/>
          </a:xfrm>
          <a:prstGeom prst="line">
            <a:avLst/>
          </a:prstGeom>
          <a:noFill/>
          <a:ln w="25400">
            <a:solidFill>
              <a:srgbClr val="D1FAE5"/>
            </a:solidFill>
            <a:prstDash val="solid"/>
          </a:ln>
        </p:spPr>
      </p:sp>
      <p:sp>
        <p:nvSpPr>
          <p:cNvPr id="11" name="Text 9"/>
          <p:cNvSpPr/>
          <p:nvPr/>
        </p:nvSpPr>
        <p:spPr>
          <a:xfrm>
            <a:off x="896112" y="4919472"/>
            <a:ext cx="4754880" cy="256032"/>
          </a:xfrm>
          <a:prstGeom prst="rect">
            <a:avLst/>
          </a:prstGeom>
          <a:noFill/>
          <a:ln/>
        </p:spPr>
        <p:txBody>
          <a:bodyPr wrap="square" lIns="0" tIns="0" rIns="0" bIns="0" rtlCol="0" anchor="ctr">
            <a:normAutofit/>
          </a:bodyPr>
          <a:lstStyle/>
          <a:p>
            <a:pPr indent="0" marL="0">
              <a:buNone/>
            </a:pPr>
            <a:r>
              <a:rPr lang="en-US" sz="1150" dirty="0">
                <a:solidFill>
                  <a:srgbClr val="64748B"/>
                </a:solidFill>
                <a:latin typeface="Calibri" pitchFamily="34" charset="0"/>
                <a:ea typeface="Calibri" pitchFamily="34" charset="-122"/>
                <a:cs typeface="Calibri" pitchFamily="34" charset="-120"/>
              </a:rPr>
              <a:t>Có đoạn tiêu cực, nhưng ngữ cảnh làm thay đổi ý nghĩa.</a:t>
            </a:r>
            <a:endParaRPr lang="en-US" sz="1150" dirty="0"/>
          </a:p>
        </p:txBody>
      </p:sp>
      <p:sp>
        <p:nvSpPr>
          <p:cNvPr id="12" name="Shape 10"/>
          <p:cNvSpPr/>
          <p:nvPr/>
        </p:nvSpPr>
        <p:spPr>
          <a:xfrm>
            <a:off x="6199632" y="1234440"/>
            <a:ext cx="5349240" cy="4297680"/>
          </a:xfrm>
          <a:prstGeom prst="roundRect">
            <a:avLst>
              <a:gd name="adj" fmla="val 1702"/>
            </a:avLst>
          </a:prstGeom>
          <a:solidFill>
            <a:srgbClr val="FFFFFF"/>
          </a:solidFill>
          <a:ln w="12700">
            <a:solidFill>
              <a:srgbClr val="FDE68A"/>
            </a:solidFill>
            <a:prstDash val="solid"/>
          </a:ln>
        </p:spPr>
      </p:sp>
      <p:sp>
        <p:nvSpPr>
          <p:cNvPr id="13" name="Shape 11"/>
          <p:cNvSpPr/>
          <p:nvPr/>
        </p:nvSpPr>
        <p:spPr>
          <a:xfrm>
            <a:off x="6455664" y="1527048"/>
            <a:ext cx="1234440" cy="310896"/>
          </a:xfrm>
          <a:prstGeom prst="roundRect">
            <a:avLst>
              <a:gd name="adj" fmla="val 23529"/>
            </a:avLst>
          </a:prstGeom>
          <a:solidFill>
            <a:srgbClr val="FEF3C7"/>
          </a:solidFill>
          <a:ln w="12700">
            <a:solidFill>
              <a:srgbClr val="FEF3C7">
                <a:alpha val="0"/>
              </a:srgbClr>
            </a:solidFill>
            <a:prstDash val="solid"/>
          </a:ln>
        </p:spPr>
      </p:sp>
      <p:sp>
        <p:nvSpPr>
          <p:cNvPr id="14" name="Text 12"/>
          <p:cNvSpPr/>
          <p:nvPr/>
        </p:nvSpPr>
        <p:spPr>
          <a:xfrm>
            <a:off x="6528816" y="1581912"/>
            <a:ext cx="1088136" cy="146304"/>
          </a:xfrm>
          <a:prstGeom prst="rect">
            <a:avLst/>
          </a:prstGeom>
          <a:noFill/>
          <a:ln/>
        </p:spPr>
        <p:txBody>
          <a:bodyPr wrap="square" lIns="0" tIns="0" rIns="0" bIns="0" rtlCol="0" anchor="ctr">
            <a:normAutofit/>
          </a:bodyPr>
          <a:lstStyle/>
          <a:p>
            <a:pPr algn="ctr" indent="0" marL="0">
              <a:buNone/>
            </a:pPr>
            <a:r>
              <a:rPr lang="en-US" sz="950" b="1" dirty="0">
                <a:solidFill>
                  <a:srgbClr val="D97706"/>
                </a:solidFill>
                <a:latin typeface="Calibri" pitchFamily="34" charset="0"/>
                <a:ea typeface="Calibri" pitchFamily="34" charset="-122"/>
                <a:cs typeface="Calibri" pitchFamily="34" charset="-120"/>
              </a:rPr>
              <a:t>2.0 ĐIỂM</a:t>
            </a:r>
            <a:endParaRPr lang="en-US" sz="950" dirty="0"/>
          </a:p>
        </p:txBody>
      </p:sp>
      <p:sp>
        <p:nvSpPr>
          <p:cNvPr id="15" name="Text 13"/>
          <p:cNvSpPr/>
          <p:nvPr/>
        </p:nvSpPr>
        <p:spPr>
          <a:xfrm>
            <a:off x="6455664" y="2148840"/>
            <a:ext cx="4828032" cy="1051560"/>
          </a:xfrm>
          <a:prstGeom prst="rect">
            <a:avLst/>
          </a:prstGeom>
          <a:noFill/>
          <a:ln/>
        </p:spPr>
        <p:txBody>
          <a:bodyPr wrap="square" lIns="508" tIns="508" rIns="508" bIns="508" rtlCol="0" anchor="ctr">
            <a:normAutofit/>
          </a:bodyPr>
          <a:lstStyle/>
          <a:p>
            <a:pPr indent="0" marL="0">
              <a:buNone/>
            </a:pPr>
            <a:r>
              <a:rPr lang="en-US" sz="1900" i="1" dirty="0">
                <a:solidFill>
                  <a:srgbClr val="172033"/>
                </a:solidFill>
                <a:latin typeface="Cambria" pitchFamily="34" charset="0"/>
                <a:ea typeface="Cambria" pitchFamily="34" charset="-122"/>
                <a:cs typeface="Cambria" pitchFamily="34" charset="-120"/>
              </a:rPr>
              <a:t>“Nhân viên rất thân thiện... [nhưng] phòng không sạch... điều hòa phát tiếng ồn lớn.”</a:t>
            </a:r>
            <a:endParaRPr lang="en-US" sz="1900" dirty="0"/>
          </a:p>
        </p:txBody>
      </p:sp>
      <p:sp>
        <p:nvSpPr>
          <p:cNvPr id="16" name="Text 14"/>
          <p:cNvSpPr/>
          <p:nvPr/>
        </p:nvSpPr>
        <p:spPr>
          <a:xfrm>
            <a:off x="6455664" y="3429000"/>
            <a:ext cx="4663440" cy="457200"/>
          </a:xfrm>
          <a:prstGeom prst="rect">
            <a:avLst/>
          </a:prstGeom>
          <a:noFill/>
          <a:ln/>
        </p:spPr>
        <p:txBody>
          <a:bodyPr wrap="square" lIns="0" tIns="0" rIns="0" bIns="0" rtlCol="0" anchor="ctr">
            <a:normAutofit/>
          </a:bodyPr>
          <a:lstStyle/>
          <a:p>
            <a:pPr indent="0" marL="0">
              <a:buNone/>
            </a:pPr>
            <a:r>
              <a:rPr lang="en-US" sz="1500" b="1" dirty="0">
                <a:solidFill>
                  <a:srgbClr val="D97706"/>
                </a:solidFill>
                <a:latin typeface="Calibri" pitchFamily="34" charset="0"/>
                <a:ea typeface="Calibri" pitchFamily="34" charset="-122"/>
                <a:cs typeface="Calibri" pitchFamily="34" charset="-120"/>
              </a:rPr>
              <a:t>Các khía cạnh tích cực và tiêu cực có thể cùng tồn tại mà không bất nhất.</a:t>
            </a:r>
            <a:endParaRPr lang="en-US" sz="1500" dirty="0"/>
          </a:p>
        </p:txBody>
      </p:sp>
      <p:sp>
        <p:nvSpPr>
          <p:cNvPr id="17" name="Text 15"/>
          <p:cNvSpPr/>
          <p:nvPr/>
        </p:nvSpPr>
        <p:spPr>
          <a:xfrm>
            <a:off x="6455664" y="4014216"/>
            <a:ext cx="4663440" cy="292608"/>
          </a:xfrm>
          <a:prstGeom prst="rect">
            <a:avLst/>
          </a:prstGeom>
          <a:noFill/>
          <a:ln/>
        </p:spPr>
        <p:txBody>
          <a:bodyPr wrap="square" lIns="0" tIns="0" rIns="0" bIns="0" rtlCol="0" anchor="ctr"/>
          <a:lstStyle/>
          <a:p>
            <a:pPr indent="0" marL="0">
              <a:buNone/>
            </a:pPr>
            <a:r>
              <a:rPr lang="en-US" sz="1250" dirty="0">
                <a:solidFill>
                  <a:srgbClr val="475569"/>
                </a:solidFill>
                <a:latin typeface="Calibri" pitchFamily="34" charset="0"/>
                <a:ea typeface="Calibri" pitchFamily="34" charset="-122"/>
                <a:cs typeface="Calibri" pitchFamily="34" charset="-120"/>
              </a:rPr>
              <a:t>Trường hợp nghi vấn: hỗn hợp, có thể vẫn nhất quán với điểm</a:t>
            </a:r>
            <a:endParaRPr lang="en-US" sz="1250" dirty="0"/>
          </a:p>
        </p:txBody>
      </p:sp>
      <p:sp>
        <p:nvSpPr>
          <p:cNvPr id="18" name="Shape 16"/>
          <p:cNvSpPr/>
          <p:nvPr/>
        </p:nvSpPr>
        <p:spPr>
          <a:xfrm>
            <a:off x="6473952" y="4736592"/>
            <a:ext cx="4526280" cy="0"/>
          </a:xfrm>
          <a:prstGeom prst="line">
            <a:avLst/>
          </a:prstGeom>
          <a:noFill/>
          <a:ln w="25400">
            <a:solidFill>
              <a:srgbClr val="FDE68A"/>
            </a:solidFill>
            <a:prstDash val="solid"/>
          </a:ln>
        </p:spPr>
      </p:sp>
      <p:sp>
        <p:nvSpPr>
          <p:cNvPr id="19" name="Text 17"/>
          <p:cNvSpPr/>
          <p:nvPr/>
        </p:nvSpPr>
        <p:spPr>
          <a:xfrm>
            <a:off x="6455664" y="4919472"/>
            <a:ext cx="4754880" cy="256032"/>
          </a:xfrm>
          <a:prstGeom prst="rect">
            <a:avLst/>
          </a:prstGeom>
          <a:noFill/>
          <a:ln/>
        </p:spPr>
        <p:txBody>
          <a:bodyPr wrap="square" lIns="0" tIns="0" rIns="0" bIns="0" rtlCol="0" anchor="ctr">
            <a:normAutofit/>
          </a:bodyPr>
          <a:lstStyle/>
          <a:p>
            <a:pPr indent="0" marL="0">
              <a:buNone/>
            </a:pPr>
            <a:r>
              <a:rPr lang="en-US" sz="1150" dirty="0">
                <a:solidFill>
                  <a:srgbClr val="64748B"/>
                </a:solidFill>
                <a:latin typeface="Calibri" pitchFamily="34" charset="0"/>
                <a:ea typeface="Calibri" pitchFamily="34" charset="-122"/>
                <a:cs typeface="Calibri" pitchFamily="34" charset="-120"/>
              </a:rPr>
              <a:t>Chỉ có đoạn tích cực chưa đủ kết luận đây là điểm phạt.</a:t>
            </a:r>
            <a:endParaRPr lang="en-US" sz="1150" dirty="0"/>
          </a:p>
        </p:txBody>
      </p:sp>
      <p:sp>
        <p:nvSpPr>
          <p:cNvPr id="20" name="Text 18"/>
          <p:cNvSpPr/>
          <p:nvPr/>
        </p:nvSpPr>
        <p:spPr>
          <a:xfrm>
            <a:off x="1234440" y="5742432"/>
            <a:ext cx="9738360" cy="292608"/>
          </a:xfrm>
          <a:prstGeom prst="rect">
            <a:avLst/>
          </a:prstGeom>
          <a:noFill/>
          <a:ln/>
        </p:spPr>
        <p:txBody>
          <a:bodyPr wrap="square" lIns="0" tIns="0" rIns="0" bIns="0" rtlCol="0" anchor="ctr">
            <a:normAutofit/>
          </a:bodyPr>
          <a:lstStyle/>
          <a:p>
            <a:pPr algn="ctr" indent="0" marL="0">
              <a:buNone/>
            </a:pPr>
            <a:r>
              <a:rPr lang="en-US" sz="1500" b="1" dirty="0">
                <a:solidFill>
                  <a:srgbClr val="E11D48"/>
                </a:solidFill>
                <a:latin typeface="Calibri" pitchFamily="34" charset="0"/>
                <a:ea typeface="Calibri" pitchFamily="34" charset="-122"/>
                <a:cs typeface="Calibri" pitchFamily="34" charset="-120"/>
              </a:rPr>
              <a:t>Nhãn người phải tách bất nhất thật, trải nghiệm hỗn hợp, khắc phục sự cố và lỗi gán nhãn.</a:t>
            </a:r>
            <a:endParaRPr lang="en-US" sz="1500" dirty="0"/>
          </a:p>
        </p:txBody>
      </p:sp>
      <p:sp>
        <p:nvSpPr>
          <p:cNvPr id="21" name="Text 19"/>
          <p:cNvSpPr/>
          <p:nvPr/>
        </p:nvSpPr>
        <p:spPr>
          <a:xfrm>
            <a:off x="640080" y="6172200"/>
            <a:ext cx="10607040" cy="164592"/>
          </a:xfrm>
          <a:prstGeom prst="rect">
            <a:avLst/>
          </a:prstGeom>
          <a:noFill/>
          <a:ln/>
        </p:spPr>
        <p:txBody>
          <a:bodyPr wrap="square" lIns="0" tIns="0" rIns="0" bIns="0" rtlCol="0" anchor="ctr">
            <a:normAutofit/>
          </a:bodyPr>
          <a:lstStyle/>
          <a:p>
            <a:pPr indent="0" marL="0">
              <a:buNone/>
            </a:pPr>
            <a:r>
              <a:rPr lang="en-US" sz="850" i="1" dirty="0">
                <a:solidFill>
                  <a:srgbClr val="64748B"/>
                </a:solidFill>
                <a:latin typeface="Calibri" pitchFamily="34" charset="0"/>
                <a:ea typeface="Calibri" pitchFamily="34" charset="-122"/>
                <a:cs typeface="Calibri" pitchFamily="34" charset="-120"/>
              </a:rPr>
              <a:t>Ví dụ lấy từ tập TripAdvisor đã gán nhãn; câu chữ được rút gọn để trình bày.</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indent="0" marL="0">
              <a:buNone/>
            </a:pPr>
            <a:r>
              <a:rPr lang="en-US" sz="1000" b="1" spc="120" kern="0" dirty="0">
                <a:solidFill>
                  <a:srgbClr val="0F766E"/>
                </a:solidFill>
                <a:latin typeface="Calibri" pitchFamily="34" charset="0"/>
                <a:ea typeface="Calibri" pitchFamily="34" charset="-122"/>
                <a:cs typeface="Calibri" pitchFamily="34" charset="-120"/>
              </a:rPr>
              <a:t>MỐC ĐỐI CHIẾU VÀ HẠN CHẾ</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indent="0" marL="0">
              <a:buNone/>
            </a:pPr>
            <a:r>
              <a:rPr lang="en-US" sz="2900" b="1" dirty="0">
                <a:solidFill>
                  <a:srgbClr val="172033"/>
                </a:solidFill>
                <a:latin typeface="Cambria" pitchFamily="34" charset="0"/>
                <a:ea typeface="Cambria" pitchFamily="34" charset="-122"/>
                <a:cs typeface="Cambria" pitchFamily="34" charset="-120"/>
              </a:rPr>
              <a:t>Điểm xuất phát: bài báo gốc năm 2026</a:t>
            </a:r>
            <a:endParaRPr lang="en-US" sz="2900" dirty="0"/>
          </a:p>
        </p:txBody>
      </p:sp>
      <p:sp>
        <p:nvSpPr>
          <p:cNvPr id="4" name="Text 2"/>
          <p:cNvSpPr/>
          <p:nvPr/>
        </p:nvSpPr>
        <p:spPr>
          <a:xfrm>
            <a:off x="658368" y="1170432"/>
            <a:ext cx="4023360" cy="274320"/>
          </a:xfrm>
          <a:prstGeom prst="rect">
            <a:avLst/>
          </a:prstGeom>
          <a:noFill/>
          <a:ln/>
        </p:spPr>
        <p:txBody>
          <a:bodyPr wrap="square" lIns="0" tIns="0" rIns="0" bIns="0" rtlCol="0" anchor="ctr"/>
          <a:lstStyle/>
          <a:p>
            <a:pPr indent="0" marL="0">
              <a:buNone/>
            </a:pPr>
            <a:r>
              <a:rPr lang="en-US" sz="1500" b="1" dirty="0">
                <a:solidFill>
                  <a:srgbClr val="475569"/>
                </a:solidFill>
                <a:latin typeface="Calibri" pitchFamily="34" charset="0"/>
                <a:ea typeface="Calibri" pitchFamily="34" charset="-122"/>
                <a:cs typeface="Calibri" pitchFamily="34" charset="-120"/>
              </a:rPr>
              <a:t>Pipeline đã công bố</a:t>
            </a:r>
            <a:endParaRPr lang="en-US" sz="1500" dirty="0"/>
          </a:p>
        </p:txBody>
      </p:sp>
      <p:sp>
        <p:nvSpPr>
          <p:cNvPr id="5" name="Shape 3"/>
          <p:cNvSpPr/>
          <p:nvPr/>
        </p:nvSpPr>
        <p:spPr>
          <a:xfrm>
            <a:off x="658368" y="1664208"/>
            <a:ext cx="960120" cy="658368"/>
          </a:xfrm>
          <a:prstGeom prst="roundRect">
            <a:avLst>
              <a:gd name="adj" fmla="val 8333"/>
            </a:avLst>
          </a:prstGeom>
          <a:solidFill>
            <a:srgbClr val="F1F5F9"/>
          </a:solidFill>
          <a:ln w="12700">
            <a:solidFill>
              <a:srgbClr val="CBD5E1"/>
            </a:solidFill>
            <a:prstDash val="solid"/>
          </a:ln>
        </p:spPr>
      </p:sp>
      <p:sp>
        <p:nvSpPr>
          <p:cNvPr id="6" name="Text 4"/>
          <p:cNvSpPr/>
          <p:nvPr/>
        </p:nvSpPr>
        <p:spPr>
          <a:xfrm>
            <a:off x="658368" y="1874520"/>
            <a:ext cx="960120" cy="182880"/>
          </a:xfrm>
          <a:prstGeom prst="rect">
            <a:avLst/>
          </a:prstGeom>
          <a:noFill/>
          <a:ln/>
        </p:spPr>
        <p:txBody>
          <a:bodyPr wrap="square" lIns="0" tIns="0" rIns="0" bIns="0" rtlCol="0" anchor="ctr">
            <a:normAutofit/>
          </a:bodyPr>
          <a:lstStyle/>
          <a:p>
            <a:pPr algn="ctr" indent="0" marL="0">
              <a:buNone/>
            </a:pPr>
            <a:r>
              <a:rPr lang="en-US" sz="1100" b="1" dirty="0">
                <a:solidFill>
                  <a:srgbClr val="172033"/>
                </a:solidFill>
                <a:latin typeface="Calibri" pitchFamily="34" charset="0"/>
                <a:ea typeface="Calibri" pitchFamily="34" charset="-122"/>
                <a:cs typeface="Calibri" pitchFamily="34" charset="-120"/>
              </a:rPr>
              <a:t>Review</a:t>
            </a:r>
            <a:endParaRPr lang="en-US" sz="1100" dirty="0"/>
          </a:p>
        </p:txBody>
      </p:sp>
      <p:sp>
        <p:nvSpPr>
          <p:cNvPr id="7" name="Shape 5"/>
          <p:cNvSpPr/>
          <p:nvPr/>
        </p:nvSpPr>
        <p:spPr>
          <a:xfrm>
            <a:off x="1636776" y="1993392"/>
            <a:ext cx="164592" cy="0"/>
          </a:xfrm>
          <a:prstGeom prst="line">
            <a:avLst/>
          </a:prstGeom>
          <a:noFill/>
          <a:ln w="19050">
            <a:solidFill>
              <a:srgbClr val="64748B"/>
            </a:solidFill>
            <a:prstDash val="solid"/>
            <a:tailEnd type="triangle"/>
          </a:ln>
        </p:spPr>
      </p:sp>
      <p:sp>
        <p:nvSpPr>
          <p:cNvPr id="8" name="Shape 6"/>
          <p:cNvSpPr/>
          <p:nvPr/>
        </p:nvSpPr>
        <p:spPr>
          <a:xfrm>
            <a:off x="1828800" y="1664208"/>
            <a:ext cx="960120" cy="658368"/>
          </a:xfrm>
          <a:prstGeom prst="roundRect">
            <a:avLst>
              <a:gd name="adj" fmla="val 8333"/>
            </a:avLst>
          </a:prstGeom>
          <a:solidFill>
            <a:srgbClr val="F1F5F9"/>
          </a:solidFill>
          <a:ln w="12700">
            <a:solidFill>
              <a:srgbClr val="CBD5E1"/>
            </a:solidFill>
            <a:prstDash val="solid"/>
          </a:ln>
        </p:spPr>
      </p:sp>
      <p:sp>
        <p:nvSpPr>
          <p:cNvPr id="9" name="Text 7"/>
          <p:cNvSpPr/>
          <p:nvPr/>
        </p:nvSpPr>
        <p:spPr>
          <a:xfrm>
            <a:off x="1828800" y="1874520"/>
            <a:ext cx="960120" cy="182880"/>
          </a:xfrm>
          <a:prstGeom prst="rect">
            <a:avLst/>
          </a:prstGeom>
          <a:noFill/>
          <a:ln/>
        </p:spPr>
        <p:txBody>
          <a:bodyPr wrap="square" lIns="0" tIns="0" rIns="0" bIns="0" rtlCol="0" anchor="ctr">
            <a:normAutofit/>
          </a:bodyPr>
          <a:lstStyle/>
          <a:p>
            <a:pPr algn="ctr" indent="0" marL="0">
              <a:buNone/>
            </a:pPr>
            <a:r>
              <a:rPr lang="en-US" sz="1100" b="1" dirty="0">
                <a:solidFill>
                  <a:srgbClr val="172033"/>
                </a:solidFill>
                <a:latin typeface="Calibri" pitchFamily="34" charset="0"/>
                <a:ea typeface="Calibri" pitchFamily="34" charset="-122"/>
                <a:cs typeface="Calibri" pitchFamily="34" charset="-120"/>
              </a:rPr>
              <a:t>BERTopic</a:t>
            </a:r>
            <a:endParaRPr lang="en-US" sz="1100" dirty="0"/>
          </a:p>
        </p:txBody>
      </p:sp>
      <p:sp>
        <p:nvSpPr>
          <p:cNvPr id="10" name="Shape 8"/>
          <p:cNvSpPr/>
          <p:nvPr/>
        </p:nvSpPr>
        <p:spPr>
          <a:xfrm>
            <a:off x="2807208" y="1993392"/>
            <a:ext cx="164592" cy="0"/>
          </a:xfrm>
          <a:prstGeom prst="line">
            <a:avLst/>
          </a:prstGeom>
          <a:noFill/>
          <a:ln w="19050">
            <a:solidFill>
              <a:srgbClr val="64748B"/>
            </a:solidFill>
            <a:prstDash val="solid"/>
            <a:tailEnd type="triangle"/>
          </a:ln>
        </p:spPr>
      </p:sp>
      <p:sp>
        <p:nvSpPr>
          <p:cNvPr id="11" name="Shape 9"/>
          <p:cNvSpPr/>
          <p:nvPr/>
        </p:nvSpPr>
        <p:spPr>
          <a:xfrm>
            <a:off x="2999232" y="1664208"/>
            <a:ext cx="960120" cy="658368"/>
          </a:xfrm>
          <a:prstGeom prst="roundRect">
            <a:avLst>
              <a:gd name="adj" fmla="val 8333"/>
            </a:avLst>
          </a:prstGeom>
          <a:solidFill>
            <a:srgbClr val="F1F5F9"/>
          </a:solidFill>
          <a:ln w="12700">
            <a:solidFill>
              <a:srgbClr val="CBD5E1"/>
            </a:solidFill>
            <a:prstDash val="solid"/>
          </a:ln>
        </p:spPr>
      </p:sp>
      <p:sp>
        <p:nvSpPr>
          <p:cNvPr id="12" name="Text 10"/>
          <p:cNvSpPr/>
          <p:nvPr/>
        </p:nvSpPr>
        <p:spPr>
          <a:xfrm>
            <a:off x="2999232" y="1874520"/>
            <a:ext cx="960120" cy="182880"/>
          </a:xfrm>
          <a:prstGeom prst="rect">
            <a:avLst/>
          </a:prstGeom>
          <a:noFill/>
          <a:ln/>
        </p:spPr>
        <p:txBody>
          <a:bodyPr wrap="square" lIns="0" tIns="0" rIns="0" bIns="0" rtlCol="0" anchor="ctr">
            <a:normAutofit/>
          </a:bodyPr>
          <a:lstStyle/>
          <a:p>
            <a:pPr algn="ctr" indent="0" marL="0">
              <a:buNone/>
            </a:pPr>
            <a:r>
              <a:rPr lang="en-US" sz="1100" b="1" dirty="0">
                <a:solidFill>
                  <a:srgbClr val="172033"/>
                </a:solidFill>
                <a:latin typeface="Calibri" pitchFamily="34" charset="0"/>
                <a:ea typeface="Calibri" pitchFamily="34" charset="-122"/>
                <a:cs typeface="Calibri" pitchFamily="34" charset="-120"/>
              </a:rPr>
              <a:t>SBERT</a:t>
            </a:r>
            <a:endParaRPr lang="en-US" sz="1100" dirty="0"/>
          </a:p>
        </p:txBody>
      </p:sp>
      <p:sp>
        <p:nvSpPr>
          <p:cNvPr id="13" name="Shape 11"/>
          <p:cNvSpPr/>
          <p:nvPr/>
        </p:nvSpPr>
        <p:spPr>
          <a:xfrm>
            <a:off x="3977640" y="1993392"/>
            <a:ext cx="164592" cy="0"/>
          </a:xfrm>
          <a:prstGeom prst="line">
            <a:avLst/>
          </a:prstGeom>
          <a:noFill/>
          <a:ln w="19050">
            <a:solidFill>
              <a:srgbClr val="64748B"/>
            </a:solidFill>
            <a:prstDash val="solid"/>
            <a:tailEnd type="triangle"/>
          </a:ln>
        </p:spPr>
      </p:sp>
      <p:sp>
        <p:nvSpPr>
          <p:cNvPr id="14" name="Shape 12"/>
          <p:cNvSpPr/>
          <p:nvPr/>
        </p:nvSpPr>
        <p:spPr>
          <a:xfrm>
            <a:off x="4169664" y="1664208"/>
            <a:ext cx="960120" cy="658368"/>
          </a:xfrm>
          <a:prstGeom prst="roundRect">
            <a:avLst>
              <a:gd name="adj" fmla="val 8333"/>
            </a:avLst>
          </a:prstGeom>
          <a:solidFill>
            <a:srgbClr val="F1F5F9"/>
          </a:solidFill>
          <a:ln w="12700">
            <a:solidFill>
              <a:srgbClr val="CBD5E1"/>
            </a:solidFill>
            <a:prstDash val="solid"/>
          </a:ln>
        </p:spPr>
      </p:sp>
      <p:sp>
        <p:nvSpPr>
          <p:cNvPr id="15" name="Text 13"/>
          <p:cNvSpPr/>
          <p:nvPr/>
        </p:nvSpPr>
        <p:spPr>
          <a:xfrm>
            <a:off x="4169664" y="1874520"/>
            <a:ext cx="960120" cy="182880"/>
          </a:xfrm>
          <a:prstGeom prst="rect">
            <a:avLst/>
          </a:prstGeom>
          <a:noFill/>
          <a:ln/>
        </p:spPr>
        <p:txBody>
          <a:bodyPr wrap="square" lIns="0" tIns="0" rIns="0" bIns="0" rtlCol="0" anchor="ctr">
            <a:normAutofit/>
          </a:bodyPr>
          <a:lstStyle/>
          <a:p>
            <a:pPr algn="ctr" indent="0" marL="0">
              <a:buNone/>
            </a:pPr>
            <a:r>
              <a:rPr lang="en-US" sz="1100" b="1" dirty="0">
                <a:solidFill>
                  <a:srgbClr val="172033"/>
                </a:solidFill>
                <a:latin typeface="Calibri" pitchFamily="34" charset="0"/>
                <a:ea typeface="Calibri" pitchFamily="34" charset="-122"/>
                <a:cs typeface="Calibri" pitchFamily="34" charset="-120"/>
              </a:rPr>
              <a:t>VADER</a:t>
            </a:r>
            <a:endParaRPr lang="en-US" sz="1100" dirty="0"/>
          </a:p>
        </p:txBody>
      </p:sp>
      <p:sp>
        <p:nvSpPr>
          <p:cNvPr id="16" name="Shape 14"/>
          <p:cNvSpPr/>
          <p:nvPr/>
        </p:nvSpPr>
        <p:spPr>
          <a:xfrm>
            <a:off x="5148072" y="1993392"/>
            <a:ext cx="164592" cy="0"/>
          </a:xfrm>
          <a:prstGeom prst="line">
            <a:avLst/>
          </a:prstGeom>
          <a:noFill/>
          <a:ln w="19050">
            <a:solidFill>
              <a:srgbClr val="64748B"/>
            </a:solidFill>
            <a:prstDash val="solid"/>
            <a:tailEnd type="triangle"/>
          </a:ln>
        </p:spPr>
      </p:sp>
      <p:sp>
        <p:nvSpPr>
          <p:cNvPr id="17" name="Shape 15"/>
          <p:cNvSpPr/>
          <p:nvPr/>
        </p:nvSpPr>
        <p:spPr>
          <a:xfrm>
            <a:off x="5340096" y="1664208"/>
            <a:ext cx="960120" cy="658368"/>
          </a:xfrm>
          <a:prstGeom prst="roundRect">
            <a:avLst>
              <a:gd name="adj" fmla="val 8333"/>
            </a:avLst>
          </a:prstGeom>
          <a:solidFill>
            <a:srgbClr val="DBEAFE"/>
          </a:solidFill>
          <a:ln w="12700">
            <a:solidFill>
              <a:srgbClr val="2563EB"/>
            </a:solidFill>
            <a:prstDash val="solid"/>
          </a:ln>
        </p:spPr>
      </p:sp>
      <p:sp>
        <p:nvSpPr>
          <p:cNvPr id="18" name="Text 16"/>
          <p:cNvSpPr/>
          <p:nvPr/>
        </p:nvSpPr>
        <p:spPr>
          <a:xfrm>
            <a:off x="5340096" y="1874520"/>
            <a:ext cx="960120" cy="182880"/>
          </a:xfrm>
          <a:prstGeom prst="rect">
            <a:avLst/>
          </a:prstGeom>
          <a:noFill/>
          <a:ln/>
        </p:spPr>
        <p:txBody>
          <a:bodyPr wrap="square" lIns="0" tIns="0" rIns="0" bIns="0" rtlCol="0" anchor="ctr">
            <a:normAutofit/>
          </a:bodyPr>
          <a:lstStyle/>
          <a:p>
            <a:pPr algn="ctr" indent="0" marL="0">
              <a:buNone/>
            </a:pPr>
            <a:r>
              <a:rPr lang="en-US" sz="1100" b="1" dirty="0">
                <a:solidFill>
                  <a:srgbClr val="2563EB"/>
                </a:solidFill>
                <a:latin typeface="Calibri" pitchFamily="34" charset="0"/>
                <a:ea typeface="Calibri" pitchFamily="34" charset="-122"/>
                <a:cs typeface="Calibri" pitchFamily="34" charset="-120"/>
              </a:rPr>
              <a:t>WMLR</a:t>
            </a:r>
            <a:endParaRPr lang="en-US" sz="1100" dirty="0"/>
          </a:p>
        </p:txBody>
      </p:sp>
      <p:sp>
        <p:nvSpPr>
          <p:cNvPr id="19" name="Shape 17"/>
          <p:cNvSpPr/>
          <p:nvPr/>
        </p:nvSpPr>
        <p:spPr>
          <a:xfrm>
            <a:off x="658368" y="2697480"/>
            <a:ext cx="5669280" cy="2423160"/>
          </a:xfrm>
          <a:prstGeom prst="roundRect">
            <a:avLst>
              <a:gd name="adj" fmla="val 3019"/>
            </a:avLst>
          </a:prstGeom>
          <a:solidFill>
            <a:srgbClr val="FFFFFF"/>
          </a:solidFill>
          <a:ln w="12700">
            <a:solidFill>
              <a:srgbClr val="E2E8F0"/>
            </a:solidFill>
            <a:prstDash val="solid"/>
          </a:ln>
        </p:spPr>
      </p:sp>
      <p:sp>
        <p:nvSpPr>
          <p:cNvPr id="20" name="Text 18"/>
          <p:cNvSpPr/>
          <p:nvPr/>
        </p:nvSpPr>
        <p:spPr>
          <a:xfrm>
            <a:off x="914400" y="2990088"/>
            <a:ext cx="1554480" cy="475488"/>
          </a:xfrm>
          <a:prstGeom prst="rect">
            <a:avLst/>
          </a:prstGeom>
          <a:noFill/>
          <a:ln/>
        </p:spPr>
        <p:txBody>
          <a:bodyPr wrap="square" lIns="0" tIns="0" rIns="0" bIns="0" rtlCol="0" anchor="ctr"/>
          <a:lstStyle/>
          <a:p>
            <a:pPr indent="0" marL="0">
              <a:buNone/>
            </a:pPr>
            <a:r>
              <a:rPr lang="en-US" sz="2900" b="1" dirty="0">
                <a:solidFill>
                  <a:srgbClr val="2563EB"/>
                </a:solidFill>
                <a:latin typeface="Cambria" pitchFamily="34" charset="0"/>
                <a:ea typeface="Cambria" pitchFamily="34" charset="-122"/>
                <a:cs typeface="Cambria" pitchFamily="34" charset="-120"/>
              </a:rPr>
              <a:t>1.39M</a:t>
            </a:r>
            <a:endParaRPr lang="en-US" sz="2900" dirty="0"/>
          </a:p>
        </p:txBody>
      </p:sp>
      <p:sp>
        <p:nvSpPr>
          <p:cNvPr id="21" name="Text 19"/>
          <p:cNvSpPr/>
          <p:nvPr/>
        </p:nvSpPr>
        <p:spPr>
          <a:xfrm>
            <a:off x="2240280" y="3072384"/>
            <a:ext cx="3520440" cy="274320"/>
          </a:xfrm>
          <a:prstGeom prst="rect">
            <a:avLst/>
          </a:prstGeom>
          <a:noFill/>
          <a:ln/>
        </p:spPr>
        <p:txBody>
          <a:bodyPr wrap="square" lIns="0" tIns="0" rIns="0" bIns="0" rtlCol="0" anchor="ctr"/>
          <a:lstStyle/>
          <a:p>
            <a:pPr indent="0" marL="0">
              <a:buNone/>
            </a:pPr>
            <a:r>
              <a:rPr lang="en-US" sz="1400" dirty="0">
                <a:solidFill>
                  <a:srgbClr val="475569"/>
                </a:solidFill>
                <a:latin typeface="Calibri" pitchFamily="34" charset="0"/>
                <a:ea typeface="Calibri" pitchFamily="34" charset="-122"/>
                <a:cs typeface="Calibri" pitchFamily="34" charset="-120"/>
              </a:rPr>
              <a:t>review Booking + TripAdvisor</a:t>
            </a:r>
            <a:endParaRPr lang="en-US" sz="1400" dirty="0"/>
          </a:p>
        </p:txBody>
      </p:sp>
      <p:sp>
        <p:nvSpPr>
          <p:cNvPr id="22" name="Text 20"/>
          <p:cNvSpPr/>
          <p:nvPr/>
        </p:nvSpPr>
        <p:spPr>
          <a:xfrm>
            <a:off x="914400" y="3703320"/>
            <a:ext cx="1097280" cy="22860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Pseudo R²</a:t>
            </a:r>
            <a:endParaRPr lang="en-US" sz="1200" dirty="0"/>
          </a:p>
        </p:txBody>
      </p:sp>
      <p:sp>
        <p:nvSpPr>
          <p:cNvPr id="23" name="Text 21"/>
          <p:cNvSpPr/>
          <p:nvPr/>
        </p:nvSpPr>
        <p:spPr>
          <a:xfrm>
            <a:off x="2240280" y="3657600"/>
            <a:ext cx="1600200" cy="329184"/>
          </a:xfrm>
          <a:prstGeom prst="rect">
            <a:avLst/>
          </a:prstGeom>
          <a:noFill/>
          <a:ln/>
        </p:spPr>
        <p:txBody>
          <a:bodyPr wrap="square" lIns="0" tIns="0" rIns="0" bIns="0" rtlCol="0" anchor="ctr"/>
          <a:lstStyle/>
          <a:p>
            <a:pPr indent="0" marL="0">
              <a:buNone/>
            </a:pPr>
            <a:r>
              <a:rPr lang="en-US" sz="1800" b="1" dirty="0">
                <a:solidFill>
                  <a:srgbClr val="172033"/>
                </a:solidFill>
                <a:latin typeface="Cambria" pitchFamily="34" charset="0"/>
                <a:ea typeface="Cambria" pitchFamily="34" charset="-122"/>
                <a:cs typeface="Cambria" pitchFamily="34" charset="-120"/>
              </a:rPr>
              <a:t>0.462  Booking</a:t>
            </a:r>
            <a:endParaRPr lang="en-US" sz="1800" dirty="0"/>
          </a:p>
        </p:txBody>
      </p:sp>
      <p:sp>
        <p:nvSpPr>
          <p:cNvPr id="24" name="Text 22"/>
          <p:cNvSpPr/>
          <p:nvPr/>
        </p:nvSpPr>
        <p:spPr>
          <a:xfrm>
            <a:off x="3977640" y="3657600"/>
            <a:ext cx="1828800" cy="329184"/>
          </a:xfrm>
          <a:prstGeom prst="rect">
            <a:avLst/>
          </a:prstGeom>
          <a:noFill/>
          <a:ln/>
        </p:spPr>
        <p:txBody>
          <a:bodyPr wrap="square" lIns="0" tIns="0" rIns="0" bIns="0" rtlCol="0" anchor="ctr"/>
          <a:lstStyle/>
          <a:p>
            <a:pPr indent="0" marL="0">
              <a:buNone/>
            </a:pPr>
            <a:r>
              <a:rPr lang="en-US" sz="1800" b="1" dirty="0">
                <a:solidFill>
                  <a:srgbClr val="172033"/>
                </a:solidFill>
                <a:latin typeface="Cambria" pitchFamily="34" charset="0"/>
                <a:ea typeface="Cambria" pitchFamily="34" charset="-122"/>
                <a:cs typeface="Cambria" pitchFamily="34" charset="-120"/>
              </a:rPr>
              <a:t>0.590  TripAdvisor</a:t>
            </a:r>
            <a:endParaRPr lang="en-US" sz="1800" dirty="0"/>
          </a:p>
        </p:txBody>
      </p:sp>
      <p:sp>
        <p:nvSpPr>
          <p:cNvPr id="25" name="Text 23"/>
          <p:cNvSpPr/>
          <p:nvPr/>
        </p:nvSpPr>
        <p:spPr>
          <a:xfrm>
            <a:off x="914400" y="4315968"/>
            <a:ext cx="4846320" cy="274320"/>
          </a:xfrm>
          <a:prstGeom prst="rect">
            <a:avLst/>
          </a:prstGeom>
          <a:noFill/>
          <a:ln/>
        </p:spPr>
        <p:txBody>
          <a:bodyPr wrap="square" lIns="0" tIns="0" rIns="0" bIns="0" rtlCol="0" anchor="ctr"/>
          <a:lstStyle/>
          <a:p>
            <a:pPr indent="0" marL="0">
              <a:buNone/>
            </a:pPr>
            <a:r>
              <a:rPr lang="en-US" sz="1400" b="1" dirty="0">
                <a:solidFill>
                  <a:srgbClr val="7C3AED"/>
                </a:solidFill>
                <a:latin typeface="Calibri" pitchFamily="34" charset="0"/>
                <a:ea typeface="Calibri" pitchFamily="34" charset="-122"/>
                <a:cs typeface="Calibri" pitchFamily="34" charset="-120"/>
              </a:rPr>
              <a:t>Tín hiệu công bố mạnh nhất: ngôn ngữ Loyalty</a:t>
            </a:r>
            <a:endParaRPr lang="en-US" sz="1400" dirty="0"/>
          </a:p>
        </p:txBody>
      </p:sp>
      <p:sp>
        <p:nvSpPr>
          <p:cNvPr id="26" name="Text 24"/>
          <p:cNvSpPr/>
          <p:nvPr/>
        </p:nvSpPr>
        <p:spPr>
          <a:xfrm>
            <a:off x="914400" y="4645152"/>
            <a:ext cx="1920240" cy="256032"/>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|β| lên tới 2.741</a:t>
            </a:r>
            <a:endParaRPr lang="en-US" sz="1300" dirty="0"/>
          </a:p>
        </p:txBody>
      </p:sp>
      <p:sp>
        <p:nvSpPr>
          <p:cNvPr id="27" name="Shape 25"/>
          <p:cNvSpPr/>
          <p:nvPr/>
        </p:nvSpPr>
        <p:spPr>
          <a:xfrm>
            <a:off x="6675120" y="1207008"/>
            <a:ext cx="4864608" cy="3913632"/>
          </a:xfrm>
          <a:prstGeom prst="roundRect">
            <a:avLst>
              <a:gd name="adj" fmla="val 1869"/>
            </a:avLst>
          </a:prstGeom>
          <a:solidFill>
            <a:srgbClr val="FFE4E6"/>
          </a:solidFill>
          <a:ln w="12700">
            <a:solidFill>
              <a:srgbClr val="FFE4E6"/>
            </a:solidFill>
            <a:prstDash val="solid"/>
          </a:ln>
        </p:spPr>
      </p:sp>
      <p:sp>
        <p:nvSpPr>
          <p:cNvPr id="28" name="Text 26"/>
          <p:cNvSpPr/>
          <p:nvPr/>
        </p:nvSpPr>
        <p:spPr>
          <a:xfrm>
            <a:off x="6995160" y="1572768"/>
            <a:ext cx="4251960" cy="347472"/>
          </a:xfrm>
          <a:prstGeom prst="rect">
            <a:avLst/>
          </a:prstGeom>
          <a:noFill/>
          <a:ln/>
        </p:spPr>
        <p:txBody>
          <a:bodyPr wrap="square" lIns="0" tIns="0" rIns="0" bIns="0" rtlCol="0" anchor="ctr"/>
          <a:lstStyle/>
          <a:p>
            <a:pPr indent="0" marL="0">
              <a:buNone/>
            </a:pPr>
            <a:r>
              <a:rPr lang="en-US" sz="2200" b="1" dirty="0">
                <a:solidFill>
                  <a:srgbClr val="E11D48"/>
                </a:solidFill>
                <a:latin typeface="Cambria" pitchFamily="34" charset="0"/>
                <a:ea typeface="Cambria" pitchFamily="34" charset="-122"/>
                <a:cs typeface="Cambria" pitchFamily="34" charset="-120"/>
              </a:rPr>
              <a:t>Đánh giá phản biện của nhóm</a:t>
            </a:r>
            <a:endParaRPr lang="en-US" sz="2200" dirty="0"/>
          </a:p>
        </p:txBody>
      </p:sp>
      <p:sp>
        <p:nvSpPr>
          <p:cNvPr id="29" name="Text 27"/>
          <p:cNvSpPr/>
          <p:nvPr/>
        </p:nvSpPr>
        <p:spPr>
          <a:xfrm>
            <a:off x="7004304" y="2194560"/>
            <a:ext cx="329184" cy="329184"/>
          </a:xfrm>
          <a:prstGeom prst="rect">
            <a:avLst/>
          </a:prstGeom>
          <a:solidFill>
            <a:srgbClr val="E11D48"/>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0" name="Text 28"/>
          <p:cNvSpPr/>
          <p:nvPr/>
        </p:nvSpPr>
        <p:spPr>
          <a:xfrm>
            <a:off x="7498080" y="2185416"/>
            <a:ext cx="1920240" cy="256032"/>
          </a:xfrm>
          <a:prstGeom prst="rect">
            <a:avLst/>
          </a:prstGeom>
          <a:noFill/>
          <a:ln/>
        </p:spPr>
        <p:txBody>
          <a:bodyPr wrap="square" lIns="0" tIns="0" rIns="0" bIns="0" rtlCol="0" anchor="ctr"/>
          <a:lstStyle/>
          <a:p>
            <a:pPr indent="0" marL="0">
              <a:buNone/>
            </a:pPr>
            <a:r>
              <a:rPr lang="en-US" sz="1500" b="1" dirty="0">
                <a:solidFill>
                  <a:srgbClr val="172033"/>
                </a:solidFill>
                <a:latin typeface="Calibri" pitchFamily="34" charset="0"/>
                <a:ea typeface="Calibri" pitchFamily="34" charset="-122"/>
                <a:cs typeface="Calibri" pitchFamily="34" charset="-120"/>
              </a:rPr>
              <a:t>Rủi ro lập luận vòng</a:t>
            </a:r>
            <a:endParaRPr lang="en-US" sz="1500" dirty="0"/>
          </a:p>
        </p:txBody>
      </p:sp>
      <p:sp>
        <p:nvSpPr>
          <p:cNvPr id="31" name="Text 29"/>
          <p:cNvSpPr/>
          <p:nvPr/>
        </p:nvSpPr>
        <p:spPr>
          <a:xfrm>
            <a:off x="7498080" y="2523744"/>
            <a:ext cx="3593592" cy="594360"/>
          </a:xfrm>
          <a:prstGeom prst="rect">
            <a:avLst/>
          </a:prstGeom>
          <a:noFill/>
          <a:ln/>
        </p:spPr>
        <p:txBody>
          <a:bodyPr wrap="square" lIns="0" tIns="0" rIns="0" bIns="0" rtlCol="0" anchor="ctr">
            <a:normAutofit/>
          </a:bodyPr>
          <a:lstStyle/>
          <a:p>
            <a:pPr indent="0" marL="0">
              <a:buNone/>
            </a:pPr>
            <a:r>
              <a:rPr lang="en-US" sz="1250" dirty="0">
                <a:solidFill>
                  <a:srgbClr val="475569"/>
                </a:solidFill>
                <a:latin typeface="Calibri" pitchFamily="34" charset="0"/>
                <a:ea typeface="Calibri" pitchFamily="34" charset="-122"/>
                <a:cs typeface="Calibri" pitchFamily="34" charset="-120"/>
              </a:rPr>
              <a:t>Ngôn ngữ “recommend / never again” được dùng để giải thích điểm số trong chính review đó.</a:t>
            </a:r>
            <a:endParaRPr lang="en-US" sz="1250" dirty="0"/>
          </a:p>
        </p:txBody>
      </p:sp>
      <p:sp>
        <p:nvSpPr>
          <p:cNvPr id="32" name="Text 30"/>
          <p:cNvSpPr/>
          <p:nvPr/>
        </p:nvSpPr>
        <p:spPr>
          <a:xfrm>
            <a:off x="7004304" y="3429000"/>
            <a:ext cx="329184" cy="329184"/>
          </a:xfrm>
          <a:prstGeom prst="rect">
            <a:avLst/>
          </a:prstGeom>
          <a:solidFill>
            <a:srgbClr val="E11D48"/>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3" name="Text 31"/>
          <p:cNvSpPr/>
          <p:nvPr/>
        </p:nvSpPr>
        <p:spPr>
          <a:xfrm>
            <a:off x="7498080" y="3419856"/>
            <a:ext cx="2560320" cy="256032"/>
          </a:xfrm>
          <a:prstGeom prst="rect">
            <a:avLst/>
          </a:prstGeom>
          <a:noFill/>
          <a:ln/>
        </p:spPr>
        <p:txBody>
          <a:bodyPr wrap="square" lIns="0" tIns="0" rIns="0" bIns="0" rtlCol="0" anchor="ctr"/>
          <a:lstStyle/>
          <a:p>
            <a:pPr indent="0" marL="0">
              <a:buNone/>
            </a:pPr>
            <a:r>
              <a:rPr lang="en-US" sz="1500" b="1" dirty="0">
                <a:solidFill>
                  <a:srgbClr val="172033"/>
                </a:solidFill>
                <a:latin typeface="Calibri" pitchFamily="34" charset="0"/>
                <a:ea typeface="Calibri" pitchFamily="34" charset="-122"/>
                <a:cs typeface="Calibri" pitchFamily="34" charset="-120"/>
              </a:rPr>
              <a:t>Bất nhất chưa được mô hình hóa</a:t>
            </a:r>
            <a:endParaRPr lang="en-US" sz="1500" dirty="0"/>
          </a:p>
        </p:txBody>
      </p:sp>
      <p:sp>
        <p:nvSpPr>
          <p:cNvPr id="34" name="Text 32"/>
          <p:cNvSpPr/>
          <p:nvPr/>
        </p:nvSpPr>
        <p:spPr>
          <a:xfrm>
            <a:off x="7498080" y="3758184"/>
            <a:ext cx="3593592" cy="594360"/>
          </a:xfrm>
          <a:prstGeom prst="rect">
            <a:avLst/>
          </a:prstGeom>
          <a:noFill/>
          <a:ln/>
        </p:spPr>
        <p:txBody>
          <a:bodyPr wrap="square" lIns="0" tIns="0" rIns="0" bIns="0" rtlCol="0" anchor="ctr">
            <a:normAutofit/>
          </a:bodyPr>
          <a:lstStyle/>
          <a:p>
            <a:pPr indent="0" marL="0">
              <a:buNone/>
            </a:pPr>
            <a:r>
              <a:rPr lang="en-US" sz="1250" dirty="0">
                <a:solidFill>
                  <a:srgbClr val="475569"/>
                </a:solidFill>
                <a:latin typeface="Calibri" pitchFamily="34" charset="0"/>
                <a:ea typeface="Calibri" pitchFamily="34" charset="-122"/>
                <a:cs typeface="Calibri" pitchFamily="34" charset="-120"/>
              </a:rPr>
              <a:t>Khung tuyến tính chưa giải thích được vì sao trải nghiệm Facility tiêu cực vẫn đi cùng điểm tối đa.</a:t>
            </a:r>
            <a:endParaRPr lang="en-US" sz="1250" dirty="0"/>
          </a:p>
        </p:txBody>
      </p:sp>
      <p:sp>
        <p:nvSpPr>
          <p:cNvPr id="35" name="Text 33"/>
          <p:cNvSpPr/>
          <p:nvPr/>
        </p:nvSpPr>
        <p:spPr>
          <a:xfrm>
            <a:off x="7004304" y="4590288"/>
            <a:ext cx="1325880" cy="219456"/>
          </a:xfrm>
          <a:prstGeom prst="rect">
            <a:avLst/>
          </a:prstGeom>
          <a:noFill/>
          <a:ln/>
        </p:spPr>
        <p:txBody>
          <a:bodyPr wrap="square" lIns="0" tIns="0" rIns="0" bIns="0" rtlCol="0" anchor="ctr"/>
          <a:lstStyle/>
          <a:p>
            <a:pPr indent="0" marL="0">
              <a:buNone/>
            </a:pPr>
            <a:r>
              <a:rPr lang="en-US" sz="1100" b="1" dirty="0">
                <a:solidFill>
                  <a:srgbClr val="E11D48"/>
                </a:solidFill>
                <a:latin typeface="Calibri" pitchFamily="34" charset="0"/>
                <a:ea typeface="Calibri" pitchFamily="34" charset="-122"/>
                <a:cs typeface="Calibri" pitchFamily="34" charset="-120"/>
              </a:rPr>
              <a:t>Mục tiêu mở rộng</a:t>
            </a:r>
            <a:endParaRPr lang="en-US" sz="1100" dirty="0"/>
          </a:p>
        </p:txBody>
      </p:sp>
      <p:sp>
        <p:nvSpPr>
          <p:cNvPr id="36" name="Text 34"/>
          <p:cNvSpPr/>
          <p:nvPr/>
        </p:nvSpPr>
        <p:spPr>
          <a:xfrm>
            <a:off x="8302752" y="4572000"/>
            <a:ext cx="2788920" cy="256032"/>
          </a:xfrm>
          <a:prstGeom prst="rect">
            <a:avLst/>
          </a:prstGeom>
          <a:noFill/>
          <a:ln/>
        </p:spPr>
        <p:txBody>
          <a:bodyPr wrap="square" lIns="0" tIns="0" rIns="0" bIns="0" rtlCol="0" anchor="ctr">
            <a:normAutofit/>
          </a:bodyPr>
          <a:lstStyle/>
          <a:p>
            <a:pPr indent="0" marL="0">
              <a:buNone/>
            </a:pPr>
            <a:r>
              <a:rPr lang="en-US" sz="1300" b="1" dirty="0">
                <a:solidFill>
                  <a:srgbClr val="172033"/>
                </a:solidFill>
                <a:latin typeface="Calibri" pitchFamily="34" charset="0"/>
                <a:ea typeface="Calibri" pitchFamily="34" charset="-122"/>
                <a:cs typeface="Calibri" pitchFamily="34" charset="-120"/>
              </a:rPr>
              <a:t>Giải thích sự bất nhất — không loại bỏ nó.</a:t>
            </a:r>
            <a:endParaRPr lang="en-US" sz="1300" dirty="0"/>
          </a:p>
        </p:txBody>
      </p:sp>
      <p:sp>
        <p:nvSpPr>
          <p:cNvPr id="37" name="Text 35"/>
          <p:cNvSpPr/>
          <p:nvPr/>
        </p:nvSpPr>
        <p:spPr>
          <a:xfrm>
            <a:off x="640080" y="6172200"/>
            <a:ext cx="10607040" cy="164592"/>
          </a:xfrm>
          <a:prstGeom prst="rect">
            <a:avLst/>
          </a:prstGeom>
          <a:noFill/>
          <a:ln/>
        </p:spPr>
        <p:txBody>
          <a:bodyPr wrap="square" lIns="0" tIns="0" rIns="0" bIns="0" rtlCol="0" anchor="ctr">
            <a:normAutofit/>
          </a:bodyPr>
          <a:lstStyle/>
          <a:p>
            <a:pPr indent="0" marL="0">
              <a:buNone/>
            </a:pPr>
            <a:r>
              <a:rPr lang="en-US" sz="850" i="1" dirty="0">
                <a:solidFill>
                  <a:srgbClr val="64748B"/>
                </a:solidFill>
                <a:latin typeface="Calibri" pitchFamily="34" charset="0"/>
                <a:ea typeface="Calibri" pitchFamily="34" charset="-122"/>
                <a:cs typeface="Calibri" pitchFamily="34" charset="-120"/>
              </a:rPr>
              <a:t>Nguồn: Le, Nguyen, &amp; Nguyen (2026), International Journal of Hospitality Management 134, 104574; factsheet dự án.</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indent="0" marL="0">
              <a:buNone/>
            </a:pPr>
            <a:r>
              <a:rPr lang="en-US" sz="1000" b="1" spc="120" kern="0" dirty="0">
                <a:solidFill>
                  <a:srgbClr val="0F766E"/>
                </a:solidFill>
                <a:latin typeface="Calibri" pitchFamily="34" charset="0"/>
                <a:ea typeface="Calibri" pitchFamily="34" charset="-122"/>
                <a:cs typeface="Calibri" pitchFamily="34" charset="-120"/>
              </a:rPr>
              <a:t>HAI VÒNG, ƯU TIÊN MỚI NHẤT</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indent="0" marL="0">
              <a:buNone/>
            </a:pPr>
            <a:r>
              <a:rPr lang="en-US" sz="2900" b="1" dirty="0">
                <a:solidFill>
                  <a:srgbClr val="172033"/>
                </a:solidFill>
                <a:latin typeface="Cambria" pitchFamily="34" charset="0"/>
                <a:ea typeface="Cambria" pitchFamily="34" charset="-122"/>
                <a:cs typeface="Cambria" pitchFamily="34" charset="-120"/>
              </a:rPr>
              <a:t>Khảo sát văn hiến đã bao phủ những gì</a:t>
            </a:r>
            <a:endParaRPr lang="en-US" sz="2900" dirty="0"/>
          </a:p>
        </p:txBody>
      </p:sp>
      <p:sp>
        <p:nvSpPr>
          <p:cNvPr id="4" name="Text 2"/>
          <p:cNvSpPr/>
          <p:nvPr/>
        </p:nvSpPr>
        <p:spPr>
          <a:xfrm>
            <a:off x="658368" y="1143000"/>
            <a:ext cx="2743200" cy="274320"/>
          </a:xfrm>
          <a:prstGeom prst="rect">
            <a:avLst/>
          </a:prstGeom>
          <a:noFill/>
          <a:ln/>
        </p:spPr>
        <p:txBody>
          <a:bodyPr wrap="square" lIns="0" tIns="0" rIns="0" bIns="0" rtlCol="0" anchor="ctr"/>
          <a:lstStyle/>
          <a:p>
            <a:pPr indent="0" marL="0">
              <a:buNone/>
            </a:pPr>
            <a:r>
              <a:rPr lang="en-US" sz="1500" b="1" dirty="0">
                <a:solidFill>
                  <a:srgbClr val="475569"/>
                </a:solidFill>
                <a:latin typeface="Calibri" pitchFamily="34" charset="0"/>
                <a:ea typeface="Calibri" pitchFamily="34" charset="-122"/>
                <a:cs typeface="Calibri" pitchFamily="34" charset="-120"/>
              </a:rPr>
              <a:t>Tập bằng chứng hạt nhân</a:t>
            </a:r>
            <a:endParaRPr lang="en-US" sz="1500" dirty="0"/>
          </a:p>
        </p:txBody>
      </p:sp>
      <p:sp>
        <p:nvSpPr>
          <p:cNvPr id="5" name="Shape 3"/>
          <p:cNvSpPr/>
          <p:nvPr/>
        </p:nvSpPr>
        <p:spPr>
          <a:xfrm>
            <a:off x="658368" y="1572768"/>
            <a:ext cx="3456432" cy="2084832"/>
          </a:xfrm>
          <a:prstGeom prst="roundRect">
            <a:avLst>
              <a:gd name="adj" fmla="val 3509"/>
            </a:avLst>
          </a:prstGeom>
          <a:solidFill>
            <a:srgbClr val="FFE4E6"/>
          </a:solidFill>
          <a:ln w="12700">
            <a:solidFill>
              <a:srgbClr val="FFE4E6"/>
            </a:solidFill>
            <a:prstDash val="solid"/>
          </a:ln>
        </p:spPr>
      </p:sp>
      <p:sp>
        <p:nvSpPr>
          <p:cNvPr id="6" name="Shape 4"/>
          <p:cNvSpPr/>
          <p:nvPr/>
        </p:nvSpPr>
        <p:spPr>
          <a:xfrm>
            <a:off x="877824" y="1847088"/>
            <a:ext cx="749808" cy="749808"/>
          </a:xfrm>
          <a:prstGeom prst="ellipse">
            <a:avLst/>
          </a:prstGeom>
          <a:solidFill>
            <a:srgbClr val="E11D48"/>
          </a:solidFill>
          <a:ln w="12700">
            <a:solidFill>
              <a:srgbClr val="E11D48"/>
            </a:solidFill>
            <a:prstDash val="solid"/>
          </a:ln>
        </p:spPr>
      </p:sp>
      <p:sp>
        <p:nvSpPr>
          <p:cNvPr id="7" name="Text 5"/>
          <p:cNvSpPr/>
          <p:nvPr/>
        </p:nvSpPr>
        <p:spPr>
          <a:xfrm>
            <a:off x="877824" y="2029968"/>
            <a:ext cx="749808" cy="29260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7</a:t>
            </a:r>
            <a:endParaRPr lang="en-US" sz="2200" dirty="0"/>
          </a:p>
        </p:txBody>
      </p:sp>
      <p:sp>
        <p:nvSpPr>
          <p:cNvPr id="8" name="Text 6"/>
          <p:cNvSpPr/>
          <p:nvPr/>
        </p:nvSpPr>
        <p:spPr>
          <a:xfrm>
            <a:off x="1828800" y="1828800"/>
            <a:ext cx="1965960" cy="475488"/>
          </a:xfrm>
          <a:prstGeom prst="rect">
            <a:avLst/>
          </a:prstGeom>
          <a:noFill/>
          <a:ln/>
        </p:spPr>
        <p:txBody>
          <a:bodyPr wrap="square" lIns="0" tIns="0" rIns="0" bIns="0" rtlCol="0" anchor="ctr">
            <a:normAutofit/>
          </a:bodyPr>
          <a:lstStyle/>
          <a:p>
            <a:pPr indent="0" marL="0">
              <a:buNone/>
            </a:pPr>
            <a:r>
              <a:rPr lang="en-US" sz="1600" b="1" dirty="0">
                <a:solidFill>
                  <a:srgbClr val="172033"/>
                </a:solidFill>
                <a:latin typeface="Calibri" pitchFamily="34" charset="0"/>
                <a:ea typeface="Calibri" pitchFamily="34" charset="-122"/>
                <a:cs typeface="Calibri" pitchFamily="34" charset="-120"/>
              </a:rPr>
              <a:t>Bất nhất review</a:t>
            </a:r>
            <a:endParaRPr lang="en-US" sz="1600" dirty="0"/>
          </a:p>
        </p:txBody>
      </p:sp>
      <p:sp>
        <p:nvSpPr>
          <p:cNvPr id="9" name="Text 7"/>
          <p:cNvSpPr/>
          <p:nvPr/>
        </p:nvSpPr>
        <p:spPr>
          <a:xfrm>
            <a:off x="896112" y="2788920"/>
            <a:ext cx="2926080" cy="457200"/>
          </a:xfrm>
          <a:prstGeom prst="rect">
            <a:avLst/>
          </a:prstGeom>
          <a:noFill/>
          <a:ln/>
        </p:spPr>
        <p:txBody>
          <a:bodyPr wrap="square" lIns="0" tIns="0" rIns="0" bIns="0" rtlCol="0" anchor="ctr">
            <a:normAutofit/>
          </a:bodyPr>
          <a:lstStyle/>
          <a:p>
            <a:pPr indent="0" marL="0">
              <a:buNone/>
            </a:pPr>
            <a:r>
              <a:rPr lang="en-US" sz="1250" dirty="0">
                <a:solidFill>
                  <a:srgbClr val="475569"/>
                </a:solidFill>
                <a:latin typeface="Calibri" pitchFamily="34" charset="0"/>
                <a:ea typeface="Calibri" pitchFamily="34" charset="-122"/>
                <a:cs typeface="Calibri" pitchFamily="34" charset="-120"/>
              </a:rPr>
              <a:t>định nghĩa, chiều, độ lớn</a:t>
            </a:r>
            <a:endParaRPr lang="en-US" sz="1250" dirty="0"/>
          </a:p>
        </p:txBody>
      </p:sp>
      <p:sp>
        <p:nvSpPr>
          <p:cNvPr id="10" name="Shape 8"/>
          <p:cNvSpPr/>
          <p:nvPr/>
        </p:nvSpPr>
        <p:spPr>
          <a:xfrm>
            <a:off x="4361688" y="1572768"/>
            <a:ext cx="3456432" cy="2084832"/>
          </a:xfrm>
          <a:prstGeom prst="roundRect">
            <a:avLst>
              <a:gd name="adj" fmla="val 3509"/>
            </a:avLst>
          </a:prstGeom>
          <a:solidFill>
            <a:srgbClr val="DBEAFE"/>
          </a:solidFill>
          <a:ln w="12700">
            <a:solidFill>
              <a:srgbClr val="DBEAFE"/>
            </a:solidFill>
            <a:prstDash val="solid"/>
          </a:ln>
        </p:spPr>
      </p:sp>
      <p:sp>
        <p:nvSpPr>
          <p:cNvPr id="11" name="Shape 9"/>
          <p:cNvSpPr/>
          <p:nvPr/>
        </p:nvSpPr>
        <p:spPr>
          <a:xfrm>
            <a:off x="4581144" y="1847088"/>
            <a:ext cx="749808" cy="749808"/>
          </a:xfrm>
          <a:prstGeom prst="ellipse">
            <a:avLst/>
          </a:prstGeom>
          <a:solidFill>
            <a:srgbClr val="2563EB"/>
          </a:solidFill>
          <a:ln w="12700">
            <a:solidFill>
              <a:srgbClr val="2563EB"/>
            </a:solidFill>
            <a:prstDash val="solid"/>
          </a:ln>
        </p:spPr>
      </p:sp>
      <p:sp>
        <p:nvSpPr>
          <p:cNvPr id="12" name="Text 10"/>
          <p:cNvSpPr/>
          <p:nvPr/>
        </p:nvSpPr>
        <p:spPr>
          <a:xfrm>
            <a:off x="4581144" y="2029968"/>
            <a:ext cx="749808" cy="29260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3" name="Text 11"/>
          <p:cNvSpPr/>
          <p:nvPr/>
        </p:nvSpPr>
        <p:spPr>
          <a:xfrm>
            <a:off x="5532120" y="1828800"/>
            <a:ext cx="1965960" cy="475488"/>
          </a:xfrm>
          <a:prstGeom prst="rect">
            <a:avLst/>
          </a:prstGeom>
          <a:noFill/>
          <a:ln/>
        </p:spPr>
        <p:txBody>
          <a:bodyPr wrap="square" lIns="0" tIns="0" rIns="0" bIns="0" rtlCol="0" anchor="ctr">
            <a:normAutofit/>
          </a:bodyPr>
          <a:lstStyle/>
          <a:p>
            <a:pPr indent="0" marL="0">
              <a:buNone/>
            </a:pPr>
            <a:r>
              <a:rPr lang="en-US" sz="1600" b="1" dirty="0">
                <a:solidFill>
                  <a:srgbClr val="172033"/>
                </a:solidFill>
                <a:latin typeface="Calibri" pitchFamily="34" charset="0"/>
                <a:ea typeface="Calibri" pitchFamily="34" charset="-122"/>
                <a:cs typeface="Calibri" pitchFamily="34" charset="-120"/>
              </a:rPr>
              <a:t>ABSA ngành khách sạn</a:t>
            </a:r>
            <a:endParaRPr lang="en-US" sz="1600" dirty="0"/>
          </a:p>
        </p:txBody>
      </p:sp>
      <p:sp>
        <p:nvSpPr>
          <p:cNvPr id="14" name="Text 12"/>
          <p:cNvSpPr/>
          <p:nvPr/>
        </p:nvSpPr>
        <p:spPr>
          <a:xfrm>
            <a:off x="4599432" y="2788920"/>
            <a:ext cx="2926080" cy="457200"/>
          </a:xfrm>
          <a:prstGeom prst="rect">
            <a:avLst/>
          </a:prstGeom>
          <a:noFill/>
          <a:ln/>
        </p:spPr>
        <p:txBody>
          <a:bodyPr wrap="square" lIns="0" tIns="0" rIns="0" bIns="0" rtlCol="0" anchor="ctr">
            <a:normAutofit/>
          </a:bodyPr>
          <a:lstStyle/>
          <a:p>
            <a:pPr indent="0" marL="0">
              <a:buNone/>
            </a:pPr>
            <a:r>
              <a:rPr lang="en-US" sz="1250" dirty="0">
                <a:solidFill>
                  <a:srgbClr val="475569"/>
                </a:solidFill>
                <a:latin typeface="Calibri" pitchFamily="34" charset="0"/>
                <a:ea typeface="Calibri" pitchFamily="34" charset="-122"/>
                <a:cs typeface="Calibri" pitchFamily="34" charset="-120"/>
              </a:rPr>
              <a:t>khía cạnh, cảm xúc, baseline điểm số</a:t>
            </a:r>
            <a:endParaRPr lang="en-US" sz="1250" dirty="0"/>
          </a:p>
        </p:txBody>
      </p:sp>
      <p:sp>
        <p:nvSpPr>
          <p:cNvPr id="15" name="Shape 13"/>
          <p:cNvSpPr/>
          <p:nvPr/>
        </p:nvSpPr>
        <p:spPr>
          <a:xfrm>
            <a:off x="8065008" y="1572768"/>
            <a:ext cx="3456432" cy="2084832"/>
          </a:xfrm>
          <a:prstGeom prst="roundRect">
            <a:avLst>
              <a:gd name="adj" fmla="val 3509"/>
            </a:avLst>
          </a:prstGeom>
          <a:solidFill>
            <a:srgbClr val="CCFBF1"/>
          </a:solidFill>
          <a:ln w="12700">
            <a:solidFill>
              <a:srgbClr val="CCFBF1"/>
            </a:solidFill>
            <a:prstDash val="solid"/>
          </a:ln>
        </p:spPr>
      </p:sp>
      <p:sp>
        <p:nvSpPr>
          <p:cNvPr id="16" name="Shape 14"/>
          <p:cNvSpPr/>
          <p:nvPr/>
        </p:nvSpPr>
        <p:spPr>
          <a:xfrm>
            <a:off x="8284464" y="1847088"/>
            <a:ext cx="749808" cy="749808"/>
          </a:xfrm>
          <a:prstGeom prst="ellipse">
            <a:avLst/>
          </a:prstGeom>
          <a:solidFill>
            <a:srgbClr val="0F766E"/>
          </a:solidFill>
          <a:ln w="12700">
            <a:solidFill>
              <a:srgbClr val="0F766E"/>
            </a:solidFill>
            <a:prstDash val="solid"/>
          </a:ln>
        </p:spPr>
      </p:sp>
      <p:sp>
        <p:nvSpPr>
          <p:cNvPr id="17" name="Text 15"/>
          <p:cNvSpPr/>
          <p:nvPr/>
        </p:nvSpPr>
        <p:spPr>
          <a:xfrm>
            <a:off x="8284464" y="2029968"/>
            <a:ext cx="749808" cy="29260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18" name="Text 16"/>
          <p:cNvSpPr/>
          <p:nvPr/>
        </p:nvSpPr>
        <p:spPr>
          <a:xfrm>
            <a:off x="9235440" y="1828800"/>
            <a:ext cx="1965960" cy="475488"/>
          </a:xfrm>
          <a:prstGeom prst="rect">
            <a:avLst/>
          </a:prstGeom>
          <a:noFill/>
          <a:ln/>
        </p:spPr>
        <p:txBody>
          <a:bodyPr wrap="square" lIns="0" tIns="0" rIns="0" bIns="0" rtlCol="0" anchor="ctr">
            <a:normAutofit/>
          </a:bodyPr>
          <a:lstStyle/>
          <a:p>
            <a:pPr indent="0" marL="0">
              <a:buNone/>
            </a:pPr>
            <a:r>
              <a:rPr lang="en-US" sz="1600" b="1" dirty="0">
                <a:solidFill>
                  <a:srgbClr val="172033"/>
                </a:solidFill>
                <a:latin typeface="Calibri" pitchFamily="34" charset="0"/>
                <a:ea typeface="Calibri" pitchFamily="34" charset="-122"/>
                <a:cs typeface="Calibri" pitchFamily="34" charset="-120"/>
              </a:rPr>
              <a:t>Tha thứ &amp; hiệu ứng tấm đệm</a:t>
            </a:r>
            <a:endParaRPr lang="en-US" sz="1600" dirty="0"/>
          </a:p>
        </p:txBody>
      </p:sp>
      <p:sp>
        <p:nvSpPr>
          <p:cNvPr id="19" name="Text 17"/>
          <p:cNvSpPr/>
          <p:nvPr/>
        </p:nvSpPr>
        <p:spPr>
          <a:xfrm>
            <a:off x="8302752" y="2788920"/>
            <a:ext cx="2926080" cy="457200"/>
          </a:xfrm>
          <a:prstGeom prst="rect">
            <a:avLst/>
          </a:prstGeom>
          <a:noFill/>
          <a:ln/>
        </p:spPr>
        <p:txBody>
          <a:bodyPr wrap="square" lIns="0" tIns="0" rIns="0" bIns="0" rtlCol="0" anchor="ctr">
            <a:normAutofit/>
          </a:bodyPr>
          <a:lstStyle/>
          <a:p>
            <a:pPr indent="0" marL="0">
              <a:buNone/>
            </a:pPr>
            <a:r>
              <a:rPr lang="en-US" sz="1250" dirty="0">
                <a:solidFill>
                  <a:srgbClr val="475569"/>
                </a:solidFill>
                <a:latin typeface="Calibri" pitchFamily="34" charset="0"/>
                <a:ea typeface="Calibri" pitchFamily="34" charset="-122"/>
                <a:cs typeface="Calibri" pitchFamily="34" charset="-120"/>
              </a:rPr>
              <a:t>công bằng, đồng cảm, cơ chế phục hồi</a:t>
            </a:r>
            <a:endParaRPr lang="en-US" sz="1250" dirty="0"/>
          </a:p>
        </p:txBody>
      </p:sp>
      <p:sp>
        <p:nvSpPr>
          <p:cNvPr id="20" name="Shape 18"/>
          <p:cNvSpPr/>
          <p:nvPr/>
        </p:nvSpPr>
        <p:spPr>
          <a:xfrm>
            <a:off x="658368" y="4069080"/>
            <a:ext cx="10881360" cy="1371600"/>
          </a:xfrm>
          <a:prstGeom prst="roundRect">
            <a:avLst>
              <a:gd name="adj" fmla="val 5333"/>
            </a:avLst>
          </a:prstGeom>
          <a:solidFill>
            <a:srgbClr val="FFFFFF"/>
          </a:solidFill>
          <a:ln w="12700">
            <a:solidFill>
              <a:srgbClr val="E2E8F0"/>
            </a:solidFill>
            <a:prstDash val="solid"/>
          </a:ln>
        </p:spPr>
      </p:sp>
      <p:sp>
        <p:nvSpPr>
          <p:cNvPr id="21" name="Text 19"/>
          <p:cNvSpPr/>
          <p:nvPr/>
        </p:nvSpPr>
        <p:spPr>
          <a:xfrm>
            <a:off x="896112" y="4370832"/>
            <a:ext cx="2103120" cy="384048"/>
          </a:xfrm>
          <a:prstGeom prst="rect">
            <a:avLst/>
          </a:prstGeom>
          <a:noFill/>
          <a:ln/>
        </p:spPr>
        <p:txBody>
          <a:bodyPr wrap="square" lIns="0" tIns="0" rIns="0" bIns="0" rtlCol="0" anchor="ctr">
            <a:normAutofit/>
          </a:bodyPr>
          <a:lstStyle/>
          <a:p>
            <a:pPr algn="ctr" indent="0" marL="0">
              <a:buNone/>
            </a:pPr>
            <a:r>
              <a:rPr lang="en-US" sz="2300" b="1" dirty="0">
                <a:solidFill>
                  <a:srgbClr val="172033"/>
                </a:solidFill>
                <a:latin typeface="Cambria" pitchFamily="34" charset="0"/>
                <a:ea typeface="Cambria" pitchFamily="34" charset="-122"/>
                <a:cs typeface="Cambria" pitchFamily="34" charset="-120"/>
              </a:rPr>
              <a:t>36 tháng</a:t>
            </a:r>
            <a:endParaRPr lang="en-US" sz="2300" dirty="0"/>
          </a:p>
        </p:txBody>
      </p:sp>
      <p:sp>
        <p:nvSpPr>
          <p:cNvPr id="22" name="Text 20"/>
          <p:cNvSpPr/>
          <p:nvPr/>
        </p:nvSpPr>
        <p:spPr>
          <a:xfrm>
            <a:off x="896112" y="4828032"/>
            <a:ext cx="2103120" cy="310896"/>
          </a:xfrm>
          <a:prstGeom prst="rect">
            <a:avLst/>
          </a:prstGeom>
          <a:noFill/>
          <a:ln/>
        </p:spPr>
        <p:txBody>
          <a:bodyPr wrap="square" lIns="0" tIns="0" rIns="0" bIns="0" rtlCol="0" anchor="ctr">
            <a:normAutofit/>
          </a:bodyPr>
          <a:lstStyle/>
          <a:p>
            <a:pPr algn="ctr" indent="0" marL="0">
              <a:buNone/>
            </a:pPr>
            <a:r>
              <a:rPr lang="en-US" sz="1150" dirty="0">
                <a:solidFill>
                  <a:srgbClr val="475569"/>
                </a:solidFill>
                <a:latin typeface="Calibri" pitchFamily="34" charset="0"/>
                <a:ea typeface="Calibri" pitchFamily="34" charset="-122"/>
                <a:cs typeface="Calibri" pitchFamily="34" charset="-120"/>
              </a:rPr>
              <a:t>cửa sổ tìm kiếm chủ động</a:t>
            </a:r>
            <a:endParaRPr lang="en-US" sz="1150" dirty="0"/>
          </a:p>
        </p:txBody>
      </p:sp>
      <p:sp>
        <p:nvSpPr>
          <p:cNvPr id="23" name="Text 21"/>
          <p:cNvSpPr/>
          <p:nvPr/>
        </p:nvSpPr>
        <p:spPr>
          <a:xfrm>
            <a:off x="3575304" y="4370832"/>
            <a:ext cx="2103120" cy="384048"/>
          </a:xfrm>
          <a:prstGeom prst="rect">
            <a:avLst/>
          </a:prstGeom>
          <a:noFill/>
          <a:ln/>
        </p:spPr>
        <p:txBody>
          <a:bodyPr wrap="square" lIns="0" tIns="0" rIns="0" bIns="0" rtlCol="0" anchor="ctr">
            <a:normAutofit/>
          </a:bodyPr>
          <a:lstStyle/>
          <a:p>
            <a:pPr algn="ctr" indent="0" marL="0">
              <a:buNone/>
            </a:pPr>
            <a:r>
              <a:rPr lang="en-US" sz="2300" b="1" dirty="0">
                <a:solidFill>
                  <a:srgbClr val="172033"/>
                </a:solidFill>
                <a:latin typeface="Cambria" pitchFamily="34" charset="0"/>
                <a:ea typeface="Cambria" pitchFamily="34" charset="-122"/>
                <a:cs typeface="Cambria" pitchFamily="34" charset="-120"/>
              </a:rPr>
              <a:t>6</a:t>
            </a:r>
            <a:endParaRPr lang="en-US" sz="2300" dirty="0"/>
          </a:p>
        </p:txBody>
      </p:sp>
      <p:sp>
        <p:nvSpPr>
          <p:cNvPr id="24" name="Text 22"/>
          <p:cNvSpPr/>
          <p:nvPr/>
        </p:nvSpPr>
        <p:spPr>
          <a:xfrm>
            <a:off x="3575304" y="4828032"/>
            <a:ext cx="2103120" cy="310896"/>
          </a:xfrm>
          <a:prstGeom prst="rect">
            <a:avLst/>
          </a:prstGeom>
          <a:noFill/>
          <a:ln/>
        </p:spPr>
        <p:txBody>
          <a:bodyPr wrap="square" lIns="0" tIns="0" rIns="0" bIns="0" rtlCol="0" anchor="ctr">
            <a:normAutofit/>
          </a:bodyPr>
          <a:lstStyle/>
          <a:p>
            <a:pPr algn="ctr" indent="0" marL="0">
              <a:buNone/>
            </a:pPr>
            <a:r>
              <a:rPr lang="en-US" sz="1150" dirty="0">
                <a:solidFill>
                  <a:srgbClr val="475569"/>
                </a:solidFill>
                <a:latin typeface="Calibri" pitchFamily="34" charset="0"/>
                <a:ea typeface="Calibri" pitchFamily="34" charset="-122"/>
                <a:cs typeface="Calibri" pitchFamily="34" charset="-120"/>
              </a:rPr>
              <a:t>nguồn hạt nhân mới ở Vòng 2</a:t>
            </a:r>
            <a:endParaRPr lang="en-US" sz="1150" dirty="0"/>
          </a:p>
        </p:txBody>
      </p:sp>
      <p:sp>
        <p:nvSpPr>
          <p:cNvPr id="25" name="Text 23"/>
          <p:cNvSpPr/>
          <p:nvPr/>
        </p:nvSpPr>
        <p:spPr>
          <a:xfrm>
            <a:off x="6254496" y="4370832"/>
            <a:ext cx="2103120" cy="384048"/>
          </a:xfrm>
          <a:prstGeom prst="rect">
            <a:avLst/>
          </a:prstGeom>
          <a:noFill/>
          <a:ln/>
        </p:spPr>
        <p:txBody>
          <a:bodyPr wrap="square" lIns="0" tIns="0" rIns="0" bIns="0" rtlCol="0" anchor="ctr">
            <a:normAutofit/>
          </a:bodyPr>
          <a:lstStyle/>
          <a:p>
            <a:pPr algn="ctr" indent="0" marL="0">
              <a:buNone/>
            </a:pPr>
            <a:r>
              <a:rPr lang="en-US" sz="2300" b="1" dirty="0">
                <a:solidFill>
                  <a:srgbClr val="172033"/>
                </a:solidFill>
                <a:latin typeface="Cambria" pitchFamily="34" charset="0"/>
                <a:ea typeface="Cambria" pitchFamily="34" charset="-122"/>
                <a:cs typeface="Cambria" pitchFamily="34" charset="-120"/>
              </a:rPr>
              <a:t>3</a:t>
            </a:r>
            <a:endParaRPr lang="en-US" sz="2300" dirty="0"/>
          </a:p>
        </p:txBody>
      </p:sp>
      <p:sp>
        <p:nvSpPr>
          <p:cNvPr id="26" name="Text 24"/>
          <p:cNvSpPr/>
          <p:nvPr/>
        </p:nvSpPr>
        <p:spPr>
          <a:xfrm>
            <a:off x="6254496" y="4828032"/>
            <a:ext cx="2103120" cy="310896"/>
          </a:xfrm>
          <a:prstGeom prst="rect">
            <a:avLst/>
          </a:prstGeom>
          <a:noFill/>
          <a:ln/>
        </p:spPr>
        <p:txBody>
          <a:bodyPr wrap="square" lIns="0" tIns="0" rIns="0" bIns="0" rtlCol="0" anchor="ctr">
            <a:normAutofit/>
          </a:bodyPr>
          <a:lstStyle/>
          <a:p>
            <a:pPr algn="ctr" indent="0" marL="0">
              <a:buNone/>
            </a:pPr>
            <a:r>
              <a:rPr lang="en-US" sz="1150" dirty="0">
                <a:solidFill>
                  <a:srgbClr val="475569"/>
                </a:solidFill>
                <a:latin typeface="Calibri" pitchFamily="34" charset="0"/>
                <a:ea typeface="Calibri" pitchFamily="34" charset="-122"/>
                <a:cs typeface="Calibri" pitchFamily="34" charset="-120"/>
              </a:rPr>
              <a:t>bài trong watchlist kỹ thuật</a:t>
            </a:r>
            <a:endParaRPr lang="en-US" sz="1150" dirty="0"/>
          </a:p>
        </p:txBody>
      </p:sp>
      <p:sp>
        <p:nvSpPr>
          <p:cNvPr id="27" name="Text 25"/>
          <p:cNvSpPr/>
          <p:nvPr/>
        </p:nvSpPr>
        <p:spPr>
          <a:xfrm>
            <a:off x="8933688" y="4370832"/>
            <a:ext cx="2103120" cy="384048"/>
          </a:xfrm>
          <a:prstGeom prst="rect">
            <a:avLst/>
          </a:prstGeom>
          <a:noFill/>
          <a:ln/>
        </p:spPr>
        <p:txBody>
          <a:bodyPr wrap="square" lIns="0" tIns="0" rIns="0" bIns="0" rtlCol="0" anchor="ctr">
            <a:normAutofit/>
          </a:bodyPr>
          <a:lstStyle/>
          <a:p>
            <a:pPr algn="ctr" indent="0" marL="0">
              <a:buNone/>
            </a:pPr>
            <a:r>
              <a:rPr lang="en-US" sz="2300" b="1" dirty="0">
                <a:solidFill>
                  <a:srgbClr val="0F766E"/>
                </a:solidFill>
                <a:latin typeface="Cambria" pitchFamily="34" charset="0"/>
                <a:ea typeface="Cambria" pitchFamily="34" charset="-122"/>
                <a:cs typeface="Cambria" pitchFamily="34" charset="-120"/>
              </a:rPr>
              <a:t>15</a:t>
            </a:r>
            <a:endParaRPr lang="en-US" sz="2300" dirty="0"/>
          </a:p>
        </p:txBody>
      </p:sp>
      <p:sp>
        <p:nvSpPr>
          <p:cNvPr id="28" name="Text 26"/>
          <p:cNvSpPr/>
          <p:nvPr/>
        </p:nvSpPr>
        <p:spPr>
          <a:xfrm>
            <a:off x="8933688" y="4828032"/>
            <a:ext cx="2103120" cy="310896"/>
          </a:xfrm>
          <a:prstGeom prst="rect">
            <a:avLst/>
          </a:prstGeom>
          <a:noFill/>
          <a:ln/>
        </p:spPr>
        <p:txBody>
          <a:bodyPr wrap="square" lIns="0" tIns="0" rIns="0" bIns="0" rtlCol="0" anchor="ctr">
            <a:normAutofit/>
          </a:bodyPr>
          <a:lstStyle/>
          <a:p>
            <a:pPr algn="ctr" indent="0" marL="0">
              <a:buNone/>
            </a:pPr>
            <a:r>
              <a:rPr lang="en-US" sz="1150" dirty="0">
                <a:solidFill>
                  <a:srgbClr val="475569"/>
                </a:solidFill>
                <a:latin typeface="Calibri" pitchFamily="34" charset="0"/>
                <a:ea typeface="Calibri" pitchFamily="34" charset="-122"/>
                <a:cs typeface="Calibri" pitchFamily="34" charset="-120"/>
              </a:rPr>
              <a:t>đạt ngưỡng bài hạt nhân</a:t>
            </a:r>
            <a:endParaRPr lang="en-US" sz="1150" dirty="0"/>
          </a:p>
        </p:txBody>
      </p:sp>
      <p:sp>
        <p:nvSpPr>
          <p:cNvPr id="29" name="Text 27"/>
          <p:cNvSpPr/>
          <p:nvPr/>
        </p:nvSpPr>
        <p:spPr>
          <a:xfrm>
            <a:off x="1353312" y="5687568"/>
            <a:ext cx="9509760" cy="274320"/>
          </a:xfrm>
          <a:prstGeom prst="rect">
            <a:avLst/>
          </a:prstGeom>
          <a:noFill/>
          <a:ln/>
        </p:spPr>
        <p:txBody>
          <a:bodyPr wrap="square" lIns="0" tIns="0" rIns="0" bIns="0" rtlCol="0" anchor="ctr">
            <a:normAutofit/>
          </a:bodyPr>
          <a:lstStyle/>
          <a:p>
            <a:pPr algn="ctr" indent="0" marL="0">
              <a:buNone/>
            </a:pPr>
            <a:r>
              <a:rPr lang="en-US" sz="1500" b="1" dirty="0">
                <a:solidFill>
                  <a:srgbClr val="0F766E"/>
                </a:solidFill>
                <a:latin typeface="Calibri" pitchFamily="34" charset="0"/>
                <a:ea typeface="Calibri" pitchFamily="34" charset="-122"/>
                <a:cs typeface="Calibri" pitchFamily="34" charset="-120"/>
              </a:rPr>
              <a:t>Tạm dừng broad search: bất định tiếp theo thuộc về thực nghiệm, không phải thư mục.</a:t>
            </a:r>
            <a:endParaRPr lang="en-US" sz="1500" dirty="0"/>
          </a:p>
        </p:txBody>
      </p:sp>
      <p:sp>
        <p:nvSpPr>
          <p:cNvPr id="30" name="Text 28"/>
          <p:cNvSpPr/>
          <p:nvPr/>
        </p:nvSpPr>
        <p:spPr>
          <a:xfrm>
            <a:off x="640080" y="6172200"/>
            <a:ext cx="10607040" cy="164592"/>
          </a:xfrm>
          <a:prstGeom prst="rect">
            <a:avLst/>
          </a:prstGeom>
          <a:noFill/>
          <a:ln/>
        </p:spPr>
        <p:txBody>
          <a:bodyPr wrap="square" lIns="0" tIns="0" rIns="0" bIns="0" rtlCol="0" anchor="ctr">
            <a:normAutofit/>
          </a:bodyPr>
          <a:lstStyle/>
          <a:p>
            <a:pPr indent="0" marL="0">
              <a:buNone/>
            </a:pPr>
            <a:r>
              <a:rPr lang="en-US" sz="850" i="1" dirty="0">
                <a:solidFill>
                  <a:srgbClr val="64748B"/>
                </a:solidFill>
                <a:latin typeface="Calibri" pitchFamily="34" charset="0"/>
                <a:ea typeface="Calibri" pitchFamily="34" charset="-122"/>
                <a:cs typeface="Calibri" pitchFamily="34" charset="-120"/>
              </a:rPr>
              <a:t>Nguồn: RDR-0001, RDR-0002, ma trận khảo sát Vòng 1–2, refs/INDEX.md.</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indent="0" marL="0">
              <a:buNone/>
            </a:pPr>
            <a:r>
              <a:rPr lang="en-US" sz="1000" b="1" spc="120" kern="0" dirty="0">
                <a:solidFill>
                  <a:srgbClr val="0F766E"/>
                </a:solidFill>
                <a:latin typeface="Calibri" pitchFamily="34" charset="0"/>
                <a:ea typeface="Calibri" pitchFamily="34" charset="-122"/>
                <a:cs typeface="Calibri" pitchFamily="34" charset="-120"/>
              </a:rPr>
              <a:t>ĐIỀU ĐÃ CÓ BẰNG CHỨNG</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indent="0" marL="0">
              <a:buNone/>
            </a:pPr>
            <a:r>
              <a:rPr lang="en-US" sz="2900" b="1" dirty="0">
                <a:solidFill>
                  <a:srgbClr val="172033"/>
                </a:solidFill>
                <a:latin typeface="Cambria" pitchFamily="34" charset="0"/>
                <a:ea typeface="Cambria" pitchFamily="34" charset="-122"/>
                <a:cs typeface="Cambria" pitchFamily="34" charset="-120"/>
              </a:rPr>
              <a:t>Kết quả #1: bất nhất là tín hiệu, không phải nhiễu</a:t>
            </a:r>
            <a:endParaRPr lang="en-US" sz="2900" dirty="0"/>
          </a:p>
        </p:txBody>
      </p:sp>
      <p:sp>
        <p:nvSpPr>
          <p:cNvPr id="4" name="Shape 2"/>
          <p:cNvSpPr/>
          <p:nvPr/>
        </p:nvSpPr>
        <p:spPr>
          <a:xfrm>
            <a:off x="658368" y="1280160"/>
            <a:ext cx="5102352" cy="1627632"/>
          </a:xfrm>
          <a:prstGeom prst="roundRect">
            <a:avLst>
              <a:gd name="adj" fmla="val 4494"/>
            </a:avLst>
          </a:prstGeom>
          <a:solidFill>
            <a:srgbClr val="FFE4E6"/>
          </a:solidFill>
          <a:ln w="12700">
            <a:solidFill>
              <a:srgbClr val="FFE4E6"/>
            </a:solidFill>
            <a:prstDash val="solid"/>
          </a:ln>
        </p:spPr>
      </p:sp>
      <p:sp>
        <p:nvSpPr>
          <p:cNvPr id="5" name="Shape 3"/>
          <p:cNvSpPr/>
          <p:nvPr/>
        </p:nvSpPr>
        <p:spPr>
          <a:xfrm>
            <a:off x="886968" y="1527048"/>
            <a:ext cx="402336" cy="402336"/>
          </a:xfrm>
          <a:prstGeom prst="ellipse">
            <a:avLst/>
          </a:prstGeom>
          <a:solidFill>
            <a:srgbClr val="E11D48"/>
          </a:solidFill>
          <a:ln w="12700">
            <a:solidFill>
              <a:srgbClr val="E11D48"/>
            </a:solidFill>
            <a:prstDash val="solid"/>
          </a:ln>
        </p:spPr>
      </p:sp>
      <p:sp>
        <p:nvSpPr>
          <p:cNvPr id="6" name="Text 4"/>
          <p:cNvSpPr/>
          <p:nvPr/>
        </p:nvSpPr>
        <p:spPr>
          <a:xfrm>
            <a:off x="886968" y="1618488"/>
            <a:ext cx="402336"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1463040" y="1508760"/>
            <a:ext cx="3977640" cy="320040"/>
          </a:xfrm>
          <a:prstGeom prst="rect">
            <a:avLst/>
          </a:prstGeom>
          <a:noFill/>
          <a:ln/>
        </p:spPr>
        <p:txBody>
          <a:bodyPr wrap="square" lIns="0" tIns="0" rIns="0" bIns="0" rtlCol="0" anchor="ctr"/>
          <a:lstStyle/>
          <a:p>
            <a:pPr indent="0" marL="0">
              <a:buNone/>
            </a:pPr>
            <a:r>
              <a:rPr lang="en-US" sz="1600" b="1" dirty="0">
                <a:solidFill>
                  <a:srgbClr val="172033"/>
                </a:solidFill>
                <a:latin typeface="Calibri" pitchFamily="34" charset="0"/>
                <a:ea typeface="Calibri" pitchFamily="34" charset="-122"/>
                <a:cs typeface="Calibri" pitchFamily="34" charset="-120"/>
              </a:rPr>
              <a:t>Thiểu số có cấu trúc</a:t>
            </a:r>
            <a:endParaRPr lang="en-US" sz="1600" dirty="0"/>
          </a:p>
        </p:txBody>
      </p:sp>
      <p:sp>
        <p:nvSpPr>
          <p:cNvPr id="8" name="Text 6"/>
          <p:cNvSpPr/>
          <p:nvPr/>
        </p:nvSpPr>
        <p:spPr>
          <a:xfrm>
            <a:off x="1463040" y="1947672"/>
            <a:ext cx="3886200" cy="658368"/>
          </a:xfrm>
          <a:prstGeom prst="rect">
            <a:avLst/>
          </a:prstGeom>
          <a:noFill/>
          <a:ln/>
        </p:spPr>
        <p:txBody>
          <a:bodyPr wrap="square" lIns="0" tIns="0" rIns="0" bIns="0" rtlCol="0" anchor="ctr">
            <a:normAutofit/>
          </a:bodyPr>
          <a:lstStyle/>
          <a:p>
            <a:pPr indent="0" marL="0">
              <a:buNone/>
            </a:pPr>
            <a:r>
              <a:rPr lang="en-US" sz="1250" dirty="0">
                <a:solidFill>
                  <a:srgbClr val="475569"/>
                </a:solidFill>
                <a:latin typeface="Calibri" pitchFamily="34" charset="0"/>
                <a:ea typeface="Calibri" pitchFamily="34" charset="-122"/>
                <a:cs typeface="Calibri" pitchFamily="34" charset="-120"/>
              </a:rPr>
              <a:t>Bằng chứng bên ngoài cho thấy các pattern có hướng lặp lại; một nghiên cứu du lịch ghi nhận 18,6% review bất nhất.</a:t>
            </a:r>
            <a:endParaRPr lang="en-US" sz="1250" dirty="0"/>
          </a:p>
        </p:txBody>
      </p:sp>
      <p:sp>
        <p:nvSpPr>
          <p:cNvPr id="9" name="Shape 7"/>
          <p:cNvSpPr/>
          <p:nvPr/>
        </p:nvSpPr>
        <p:spPr>
          <a:xfrm>
            <a:off x="6190488" y="1280160"/>
            <a:ext cx="5102352" cy="1627632"/>
          </a:xfrm>
          <a:prstGeom prst="roundRect">
            <a:avLst>
              <a:gd name="adj" fmla="val 4494"/>
            </a:avLst>
          </a:prstGeom>
          <a:solidFill>
            <a:srgbClr val="DBEAFE"/>
          </a:solidFill>
          <a:ln w="12700">
            <a:solidFill>
              <a:srgbClr val="DBEAFE"/>
            </a:solidFill>
            <a:prstDash val="solid"/>
          </a:ln>
        </p:spPr>
      </p:sp>
      <p:sp>
        <p:nvSpPr>
          <p:cNvPr id="10" name="Shape 8"/>
          <p:cNvSpPr/>
          <p:nvPr/>
        </p:nvSpPr>
        <p:spPr>
          <a:xfrm>
            <a:off x="6419088" y="1527048"/>
            <a:ext cx="402336" cy="402336"/>
          </a:xfrm>
          <a:prstGeom prst="ellipse">
            <a:avLst/>
          </a:prstGeom>
          <a:solidFill>
            <a:srgbClr val="2563EB"/>
          </a:solidFill>
          <a:ln w="12700">
            <a:solidFill>
              <a:srgbClr val="2563EB"/>
            </a:solidFill>
            <a:prstDash val="solid"/>
          </a:ln>
        </p:spPr>
      </p:sp>
      <p:sp>
        <p:nvSpPr>
          <p:cNvPr id="11" name="Text 9"/>
          <p:cNvSpPr/>
          <p:nvPr/>
        </p:nvSpPr>
        <p:spPr>
          <a:xfrm>
            <a:off x="6419088" y="1618488"/>
            <a:ext cx="402336"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6995160" y="1508760"/>
            <a:ext cx="3977640" cy="320040"/>
          </a:xfrm>
          <a:prstGeom prst="rect">
            <a:avLst/>
          </a:prstGeom>
          <a:noFill/>
          <a:ln/>
        </p:spPr>
        <p:txBody>
          <a:bodyPr wrap="square" lIns="0" tIns="0" rIns="0" bIns="0" rtlCol="0" anchor="ctr"/>
          <a:lstStyle/>
          <a:p>
            <a:pPr indent="0" marL="0">
              <a:buNone/>
            </a:pPr>
            <a:r>
              <a:rPr lang="en-US" sz="1600" b="1" dirty="0">
                <a:solidFill>
                  <a:srgbClr val="172033"/>
                </a:solidFill>
                <a:latin typeface="Calibri" pitchFamily="34" charset="0"/>
                <a:ea typeface="Calibri" pitchFamily="34" charset="-122"/>
                <a:cs typeface="Calibri" pitchFamily="34" charset="-120"/>
              </a:rPr>
              <a:t>Điểm sao ≠ nhãn cảm xúc</a:t>
            </a:r>
            <a:endParaRPr lang="en-US" sz="1600" dirty="0"/>
          </a:p>
        </p:txBody>
      </p:sp>
      <p:sp>
        <p:nvSpPr>
          <p:cNvPr id="13" name="Text 11"/>
          <p:cNvSpPr/>
          <p:nvPr/>
        </p:nvSpPr>
        <p:spPr>
          <a:xfrm>
            <a:off x="6995160" y="1947672"/>
            <a:ext cx="3886200" cy="658368"/>
          </a:xfrm>
          <a:prstGeom prst="rect">
            <a:avLst/>
          </a:prstGeom>
          <a:noFill/>
          <a:ln/>
        </p:spPr>
        <p:txBody>
          <a:bodyPr wrap="square" lIns="0" tIns="0" rIns="0" bIns="0" rtlCol="0" anchor="ctr">
            <a:normAutofit/>
          </a:bodyPr>
          <a:lstStyle/>
          <a:p>
            <a:pPr indent="0" marL="0">
              <a:buNone/>
            </a:pPr>
            <a:r>
              <a:rPr lang="en-US" sz="1250" dirty="0">
                <a:solidFill>
                  <a:srgbClr val="475569"/>
                </a:solidFill>
                <a:latin typeface="Calibri" pitchFamily="34" charset="0"/>
                <a:ea typeface="Calibri" pitchFamily="34" charset="-122"/>
                <a:cs typeface="Calibri" pitchFamily="34" charset="-120"/>
              </a:rPr>
              <a:t>Dùng điểm sao làm ground truth mà không kiểm tra agreement có thể đưa weak-label noise vào mô hình supervised.</a:t>
            </a:r>
            <a:endParaRPr lang="en-US" sz="1250" dirty="0"/>
          </a:p>
        </p:txBody>
      </p:sp>
      <p:sp>
        <p:nvSpPr>
          <p:cNvPr id="14" name="Shape 12"/>
          <p:cNvSpPr/>
          <p:nvPr/>
        </p:nvSpPr>
        <p:spPr>
          <a:xfrm>
            <a:off x="658368" y="3310128"/>
            <a:ext cx="5102352" cy="1627632"/>
          </a:xfrm>
          <a:prstGeom prst="roundRect">
            <a:avLst>
              <a:gd name="adj" fmla="val 4494"/>
            </a:avLst>
          </a:prstGeom>
          <a:solidFill>
            <a:srgbClr val="FEF3C7"/>
          </a:solidFill>
          <a:ln w="12700">
            <a:solidFill>
              <a:srgbClr val="FEF3C7"/>
            </a:solidFill>
            <a:prstDash val="solid"/>
          </a:ln>
        </p:spPr>
      </p:sp>
      <p:sp>
        <p:nvSpPr>
          <p:cNvPr id="15" name="Shape 13"/>
          <p:cNvSpPr/>
          <p:nvPr/>
        </p:nvSpPr>
        <p:spPr>
          <a:xfrm>
            <a:off x="886968" y="3557016"/>
            <a:ext cx="402336" cy="402336"/>
          </a:xfrm>
          <a:prstGeom prst="ellipse">
            <a:avLst/>
          </a:prstGeom>
          <a:solidFill>
            <a:srgbClr val="D97706"/>
          </a:solidFill>
          <a:ln w="12700">
            <a:solidFill>
              <a:srgbClr val="D97706"/>
            </a:solidFill>
            <a:prstDash val="solid"/>
          </a:ln>
        </p:spPr>
      </p:sp>
      <p:sp>
        <p:nvSpPr>
          <p:cNvPr id="16" name="Text 14"/>
          <p:cNvSpPr/>
          <p:nvPr/>
        </p:nvSpPr>
        <p:spPr>
          <a:xfrm>
            <a:off x="886968" y="3648456"/>
            <a:ext cx="402336"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1463040" y="3538728"/>
            <a:ext cx="3977640" cy="320040"/>
          </a:xfrm>
          <a:prstGeom prst="rect">
            <a:avLst/>
          </a:prstGeom>
          <a:noFill/>
          <a:ln/>
        </p:spPr>
        <p:txBody>
          <a:bodyPr wrap="square" lIns="0" tIns="0" rIns="0" bIns="0" rtlCol="0" anchor="ctr"/>
          <a:lstStyle/>
          <a:p>
            <a:pPr indent="0" marL="0">
              <a:buNone/>
            </a:pPr>
            <a:r>
              <a:rPr lang="en-US" sz="1600" b="1" dirty="0">
                <a:solidFill>
                  <a:srgbClr val="172033"/>
                </a:solidFill>
                <a:latin typeface="Calibri" pitchFamily="34" charset="0"/>
                <a:ea typeface="Calibri" pitchFamily="34" charset="-122"/>
                <a:cs typeface="Calibri" pitchFamily="34" charset="-120"/>
              </a:rPr>
              <a:t>Review hỗn hợp ≠ bất nhất</a:t>
            </a:r>
            <a:endParaRPr lang="en-US" sz="1600" dirty="0"/>
          </a:p>
        </p:txBody>
      </p:sp>
      <p:sp>
        <p:nvSpPr>
          <p:cNvPr id="18" name="Text 16"/>
          <p:cNvSpPr/>
          <p:nvPr/>
        </p:nvSpPr>
        <p:spPr>
          <a:xfrm>
            <a:off x="1463040" y="3977640"/>
            <a:ext cx="3886200" cy="658368"/>
          </a:xfrm>
          <a:prstGeom prst="rect">
            <a:avLst/>
          </a:prstGeom>
          <a:noFill/>
          <a:ln/>
        </p:spPr>
        <p:txBody>
          <a:bodyPr wrap="square" lIns="0" tIns="0" rIns="0" bIns="0" rtlCol="0" anchor="ctr">
            <a:normAutofit/>
          </a:bodyPr>
          <a:lstStyle/>
          <a:p>
            <a:pPr indent="0" marL="0">
              <a:buNone/>
            </a:pPr>
            <a:r>
              <a:rPr lang="en-US" sz="1250" dirty="0">
                <a:solidFill>
                  <a:srgbClr val="475569"/>
                </a:solidFill>
                <a:latin typeface="Calibri" pitchFamily="34" charset="0"/>
                <a:ea typeface="Calibri" pitchFamily="34" charset="-122"/>
                <a:cs typeface="Calibri" pitchFamily="34" charset="-120"/>
              </a:rPr>
              <a:t>Khía cạnh tích cực và tiêu cực có thể cùng tồn tại và bù trừ. Đoạn tiêu cực trong review 5 sao mới chỉ là ca nghi vấn.</a:t>
            </a:r>
            <a:endParaRPr lang="en-US" sz="1250" dirty="0"/>
          </a:p>
        </p:txBody>
      </p:sp>
      <p:sp>
        <p:nvSpPr>
          <p:cNvPr id="19" name="Shape 17"/>
          <p:cNvSpPr/>
          <p:nvPr/>
        </p:nvSpPr>
        <p:spPr>
          <a:xfrm>
            <a:off x="6190488" y="3310128"/>
            <a:ext cx="5102352" cy="1627632"/>
          </a:xfrm>
          <a:prstGeom prst="roundRect">
            <a:avLst>
              <a:gd name="adj" fmla="val 4494"/>
            </a:avLst>
          </a:prstGeom>
          <a:solidFill>
            <a:srgbClr val="CCFBF1"/>
          </a:solidFill>
          <a:ln w="12700">
            <a:solidFill>
              <a:srgbClr val="CCFBF1"/>
            </a:solidFill>
            <a:prstDash val="solid"/>
          </a:ln>
        </p:spPr>
      </p:sp>
      <p:sp>
        <p:nvSpPr>
          <p:cNvPr id="20" name="Shape 18"/>
          <p:cNvSpPr/>
          <p:nvPr/>
        </p:nvSpPr>
        <p:spPr>
          <a:xfrm>
            <a:off x="6419088" y="3557016"/>
            <a:ext cx="402336" cy="402336"/>
          </a:xfrm>
          <a:prstGeom prst="ellipse">
            <a:avLst/>
          </a:prstGeom>
          <a:solidFill>
            <a:srgbClr val="0F766E"/>
          </a:solidFill>
          <a:ln w="12700">
            <a:solidFill>
              <a:srgbClr val="0F766E"/>
            </a:solidFill>
            <a:prstDash val="solid"/>
          </a:ln>
        </p:spPr>
      </p:sp>
      <p:sp>
        <p:nvSpPr>
          <p:cNvPr id="21" name="Text 19"/>
          <p:cNvSpPr/>
          <p:nvPr/>
        </p:nvSpPr>
        <p:spPr>
          <a:xfrm>
            <a:off x="6419088" y="3648456"/>
            <a:ext cx="402336"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p:nvPr/>
        </p:nvSpPr>
        <p:spPr>
          <a:xfrm>
            <a:off x="6995160" y="3538728"/>
            <a:ext cx="3977640" cy="320040"/>
          </a:xfrm>
          <a:prstGeom prst="rect">
            <a:avLst/>
          </a:prstGeom>
          <a:noFill/>
          <a:ln/>
        </p:spPr>
        <p:txBody>
          <a:bodyPr wrap="square" lIns="0" tIns="0" rIns="0" bIns="0" rtlCol="0" anchor="ctr"/>
          <a:lstStyle/>
          <a:p>
            <a:pPr indent="0" marL="0">
              <a:buNone/>
            </a:pPr>
            <a:r>
              <a:rPr lang="en-US" sz="1600" b="1" dirty="0">
                <a:solidFill>
                  <a:srgbClr val="172033"/>
                </a:solidFill>
                <a:latin typeface="Calibri" pitchFamily="34" charset="0"/>
                <a:ea typeface="Calibri" pitchFamily="34" charset="-122"/>
                <a:cs typeface="Calibri" pitchFamily="34" charset="-120"/>
              </a:rPr>
              <a:t>Chiều bất nhất quan trọng</a:t>
            </a:r>
            <a:endParaRPr lang="en-US" sz="1600" dirty="0"/>
          </a:p>
        </p:txBody>
      </p:sp>
      <p:sp>
        <p:nvSpPr>
          <p:cNvPr id="23" name="Text 21"/>
          <p:cNvSpPr/>
          <p:nvPr/>
        </p:nvSpPr>
        <p:spPr>
          <a:xfrm>
            <a:off x="6995160" y="3977640"/>
            <a:ext cx="3886200" cy="658368"/>
          </a:xfrm>
          <a:prstGeom prst="rect">
            <a:avLst/>
          </a:prstGeom>
          <a:noFill/>
          <a:ln/>
        </p:spPr>
        <p:txBody>
          <a:bodyPr wrap="square" lIns="0" tIns="0" rIns="0" bIns="0" rtlCol="0" anchor="ctr">
            <a:normAutofit/>
          </a:bodyPr>
          <a:lstStyle/>
          <a:p>
            <a:pPr indent="0" marL="0">
              <a:buNone/>
            </a:pPr>
            <a:r>
              <a:rPr lang="en-US" sz="1250" dirty="0">
                <a:solidFill>
                  <a:srgbClr val="475569"/>
                </a:solidFill>
                <a:latin typeface="Calibri" pitchFamily="34" charset="0"/>
                <a:ea typeface="Calibri" pitchFamily="34" charset="-122"/>
                <a:cs typeface="Calibri" pitchFamily="34" charset="-120"/>
              </a:rPr>
              <a:t>Điểm cao / văn bản tiêu cực và điểm thấp / văn bản tích cực đại diện cho các cơ chế hành vi khác nhau.</a:t>
            </a:r>
            <a:endParaRPr lang="en-US" sz="1250" dirty="0"/>
          </a:p>
        </p:txBody>
      </p:sp>
      <p:sp>
        <p:nvSpPr>
          <p:cNvPr id="24" name="Shape 22"/>
          <p:cNvSpPr/>
          <p:nvPr/>
        </p:nvSpPr>
        <p:spPr>
          <a:xfrm>
            <a:off x="1536192" y="5330952"/>
            <a:ext cx="9125712" cy="576072"/>
          </a:xfrm>
          <a:prstGeom prst="roundRect">
            <a:avLst>
              <a:gd name="adj" fmla="val 12698"/>
            </a:avLst>
          </a:prstGeom>
          <a:solidFill>
            <a:srgbClr val="0B1220"/>
          </a:solidFill>
          <a:ln w="12700">
            <a:solidFill>
              <a:srgbClr val="0B1220"/>
            </a:solidFill>
            <a:prstDash val="solid"/>
          </a:ln>
        </p:spPr>
      </p:sp>
      <p:sp>
        <p:nvSpPr>
          <p:cNvPr id="25" name="Text 23"/>
          <p:cNvSpPr/>
          <p:nvPr/>
        </p:nvSpPr>
        <p:spPr>
          <a:xfrm>
            <a:off x="1792224" y="5486400"/>
            <a:ext cx="8613648" cy="256032"/>
          </a:xfrm>
          <a:prstGeom prst="rect">
            <a:avLst/>
          </a:prstGeom>
          <a:noFill/>
          <a:ln/>
        </p:spPr>
        <p:txBody>
          <a:bodyPr wrap="square" lIns="0" tIns="0" rIns="0" bIns="0" rtlCol="0" anchor="ctr">
            <a:normAutofit/>
          </a:bodyPr>
          <a:lstStyle/>
          <a:p>
            <a:pPr algn="ctr" indent="0" marL="0">
              <a:buNone/>
            </a:pPr>
            <a:r>
              <a:rPr lang="en-US" sz="1450" b="1" dirty="0">
                <a:solidFill>
                  <a:srgbClr val="FFFFFF"/>
                </a:solidFill>
                <a:latin typeface="Calibri" pitchFamily="34" charset="0"/>
                <a:ea typeface="Calibri" pitchFamily="34" charset="-122"/>
                <a:cs typeface="Calibri" pitchFamily="34" charset="-120"/>
              </a:rPr>
              <a:t>Hàm ý: giữ lại ca nghi vấn, rồi đối soát ngữ cảnh — không lọc bỏ trước khi phân tích.</a:t>
            </a:r>
            <a:endParaRPr lang="en-US" sz="1450" dirty="0"/>
          </a:p>
        </p:txBody>
      </p:sp>
      <p:sp>
        <p:nvSpPr>
          <p:cNvPr id="26" name="Text 24"/>
          <p:cNvSpPr/>
          <p:nvPr/>
        </p:nvSpPr>
        <p:spPr>
          <a:xfrm>
            <a:off x="640080" y="6172200"/>
            <a:ext cx="10607040" cy="164592"/>
          </a:xfrm>
          <a:prstGeom prst="rect">
            <a:avLst/>
          </a:prstGeom>
          <a:noFill/>
          <a:ln/>
        </p:spPr>
        <p:txBody>
          <a:bodyPr wrap="square" lIns="0" tIns="0" rIns="0" bIns="0" rtlCol="0" anchor="ctr">
            <a:normAutofit/>
          </a:bodyPr>
          <a:lstStyle/>
          <a:p>
            <a:pPr indent="0" marL="0">
              <a:buNone/>
            </a:pPr>
            <a:r>
              <a:rPr lang="en-US" sz="850" i="1" dirty="0">
                <a:solidFill>
                  <a:srgbClr val="64748B"/>
                </a:solidFill>
                <a:latin typeface="Calibri" pitchFamily="34" charset="0"/>
                <a:ea typeface="Calibri" pitchFamily="34" charset="-122"/>
                <a:cs typeface="Calibri" pitchFamily="34" charset="-120"/>
              </a:rPr>
              <a:t>Bằng chứng: Almansour et al. (2022); Bigne et al. (2023); Kwon et al. (2025); Abaiyan et al. (2026, preprint).</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indent="0" marL="0">
              <a:buNone/>
            </a:pPr>
            <a:r>
              <a:rPr lang="en-US" sz="1000" b="1" spc="120" kern="0" dirty="0">
                <a:solidFill>
                  <a:srgbClr val="0F766E"/>
                </a:solidFill>
                <a:latin typeface="Calibri" pitchFamily="34" charset="0"/>
                <a:ea typeface="Calibri" pitchFamily="34" charset="-122"/>
                <a:cs typeface="Calibri" pitchFamily="34" charset="-120"/>
              </a:rPr>
              <a:t>BỨC TRANH ĐO LƯỜNG</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indent="0" marL="0">
              <a:buNone/>
            </a:pPr>
            <a:r>
              <a:rPr lang="en-US" sz="2900" b="1" dirty="0">
                <a:solidFill>
                  <a:srgbClr val="172033"/>
                </a:solidFill>
                <a:latin typeface="Cambria" pitchFamily="34" charset="0"/>
                <a:ea typeface="Cambria" pitchFamily="34" charset="-122"/>
                <a:cs typeface="Cambria" pitchFamily="34" charset="-120"/>
              </a:rPr>
              <a:t>Kết quả #2: chưa có phép đo công bố nào đáp ứng cả ba yêu cầu</a:t>
            </a:r>
            <a:endParaRPr lang="en-US" sz="2900" dirty="0"/>
          </a:p>
        </p:txBody>
      </p:sp>
      <p:sp>
        <p:nvSpPr>
          <p:cNvPr id="4" name="Shape 2"/>
          <p:cNvSpPr/>
          <p:nvPr/>
        </p:nvSpPr>
        <p:spPr>
          <a:xfrm>
            <a:off x="658368" y="1261872"/>
            <a:ext cx="3218688" cy="566928"/>
          </a:xfrm>
          <a:prstGeom prst="rect">
            <a:avLst/>
          </a:prstGeom>
          <a:solidFill>
            <a:srgbClr val="0B1220"/>
          </a:solidFill>
          <a:ln w="12700">
            <a:solidFill>
              <a:srgbClr val="0B1220"/>
            </a:solidFill>
            <a:prstDash val="solid"/>
          </a:ln>
        </p:spPr>
      </p:sp>
      <p:sp>
        <p:nvSpPr>
          <p:cNvPr id="5" name="Text 3"/>
          <p:cNvSpPr/>
          <p:nvPr/>
        </p:nvSpPr>
        <p:spPr>
          <a:xfrm>
            <a:off x="731520" y="1444752"/>
            <a:ext cx="3072384" cy="182880"/>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Calibri" pitchFamily="34" charset="0"/>
                <a:ea typeface="Calibri" pitchFamily="34" charset="-122"/>
                <a:cs typeface="Calibri" pitchFamily="34" charset="-120"/>
              </a:rPr>
              <a:t>Công thức</a:t>
            </a:r>
            <a:endParaRPr lang="en-US" sz="1250" dirty="0"/>
          </a:p>
        </p:txBody>
      </p:sp>
      <p:sp>
        <p:nvSpPr>
          <p:cNvPr id="6" name="Shape 4"/>
          <p:cNvSpPr/>
          <p:nvPr/>
        </p:nvSpPr>
        <p:spPr>
          <a:xfrm>
            <a:off x="3877056" y="1261872"/>
            <a:ext cx="1874520" cy="566928"/>
          </a:xfrm>
          <a:prstGeom prst="rect">
            <a:avLst/>
          </a:prstGeom>
          <a:solidFill>
            <a:srgbClr val="0B1220"/>
          </a:solidFill>
          <a:ln w="12700">
            <a:solidFill>
              <a:srgbClr val="0B1220"/>
            </a:solidFill>
            <a:prstDash val="solid"/>
          </a:ln>
        </p:spPr>
      </p:sp>
      <p:sp>
        <p:nvSpPr>
          <p:cNvPr id="7" name="Text 5"/>
          <p:cNvSpPr/>
          <p:nvPr/>
        </p:nvSpPr>
        <p:spPr>
          <a:xfrm>
            <a:off x="3950208" y="1444752"/>
            <a:ext cx="1728216" cy="182880"/>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Độ lớn</a:t>
            </a:r>
            <a:endParaRPr lang="en-US" sz="1250" dirty="0"/>
          </a:p>
        </p:txBody>
      </p:sp>
      <p:sp>
        <p:nvSpPr>
          <p:cNvPr id="8" name="Shape 6"/>
          <p:cNvSpPr/>
          <p:nvPr/>
        </p:nvSpPr>
        <p:spPr>
          <a:xfrm>
            <a:off x="5751576" y="1261872"/>
            <a:ext cx="1874520" cy="566928"/>
          </a:xfrm>
          <a:prstGeom prst="rect">
            <a:avLst/>
          </a:prstGeom>
          <a:solidFill>
            <a:srgbClr val="0B1220"/>
          </a:solidFill>
          <a:ln w="12700">
            <a:solidFill>
              <a:srgbClr val="0B1220"/>
            </a:solidFill>
            <a:prstDash val="solid"/>
          </a:ln>
        </p:spPr>
      </p:sp>
      <p:sp>
        <p:nvSpPr>
          <p:cNvPr id="9" name="Text 7"/>
          <p:cNvSpPr/>
          <p:nvPr/>
        </p:nvSpPr>
        <p:spPr>
          <a:xfrm>
            <a:off x="5824728" y="1444752"/>
            <a:ext cx="1728216" cy="182880"/>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Chiều</a:t>
            </a:r>
            <a:endParaRPr lang="en-US" sz="1250" dirty="0"/>
          </a:p>
        </p:txBody>
      </p:sp>
      <p:sp>
        <p:nvSpPr>
          <p:cNvPr id="10" name="Shape 8"/>
          <p:cNvSpPr/>
          <p:nvPr/>
        </p:nvSpPr>
        <p:spPr>
          <a:xfrm>
            <a:off x="7626096" y="1261872"/>
            <a:ext cx="1874520" cy="566928"/>
          </a:xfrm>
          <a:prstGeom prst="rect">
            <a:avLst/>
          </a:prstGeom>
          <a:solidFill>
            <a:srgbClr val="0B1220"/>
          </a:solidFill>
          <a:ln w="12700">
            <a:solidFill>
              <a:srgbClr val="0B1220"/>
            </a:solidFill>
            <a:prstDash val="solid"/>
          </a:ln>
        </p:spPr>
      </p:sp>
      <p:sp>
        <p:nvSpPr>
          <p:cNvPr id="11" name="Text 9"/>
          <p:cNvSpPr/>
          <p:nvPr/>
        </p:nvSpPr>
        <p:spPr>
          <a:xfrm>
            <a:off x="7699248" y="1444752"/>
            <a:ext cx="1728216" cy="182880"/>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Cấp khía cạnh</a:t>
            </a:r>
            <a:endParaRPr lang="en-US" sz="1250" dirty="0"/>
          </a:p>
        </p:txBody>
      </p:sp>
      <p:sp>
        <p:nvSpPr>
          <p:cNvPr id="12" name="Shape 10"/>
          <p:cNvSpPr/>
          <p:nvPr/>
        </p:nvSpPr>
        <p:spPr>
          <a:xfrm>
            <a:off x="9500616" y="1261872"/>
            <a:ext cx="2029968" cy="566928"/>
          </a:xfrm>
          <a:prstGeom prst="rect">
            <a:avLst/>
          </a:prstGeom>
          <a:solidFill>
            <a:srgbClr val="0B1220"/>
          </a:solidFill>
          <a:ln w="12700">
            <a:solidFill>
              <a:srgbClr val="0B1220"/>
            </a:solidFill>
            <a:prstDash val="solid"/>
          </a:ln>
        </p:spPr>
      </p:sp>
      <p:sp>
        <p:nvSpPr>
          <p:cNvPr id="13" name="Text 11"/>
          <p:cNvSpPr/>
          <p:nvPr/>
        </p:nvSpPr>
        <p:spPr>
          <a:xfrm>
            <a:off x="9573768" y="1444752"/>
            <a:ext cx="1883664" cy="182880"/>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Trạng thái</a:t>
            </a:r>
            <a:endParaRPr lang="en-US" sz="1250" dirty="0"/>
          </a:p>
        </p:txBody>
      </p:sp>
      <p:sp>
        <p:nvSpPr>
          <p:cNvPr id="14" name="Shape 12"/>
          <p:cNvSpPr/>
          <p:nvPr/>
        </p:nvSpPr>
        <p:spPr>
          <a:xfrm>
            <a:off x="658368" y="1828800"/>
            <a:ext cx="3218688" cy="758952"/>
          </a:xfrm>
          <a:prstGeom prst="rect">
            <a:avLst/>
          </a:prstGeom>
          <a:solidFill>
            <a:srgbClr val="F1F5F9"/>
          </a:solidFill>
          <a:ln w="10160">
            <a:solidFill>
              <a:srgbClr val="E2E8F0"/>
            </a:solidFill>
            <a:prstDash val="solid"/>
          </a:ln>
        </p:spPr>
      </p:sp>
      <p:sp>
        <p:nvSpPr>
          <p:cNvPr id="15" name="Text 13"/>
          <p:cNvSpPr/>
          <p:nvPr/>
        </p:nvSpPr>
        <p:spPr>
          <a:xfrm>
            <a:off x="740664" y="2057400"/>
            <a:ext cx="3054096" cy="274320"/>
          </a:xfrm>
          <a:prstGeom prst="rect">
            <a:avLst/>
          </a:prstGeom>
          <a:noFill/>
          <a:ln/>
        </p:spPr>
        <p:txBody>
          <a:bodyPr wrap="square" lIns="0" tIns="0" rIns="0" bIns="0" rtlCol="0" anchor="ctr">
            <a:normAutofit/>
          </a:bodyPr>
          <a:lstStyle/>
          <a:p>
            <a:pPr algn="l" indent="0" marL="0">
              <a:buNone/>
            </a:pPr>
            <a:r>
              <a:rPr lang="en-US" sz="1300" dirty="0">
                <a:solidFill>
                  <a:srgbClr val="172033"/>
                </a:solidFill>
                <a:latin typeface="Calibri" pitchFamily="34" charset="0"/>
                <a:ea typeface="Calibri" pitchFamily="34" charset="-122"/>
                <a:cs typeface="Calibri" pitchFamily="34" charset="-120"/>
              </a:rPr>
              <a:t>Lớp phân cực có hướng</a:t>
            </a:r>
            <a:endParaRPr lang="en-US" sz="1300" dirty="0"/>
          </a:p>
        </p:txBody>
      </p:sp>
      <p:sp>
        <p:nvSpPr>
          <p:cNvPr id="16" name="Shape 14"/>
          <p:cNvSpPr/>
          <p:nvPr/>
        </p:nvSpPr>
        <p:spPr>
          <a:xfrm>
            <a:off x="3877056" y="1828800"/>
            <a:ext cx="1874520" cy="758952"/>
          </a:xfrm>
          <a:prstGeom prst="rect">
            <a:avLst/>
          </a:prstGeom>
          <a:solidFill>
            <a:srgbClr val="F1F5F9"/>
          </a:solidFill>
          <a:ln w="10160">
            <a:solidFill>
              <a:srgbClr val="E2E8F0"/>
            </a:solidFill>
            <a:prstDash val="solid"/>
          </a:ln>
        </p:spPr>
      </p:sp>
      <p:sp>
        <p:nvSpPr>
          <p:cNvPr id="17" name="Text 15"/>
          <p:cNvSpPr/>
          <p:nvPr/>
        </p:nvSpPr>
        <p:spPr>
          <a:xfrm>
            <a:off x="3959352" y="2057400"/>
            <a:ext cx="1709928" cy="274320"/>
          </a:xfrm>
          <a:prstGeom prst="rect">
            <a:avLst/>
          </a:prstGeom>
          <a:noFill/>
          <a:ln/>
        </p:spPr>
        <p:txBody>
          <a:bodyPr wrap="square" lIns="0" tIns="0" rIns="0" bIns="0" rtlCol="0" anchor="ctr">
            <a:normAutofit/>
          </a:bodyPr>
          <a:lstStyle/>
          <a:p>
            <a:pPr algn="ctr" indent="0" marL="0">
              <a:buNone/>
            </a:pPr>
            <a:r>
              <a:rPr lang="en-US" sz="1150" dirty="0">
                <a:solidFill>
                  <a:srgbClr val="E11D48"/>
                </a:solidFill>
                <a:latin typeface="Calibri" pitchFamily="34" charset="0"/>
                <a:ea typeface="Calibri" pitchFamily="34" charset="-122"/>
                <a:cs typeface="Calibri" pitchFamily="34" charset="-120"/>
              </a:rPr>
              <a:t>KHÔNG</a:t>
            </a:r>
            <a:endParaRPr lang="en-US" sz="1150" dirty="0"/>
          </a:p>
        </p:txBody>
      </p:sp>
      <p:sp>
        <p:nvSpPr>
          <p:cNvPr id="18" name="Shape 16"/>
          <p:cNvSpPr/>
          <p:nvPr/>
        </p:nvSpPr>
        <p:spPr>
          <a:xfrm>
            <a:off x="5751576" y="1828800"/>
            <a:ext cx="1874520" cy="758952"/>
          </a:xfrm>
          <a:prstGeom prst="rect">
            <a:avLst/>
          </a:prstGeom>
          <a:solidFill>
            <a:srgbClr val="F1F5F9"/>
          </a:solidFill>
          <a:ln w="10160">
            <a:solidFill>
              <a:srgbClr val="E2E8F0"/>
            </a:solidFill>
            <a:prstDash val="solid"/>
          </a:ln>
        </p:spPr>
      </p:sp>
      <p:sp>
        <p:nvSpPr>
          <p:cNvPr id="19" name="Text 17"/>
          <p:cNvSpPr/>
          <p:nvPr/>
        </p:nvSpPr>
        <p:spPr>
          <a:xfrm>
            <a:off x="5833872" y="2057400"/>
            <a:ext cx="1709928" cy="274320"/>
          </a:xfrm>
          <a:prstGeom prst="rect">
            <a:avLst/>
          </a:prstGeom>
          <a:noFill/>
          <a:ln/>
        </p:spPr>
        <p:txBody>
          <a:bodyPr wrap="square" lIns="0" tIns="0" rIns="0" bIns="0" rtlCol="0" anchor="ctr">
            <a:normAutofit/>
          </a:bodyPr>
          <a:lstStyle/>
          <a:p>
            <a:pPr algn="ctr" indent="0" marL="0">
              <a:buNone/>
            </a:pPr>
            <a:r>
              <a:rPr lang="en-US" sz="1150" b="1" dirty="0">
                <a:solidFill>
                  <a:srgbClr val="15803D"/>
                </a:solidFill>
                <a:latin typeface="Calibri" pitchFamily="34" charset="0"/>
                <a:ea typeface="Calibri" pitchFamily="34" charset="-122"/>
                <a:cs typeface="Calibri" pitchFamily="34" charset="-120"/>
              </a:rPr>
              <a:t>CÓ</a:t>
            </a:r>
            <a:endParaRPr lang="en-US" sz="1150" dirty="0"/>
          </a:p>
        </p:txBody>
      </p:sp>
      <p:sp>
        <p:nvSpPr>
          <p:cNvPr id="20" name="Shape 18"/>
          <p:cNvSpPr/>
          <p:nvPr/>
        </p:nvSpPr>
        <p:spPr>
          <a:xfrm>
            <a:off x="7626096" y="1828800"/>
            <a:ext cx="1874520" cy="758952"/>
          </a:xfrm>
          <a:prstGeom prst="rect">
            <a:avLst/>
          </a:prstGeom>
          <a:solidFill>
            <a:srgbClr val="F1F5F9"/>
          </a:solidFill>
          <a:ln w="10160">
            <a:solidFill>
              <a:srgbClr val="E2E8F0"/>
            </a:solidFill>
            <a:prstDash val="solid"/>
          </a:ln>
        </p:spPr>
      </p:sp>
      <p:sp>
        <p:nvSpPr>
          <p:cNvPr id="21" name="Text 19"/>
          <p:cNvSpPr/>
          <p:nvPr/>
        </p:nvSpPr>
        <p:spPr>
          <a:xfrm>
            <a:off x="7708392" y="2057400"/>
            <a:ext cx="1709928" cy="274320"/>
          </a:xfrm>
          <a:prstGeom prst="rect">
            <a:avLst/>
          </a:prstGeom>
          <a:noFill/>
          <a:ln/>
        </p:spPr>
        <p:txBody>
          <a:bodyPr wrap="square" lIns="0" tIns="0" rIns="0" bIns="0" rtlCol="0" anchor="ctr">
            <a:normAutofit/>
          </a:bodyPr>
          <a:lstStyle/>
          <a:p>
            <a:pPr algn="ctr" indent="0" marL="0">
              <a:buNone/>
            </a:pPr>
            <a:r>
              <a:rPr lang="en-US" sz="1150" dirty="0">
                <a:solidFill>
                  <a:srgbClr val="E11D48"/>
                </a:solidFill>
                <a:latin typeface="Calibri" pitchFamily="34" charset="0"/>
                <a:ea typeface="Calibri" pitchFamily="34" charset="-122"/>
                <a:cs typeface="Calibri" pitchFamily="34" charset="-120"/>
              </a:rPr>
              <a:t>KHÔNG</a:t>
            </a:r>
            <a:endParaRPr lang="en-US" sz="1150" dirty="0"/>
          </a:p>
        </p:txBody>
      </p:sp>
      <p:sp>
        <p:nvSpPr>
          <p:cNvPr id="22" name="Shape 20"/>
          <p:cNvSpPr/>
          <p:nvPr/>
        </p:nvSpPr>
        <p:spPr>
          <a:xfrm>
            <a:off x="9500616" y="1828800"/>
            <a:ext cx="2029968" cy="758952"/>
          </a:xfrm>
          <a:prstGeom prst="rect">
            <a:avLst/>
          </a:prstGeom>
          <a:solidFill>
            <a:srgbClr val="F1F5F9"/>
          </a:solidFill>
          <a:ln w="10160">
            <a:solidFill>
              <a:srgbClr val="E2E8F0"/>
            </a:solidFill>
            <a:prstDash val="solid"/>
          </a:ln>
        </p:spPr>
      </p:sp>
      <p:sp>
        <p:nvSpPr>
          <p:cNvPr id="23" name="Text 21"/>
          <p:cNvSpPr/>
          <p:nvPr/>
        </p:nvSpPr>
        <p:spPr>
          <a:xfrm>
            <a:off x="9582912" y="2057400"/>
            <a:ext cx="1865376" cy="274320"/>
          </a:xfrm>
          <a:prstGeom prst="rect">
            <a:avLst/>
          </a:prstGeom>
          <a:noFill/>
          <a:ln/>
        </p:spPr>
        <p:txBody>
          <a:bodyPr wrap="square" lIns="0" tIns="0" rIns="0" bIns="0" rtlCol="0" anchor="ctr">
            <a:normAutofit/>
          </a:bodyPr>
          <a:lstStyle/>
          <a:p>
            <a:pPr algn="ctr" indent="0" marL="0">
              <a:buNone/>
            </a:pPr>
            <a:r>
              <a:rPr lang="en-US" sz="1150" dirty="0">
                <a:solidFill>
                  <a:srgbClr val="172033"/>
                </a:solidFill>
                <a:latin typeface="Calibri" pitchFamily="34" charset="0"/>
                <a:ea typeface="Calibri" pitchFamily="34" charset="-122"/>
                <a:cs typeface="Calibri" pitchFamily="34" charset="-120"/>
              </a:rPr>
              <a:t>Đã công bố</a:t>
            </a:r>
            <a:endParaRPr lang="en-US" sz="1150" dirty="0"/>
          </a:p>
        </p:txBody>
      </p:sp>
      <p:sp>
        <p:nvSpPr>
          <p:cNvPr id="24" name="Shape 22"/>
          <p:cNvSpPr/>
          <p:nvPr/>
        </p:nvSpPr>
        <p:spPr>
          <a:xfrm>
            <a:off x="658368" y="2587752"/>
            <a:ext cx="3218688" cy="758952"/>
          </a:xfrm>
          <a:prstGeom prst="rect">
            <a:avLst/>
          </a:prstGeom>
          <a:solidFill>
            <a:srgbClr val="FFFFFF"/>
          </a:solidFill>
          <a:ln w="10160">
            <a:solidFill>
              <a:srgbClr val="E2E8F0"/>
            </a:solidFill>
            <a:prstDash val="solid"/>
          </a:ln>
        </p:spPr>
      </p:sp>
      <p:sp>
        <p:nvSpPr>
          <p:cNvPr id="25" name="Text 23"/>
          <p:cNvSpPr/>
          <p:nvPr/>
        </p:nvSpPr>
        <p:spPr>
          <a:xfrm>
            <a:off x="740664" y="2816352"/>
            <a:ext cx="3054096" cy="274320"/>
          </a:xfrm>
          <a:prstGeom prst="rect">
            <a:avLst/>
          </a:prstGeom>
          <a:noFill/>
          <a:ln/>
        </p:spPr>
        <p:txBody>
          <a:bodyPr wrap="square" lIns="0" tIns="0" rIns="0" bIns="0" rtlCol="0" anchor="ctr">
            <a:normAutofit/>
          </a:bodyPr>
          <a:lstStyle/>
          <a:p>
            <a:pPr algn="l" indent="0" marL="0">
              <a:buNone/>
            </a:pPr>
            <a:r>
              <a:rPr lang="en-US" sz="1300" dirty="0">
                <a:solidFill>
                  <a:srgbClr val="172033"/>
                </a:solidFill>
                <a:latin typeface="Calibri" pitchFamily="34" charset="0"/>
                <a:ea typeface="Calibri" pitchFamily="34" charset="-122"/>
                <a:cs typeface="Calibri" pitchFamily="34" charset="-120"/>
              </a:rPr>
              <a:t>|z(rating) − z(sentiment)|</a:t>
            </a:r>
            <a:endParaRPr lang="en-US" sz="1300" dirty="0"/>
          </a:p>
        </p:txBody>
      </p:sp>
      <p:sp>
        <p:nvSpPr>
          <p:cNvPr id="26" name="Shape 24"/>
          <p:cNvSpPr/>
          <p:nvPr/>
        </p:nvSpPr>
        <p:spPr>
          <a:xfrm>
            <a:off x="3877056" y="2587752"/>
            <a:ext cx="1874520" cy="758952"/>
          </a:xfrm>
          <a:prstGeom prst="rect">
            <a:avLst/>
          </a:prstGeom>
          <a:solidFill>
            <a:srgbClr val="FFFFFF"/>
          </a:solidFill>
          <a:ln w="10160">
            <a:solidFill>
              <a:srgbClr val="E2E8F0"/>
            </a:solidFill>
            <a:prstDash val="solid"/>
          </a:ln>
        </p:spPr>
      </p:sp>
      <p:sp>
        <p:nvSpPr>
          <p:cNvPr id="27" name="Text 25"/>
          <p:cNvSpPr/>
          <p:nvPr/>
        </p:nvSpPr>
        <p:spPr>
          <a:xfrm>
            <a:off x="3959352" y="2816352"/>
            <a:ext cx="1709928" cy="274320"/>
          </a:xfrm>
          <a:prstGeom prst="rect">
            <a:avLst/>
          </a:prstGeom>
          <a:noFill/>
          <a:ln/>
        </p:spPr>
        <p:txBody>
          <a:bodyPr wrap="square" lIns="0" tIns="0" rIns="0" bIns="0" rtlCol="0" anchor="ctr">
            <a:normAutofit/>
          </a:bodyPr>
          <a:lstStyle/>
          <a:p>
            <a:pPr algn="ctr" indent="0" marL="0">
              <a:buNone/>
            </a:pPr>
            <a:r>
              <a:rPr lang="en-US" sz="1150" b="1" dirty="0">
                <a:solidFill>
                  <a:srgbClr val="15803D"/>
                </a:solidFill>
                <a:latin typeface="Calibri" pitchFamily="34" charset="0"/>
                <a:ea typeface="Calibri" pitchFamily="34" charset="-122"/>
                <a:cs typeface="Calibri" pitchFamily="34" charset="-120"/>
              </a:rPr>
              <a:t>CÓ</a:t>
            </a:r>
            <a:endParaRPr lang="en-US" sz="1150" dirty="0"/>
          </a:p>
        </p:txBody>
      </p:sp>
      <p:sp>
        <p:nvSpPr>
          <p:cNvPr id="28" name="Shape 26"/>
          <p:cNvSpPr/>
          <p:nvPr/>
        </p:nvSpPr>
        <p:spPr>
          <a:xfrm>
            <a:off x="5751576" y="2587752"/>
            <a:ext cx="1874520" cy="758952"/>
          </a:xfrm>
          <a:prstGeom prst="rect">
            <a:avLst/>
          </a:prstGeom>
          <a:solidFill>
            <a:srgbClr val="FFFFFF"/>
          </a:solidFill>
          <a:ln w="10160">
            <a:solidFill>
              <a:srgbClr val="E2E8F0"/>
            </a:solidFill>
            <a:prstDash val="solid"/>
          </a:ln>
        </p:spPr>
      </p:sp>
      <p:sp>
        <p:nvSpPr>
          <p:cNvPr id="29" name="Text 27"/>
          <p:cNvSpPr/>
          <p:nvPr/>
        </p:nvSpPr>
        <p:spPr>
          <a:xfrm>
            <a:off x="5833872" y="2816352"/>
            <a:ext cx="1709928" cy="274320"/>
          </a:xfrm>
          <a:prstGeom prst="rect">
            <a:avLst/>
          </a:prstGeom>
          <a:noFill/>
          <a:ln/>
        </p:spPr>
        <p:txBody>
          <a:bodyPr wrap="square" lIns="0" tIns="0" rIns="0" bIns="0" rtlCol="0" anchor="ctr">
            <a:normAutofit/>
          </a:bodyPr>
          <a:lstStyle/>
          <a:p>
            <a:pPr algn="ctr" indent="0" marL="0">
              <a:buNone/>
            </a:pPr>
            <a:r>
              <a:rPr lang="en-US" sz="1150" dirty="0">
                <a:solidFill>
                  <a:srgbClr val="172033"/>
                </a:solidFill>
                <a:latin typeface="Calibri" pitchFamily="34" charset="0"/>
                <a:ea typeface="Calibri" pitchFamily="34" charset="-122"/>
                <a:cs typeface="Calibri" pitchFamily="34" charset="-120"/>
              </a:rPr>
              <a:t>TÁCH RIÊNG</a:t>
            </a:r>
            <a:endParaRPr lang="en-US" sz="1150" dirty="0"/>
          </a:p>
        </p:txBody>
      </p:sp>
      <p:sp>
        <p:nvSpPr>
          <p:cNvPr id="30" name="Shape 28"/>
          <p:cNvSpPr/>
          <p:nvPr/>
        </p:nvSpPr>
        <p:spPr>
          <a:xfrm>
            <a:off x="7626096" y="2587752"/>
            <a:ext cx="1874520" cy="758952"/>
          </a:xfrm>
          <a:prstGeom prst="rect">
            <a:avLst/>
          </a:prstGeom>
          <a:solidFill>
            <a:srgbClr val="FFFFFF"/>
          </a:solidFill>
          <a:ln w="10160">
            <a:solidFill>
              <a:srgbClr val="E2E8F0"/>
            </a:solidFill>
            <a:prstDash val="solid"/>
          </a:ln>
        </p:spPr>
      </p:sp>
      <p:sp>
        <p:nvSpPr>
          <p:cNvPr id="31" name="Text 29"/>
          <p:cNvSpPr/>
          <p:nvPr/>
        </p:nvSpPr>
        <p:spPr>
          <a:xfrm>
            <a:off x="7708392" y="2816352"/>
            <a:ext cx="1709928" cy="274320"/>
          </a:xfrm>
          <a:prstGeom prst="rect">
            <a:avLst/>
          </a:prstGeom>
          <a:noFill/>
          <a:ln/>
        </p:spPr>
        <p:txBody>
          <a:bodyPr wrap="square" lIns="0" tIns="0" rIns="0" bIns="0" rtlCol="0" anchor="ctr">
            <a:normAutofit/>
          </a:bodyPr>
          <a:lstStyle/>
          <a:p>
            <a:pPr algn="ctr" indent="0" marL="0">
              <a:buNone/>
            </a:pPr>
            <a:r>
              <a:rPr lang="en-US" sz="1150" dirty="0">
                <a:solidFill>
                  <a:srgbClr val="E11D48"/>
                </a:solidFill>
                <a:latin typeface="Calibri" pitchFamily="34" charset="0"/>
                <a:ea typeface="Calibri" pitchFamily="34" charset="-122"/>
                <a:cs typeface="Calibri" pitchFamily="34" charset="-120"/>
              </a:rPr>
              <a:t>KHÔNG</a:t>
            </a:r>
            <a:endParaRPr lang="en-US" sz="1150" dirty="0"/>
          </a:p>
        </p:txBody>
      </p:sp>
      <p:sp>
        <p:nvSpPr>
          <p:cNvPr id="32" name="Shape 30"/>
          <p:cNvSpPr/>
          <p:nvPr/>
        </p:nvSpPr>
        <p:spPr>
          <a:xfrm>
            <a:off x="9500616" y="2587752"/>
            <a:ext cx="2029968" cy="758952"/>
          </a:xfrm>
          <a:prstGeom prst="rect">
            <a:avLst/>
          </a:prstGeom>
          <a:solidFill>
            <a:srgbClr val="FFFFFF"/>
          </a:solidFill>
          <a:ln w="10160">
            <a:solidFill>
              <a:srgbClr val="E2E8F0"/>
            </a:solidFill>
            <a:prstDash val="solid"/>
          </a:ln>
        </p:spPr>
      </p:sp>
      <p:sp>
        <p:nvSpPr>
          <p:cNvPr id="33" name="Text 31"/>
          <p:cNvSpPr/>
          <p:nvPr/>
        </p:nvSpPr>
        <p:spPr>
          <a:xfrm>
            <a:off x="9582912" y="2816352"/>
            <a:ext cx="1865376" cy="274320"/>
          </a:xfrm>
          <a:prstGeom prst="rect">
            <a:avLst/>
          </a:prstGeom>
          <a:noFill/>
          <a:ln/>
        </p:spPr>
        <p:txBody>
          <a:bodyPr wrap="square" lIns="0" tIns="0" rIns="0" bIns="0" rtlCol="0" anchor="ctr">
            <a:normAutofit/>
          </a:bodyPr>
          <a:lstStyle/>
          <a:p>
            <a:pPr algn="ctr" indent="0" marL="0">
              <a:buNone/>
            </a:pPr>
            <a:r>
              <a:rPr lang="en-US" sz="1150" dirty="0">
                <a:solidFill>
                  <a:srgbClr val="172033"/>
                </a:solidFill>
                <a:latin typeface="Calibri" pitchFamily="34" charset="0"/>
                <a:ea typeface="Calibri" pitchFamily="34" charset="-122"/>
                <a:cs typeface="Calibri" pitchFamily="34" charset="-120"/>
              </a:rPr>
              <a:t>Đã công bố</a:t>
            </a:r>
            <a:endParaRPr lang="en-US" sz="1150" dirty="0"/>
          </a:p>
        </p:txBody>
      </p:sp>
      <p:sp>
        <p:nvSpPr>
          <p:cNvPr id="34" name="Shape 32"/>
          <p:cNvSpPr/>
          <p:nvPr/>
        </p:nvSpPr>
        <p:spPr>
          <a:xfrm>
            <a:off x="658368" y="3346704"/>
            <a:ext cx="3218688" cy="758952"/>
          </a:xfrm>
          <a:prstGeom prst="rect">
            <a:avLst/>
          </a:prstGeom>
          <a:solidFill>
            <a:srgbClr val="F1F5F9"/>
          </a:solidFill>
          <a:ln w="10160">
            <a:solidFill>
              <a:srgbClr val="E2E8F0"/>
            </a:solidFill>
            <a:prstDash val="solid"/>
          </a:ln>
        </p:spPr>
      </p:sp>
      <p:sp>
        <p:nvSpPr>
          <p:cNvPr id="35" name="Text 33"/>
          <p:cNvSpPr/>
          <p:nvPr/>
        </p:nvSpPr>
        <p:spPr>
          <a:xfrm>
            <a:off x="740664" y="3575304"/>
            <a:ext cx="3054096" cy="274320"/>
          </a:xfrm>
          <a:prstGeom prst="rect">
            <a:avLst/>
          </a:prstGeom>
          <a:noFill/>
          <a:ln/>
        </p:spPr>
        <p:txBody>
          <a:bodyPr wrap="square" lIns="0" tIns="0" rIns="0" bIns="0" rtlCol="0" anchor="ctr">
            <a:normAutofit/>
          </a:bodyPr>
          <a:lstStyle/>
          <a:p>
            <a:pPr algn="l" indent="0" marL="0">
              <a:buNone/>
            </a:pPr>
            <a:r>
              <a:rPr lang="en-US" sz="1300" dirty="0">
                <a:solidFill>
                  <a:srgbClr val="172033"/>
                </a:solidFill>
                <a:latin typeface="Calibri" pitchFamily="34" charset="0"/>
                <a:ea typeface="Calibri" pitchFamily="34" charset="-122"/>
                <a:cs typeface="Calibri" pitchFamily="34" charset="-120"/>
              </a:rPr>
              <a:t>|Rnorm − Sa|</a:t>
            </a:r>
            <a:endParaRPr lang="en-US" sz="1300" dirty="0"/>
          </a:p>
        </p:txBody>
      </p:sp>
      <p:sp>
        <p:nvSpPr>
          <p:cNvPr id="36" name="Shape 34"/>
          <p:cNvSpPr/>
          <p:nvPr/>
        </p:nvSpPr>
        <p:spPr>
          <a:xfrm>
            <a:off x="3877056" y="3346704"/>
            <a:ext cx="1874520" cy="758952"/>
          </a:xfrm>
          <a:prstGeom prst="rect">
            <a:avLst/>
          </a:prstGeom>
          <a:solidFill>
            <a:srgbClr val="F1F5F9"/>
          </a:solidFill>
          <a:ln w="10160">
            <a:solidFill>
              <a:srgbClr val="E2E8F0"/>
            </a:solidFill>
            <a:prstDash val="solid"/>
          </a:ln>
        </p:spPr>
      </p:sp>
      <p:sp>
        <p:nvSpPr>
          <p:cNvPr id="37" name="Text 35"/>
          <p:cNvSpPr/>
          <p:nvPr/>
        </p:nvSpPr>
        <p:spPr>
          <a:xfrm>
            <a:off x="3959352" y="3575304"/>
            <a:ext cx="1709928" cy="274320"/>
          </a:xfrm>
          <a:prstGeom prst="rect">
            <a:avLst/>
          </a:prstGeom>
          <a:noFill/>
          <a:ln/>
        </p:spPr>
        <p:txBody>
          <a:bodyPr wrap="square" lIns="0" tIns="0" rIns="0" bIns="0" rtlCol="0" anchor="ctr">
            <a:normAutofit/>
          </a:bodyPr>
          <a:lstStyle/>
          <a:p>
            <a:pPr algn="ctr" indent="0" marL="0">
              <a:buNone/>
            </a:pPr>
            <a:r>
              <a:rPr lang="en-US" sz="1150" b="1" dirty="0">
                <a:solidFill>
                  <a:srgbClr val="15803D"/>
                </a:solidFill>
                <a:latin typeface="Calibri" pitchFamily="34" charset="0"/>
                <a:ea typeface="Calibri" pitchFamily="34" charset="-122"/>
                <a:cs typeface="Calibri" pitchFamily="34" charset="-120"/>
              </a:rPr>
              <a:t>CÓ</a:t>
            </a:r>
            <a:endParaRPr lang="en-US" sz="1150" dirty="0"/>
          </a:p>
        </p:txBody>
      </p:sp>
      <p:sp>
        <p:nvSpPr>
          <p:cNvPr id="38" name="Shape 36"/>
          <p:cNvSpPr/>
          <p:nvPr/>
        </p:nvSpPr>
        <p:spPr>
          <a:xfrm>
            <a:off x="5751576" y="3346704"/>
            <a:ext cx="1874520" cy="758952"/>
          </a:xfrm>
          <a:prstGeom prst="rect">
            <a:avLst/>
          </a:prstGeom>
          <a:solidFill>
            <a:srgbClr val="F1F5F9"/>
          </a:solidFill>
          <a:ln w="10160">
            <a:solidFill>
              <a:srgbClr val="E2E8F0"/>
            </a:solidFill>
            <a:prstDash val="solid"/>
          </a:ln>
        </p:spPr>
      </p:sp>
      <p:sp>
        <p:nvSpPr>
          <p:cNvPr id="39" name="Text 37"/>
          <p:cNvSpPr/>
          <p:nvPr/>
        </p:nvSpPr>
        <p:spPr>
          <a:xfrm>
            <a:off x="5833872" y="3575304"/>
            <a:ext cx="1709928" cy="274320"/>
          </a:xfrm>
          <a:prstGeom prst="rect">
            <a:avLst/>
          </a:prstGeom>
          <a:noFill/>
          <a:ln/>
        </p:spPr>
        <p:txBody>
          <a:bodyPr wrap="square" lIns="0" tIns="0" rIns="0" bIns="0" rtlCol="0" anchor="ctr">
            <a:normAutofit/>
          </a:bodyPr>
          <a:lstStyle/>
          <a:p>
            <a:pPr algn="ctr" indent="0" marL="0">
              <a:buNone/>
            </a:pPr>
            <a:r>
              <a:rPr lang="en-US" sz="1150" dirty="0">
                <a:solidFill>
                  <a:srgbClr val="E11D48"/>
                </a:solidFill>
                <a:latin typeface="Calibri" pitchFamily="34" charset="0"/>
                <a:ea typeface="Calibri" pitchFamily="34" charset="-122"/>
                <a:cs typeface="Calibri" pitchFamily="34" charset="-120"/>
              </a:rPr>
              <a:t>KHÔNG</a:t>
            </a:r>
            <a:endParaRPr lang="en-US" sz="1150" dirty="0"/>
          </a:p>
        </p:txBody>
      </p:sp>
      <p:sp>
        <p:nvSpPr>
          <p:cNvPr id="40" name="Shape 38"/>
          <p:cNvSpPr/>
          <p:nvPr/>
        </p:nvSpPr>
        <p:spPr>
          <a:xfrm>
            <a:off x="7626096" y="3346704"/>
            <a:ext cx="1874520" cy="758952"/>
          </a:xfrm>
          <a:prstGeom prst="rect">
            <a:avLst/>
          </a:prstGeom>
          <a:solidFill>
            <a:srgbClr val="F1F5F9"/>
          </a:solidFill>
          <a:ln w="10160">
            <a:solidFill>
              <a:srgbClr val="E2E8F0"/>
            </a:solidFill>
            <a:prstDash val="solid"/>
          </a:ln>
        </p:spPr>
      </p:sp>
      <p:sp>
        <p:nvSpPr>
          <p:cNvPr id="41" name="Text 39"/>
          <p:cNvSpPr/>
          <p:nvPr/>
        </p:nvSpPr>
        <p:spPr>
          <a:xfrm>
            <a:off x="7708392" y="3575304"/>
            <a:ext cx="1709928" cy="274320"/>
          </a:xfrm>
          <a:prstGeom prst="rect">
            <a:avLst/>
          </a:prstGeom>
          <a:noFill/>
          <a:ln/>
        </p:spPr>
        <p:txBody>
          <a:bodyPr wrap="square" lIns="0" tIns="0" rIns="0" bIns="0" rtlCol="0" anchor="ctr">
            <a:normAutofit/>
          </a:bodyPr>
          <a:lstStyle/>
          <a:p>
            <a:pPr algn="ctr" indent="0" marL="0">
              <a:buNone/>
            </a:pPr>
            <a:r>
              <a:rPr lang="en-US" sz="1150" b="1" dirty="0">
                <a:solidFill>
                  <a:srgbClr val="15803D"/>
                </a:solidFill>
                <a:latin typeface="Calibri" pitchFamily="34" charset="0"/>
                <a:ea typeface="Calibri" pitchFamily="34" charset="-122"/>
                <a:cs typeface="Calibri" pitchFamily="34" charset="-120"/>
              </a:rPr>
              <a:t>CÓ</a:t>
            </a:r>
            <a:endParaRPr lang="en-US" sz="1150" dirty="0"/>
          </a:p>
        </p:txBody>
      </p:sp>
      <p:sp>
        <p:nvSpPr>
          <p:cNvPr id="42" name="Shape 40"/>
          <p:cNvSpPr/>
          <p:nvPr/>
        </p:nvSpPr>
        <p:spPr>
          <a:xfrm>
            <a:off x="9500616" y="3346704"/>
            <a:ext cx="2029968" cy="758952"/>
          </a:xfrm>
          <a:prstGeom prst="rect">
            <a:avLst/>
          </a:prstGeom>
          <a:solidFill>
            <a:srgbClr val="F1F5F9"/>
          </a:solidFill>
          <a:ln w="10160">
            <a:solidFill>
              <a:srgbClr val="E2E8F0"/>
            </a:solidFill>
            <a:prstDash val="solid"/>
          </a:ln>
        </p:spPr>
      </p:sp>
      <p:sp>
        <p:nvSpPr>
          <p:cNvPr id="43" name="Text 41"/>
          <p:cNvSpPr/>
          <p:nvPr/>
        </p:nvSpPr>
        <p:spPr>
          <a:xfrm>
            <a:off x="9582912" y="3575304"/>
            <a:ext cx="1865376" cy="274320"/>
          </a:xfrm>
          <a:prstGeom prst="rect">
            <a:avLst/>
          </a:prstGeom>
          <a:noFill/>
          <a:ln/>
        </p:spPr>
        <p:txBody>
          <a:bodyPr wrap="square" lIns="0" tIns="0" rIns="0" bIns="0" rtlCol="0" anchor="ctr">
            <a:normAutofit/>
          </a:bodyPr>
          <a:lstStyle/>
          <a:p>
            <a:pPr algn="ctr" indent="0" marL="0">
              <a:buNone/>
            </a:pPr>
            <a:r>
              <a:rPr lang="en-US" sz="1150" dirty="0">
                <a:solidFill>
                  <a:srgbClr val="172033"/>
                </a:solidFill>
                <a:latin typeface="Calibri" pitchFamily="34" charset="0"/>
                <a:ea typeface="Calibri" pitchFamily="34" charset="-122"/>
                <a:cs typeface="Calibri" pitchFamily="34" charset="-120"/>
              </a:rPr>
              <a:t>Preprint</a:t>
            </a:r>
            <a:endParaRPr lang="en-US" sz="1150" dirty="0"/>
          </a:p>
        </p:txBody>
      </p:sp>
      <p:sp>
        <p:nvSpPr>
          <p:cNvPr id="44" name="Shape 42"/>
          <p:cNvSpPr/>
          <p:nvPr/>
        </p:nvSpPr>
        <p:spPr>
          <a:xfrm>
            <a:off x="658368" y="4105656"/>
            <a:ext cx="3218688" cy="758952"/>
          </a:xfrm>
          <a:prstGeom prst="rect">
            <a:avLst/>
          </a:prstGeom>
          <a:solidFill>
            <a:srgbClr val="CCFBF1"/>
          </a:solidFill>
          <a:ln w="10160">
            <a:solidFill>
              <a:srgbClr val="E2E8F0"/>
            </a:solidFill>
            <a:prstDash val="solid"/>
          </a:ln>
        </p:spPr>
      </p:sp>
      <p:sp>
        <p:nvSpPr>
          <p:cNvPr id="45" name="Text 43"/>
          <p:cNvSpPr/>
          <p:nvPr/>
        </p:nvSpPr>
        <p:spPr>
          <a:xfrm>
            <a:off x="740664" y="4334256"/>
            <a:ext cx="3054096" cy="274320"/>
          </a:xfrm>
          <a:prstGeom prst="rect">
            <a:avLst/>
          </a:prstGeom>
          <a:noFill/>
          <a:ln/>
        </p:spPr>
        <p:txBody>
          <a:bodyPr wrap="square" lIns="0" tIns="0" rIns="0" bIns="0" rtlCol="0" anchor="ctr">
            <a:normAutofit/>
          </a:bodyPr>
          <a:lstStyle/>
          <a:p>
            <a:pPr algn="l" indent="0" marL="0">
              <a:buNone/>
            </a:pPr>
            <a:r>
              <a:rPr lang="en-US" sz="1300" b="1" dirty="0">
                <a:solidFill>
                  <a:srgbClr val="0F766E"/>
                </a:solidFill>
                <a:latin typeface="Cambria" pitchFamily="34" charset="0"/>
                <a:ea typeface="Cambria" pitchFamily="34" charset="-122"/>
                <a:cs typeface="Cambria" pitchFamily="34" charset="-120"/>
              </a:rPr>
              <a:t>r* − sa*  (phép đo ứng viên)</a:t>
            </a:r>
            <a:endParaRPr lang="en-US" sz="1300" dirty="0"/>
          </a:p>
        </p:txBody>
      </p:sp>
      <p:sp>
        <p:nvSpPr>
          <p:cNvPr id="46" name="Shape 44"/>
          <p:cNvSpPr/>
          <p:nvPr/>
        </p:nvSpPr>
        <p:spPr>
          <a:xfrm>
            <a:off x="3877056" y="4105656"/>
            <a:ext cx="1874520" cy="758952"/>
          </a:xfrm>
          <a:prstGeom prst="rect">
            <a:avLst/>
          </a:prstGeom>
          <a:solidFill>
            <a:srgbClr val="CCFBF1"/>
          </a:solidFill>
          <a:ln w="10160">
            <a:solidFill>
              <a:srgbClr val="E2E8F0"/>
            </a:solidFill>
            <a:prstDash val="solid"/>
          </a:ln>
        </p:spPr>
      </p:sp>
      <p:sp>
        <p:nvSpPr>
          <p:cNvPr id="47" name="Text 45"/>
          <p:cNvSpPr/>
          <p:nvPr/>
        </p:nvSpPr>
        <p:spPr>
          <a:xfrm>
            <a:off x="3959352" y="4334256"/>
            <a:ext cx="1709928" cy="274320"/>
          </a:xfrm>
          <a:prstGeom prst="rect">
            <a:avLst/>
          </a:prstGeom>
          <a:noFill/>
          <a:ln/>
        </p:spPr>
        <p:txBody>
          <a:bodyPr wrap="square" lIns="0" tIns="0" rIns="0" bIns="0" rtlCol="0" anchor="ctr">
            <a:normAutofit/>
          </a:bodyPr>
          <a:lstStyle/>
          <a:p>
            <a:pPr algn="ctr" indent="0" marL="0">
              <a:buNone/>
            </a:pPr>
            <a:r>
              <a:rPr lang="en-US" sz="1150" b="1" dirty="0">
                <a:solidFill>
                  <a:srgbClr val="15803D"/>
                </a:solidFill>
                <a:latin typeface="Calibri" pitchFamily="34" charset="0"/>
                <a:ea typeface="Calibri" pitchFamily="34" charset="-122"/>
                <a:cs typeface="Calibri" pitchFamily="34" charset="-120"/>
              </a:rPr>
              <a:t>CÓ</a:t>
            </a:r>
            <a:endParaRPr lang="en-US" sz="1150" dirty="0"/>
          </a:p>
        </p:txBody>
      </p:sp>
      <p:sp>
        <p:nvSpPr>
          <p:cNvPr id="48" name="Shape 46"/>
          <p:cNvSpPr/>
          <p:nvPr/>
        </p:nvSpPr>
        <p:spPr>
          <a:xfrm>
            <a:off x="5751576" y="4105656"/>
            <a:ext cx="1874520" cy="758952"/>
          </a:xfrm>
          <a:prstGeom prst="rect">
            <a:avLst/>
          </a:prstGeom>
          <a:solidFill>
            <a:srgbClr val="CCFBF1"/>
          </a:solidFill>
          <a:ln w="10160">
            <a:solidFill>
              <a:srgbClr val="E2E8F0"/>
            </a:solidFill>
            <a:prstDash val="solid"/>
          </a:ln>
        </p:spPr>
      </p:sp>
      <p:sp>
        <p:nvSpPr>
          <p:cNvPr id="49" name="Text 47"/>
          <p:cNvSpPr/>
          <p:nvPr/>
        </p:nvSpPr>
        <p:spPr>
          <a:xfrm>
            <a:off x="5833872" y="4334256"/>
            <a:ext cx="1709928" cy="274320"/>
          </a:xfrm>
          <a:prstGeom prst="rect">
            <a:avLst/>
          </a:prstGeom>
          <a:noFill/>
          <a:ln/>
        </p:spPr>
        <p:txBody>
          <a:bodyPr wrap="square" lIns="0" tIns="0" rIns="0" bIns="0" rtlCol="0" anchor="ctr">
            <a:normAutofit/>
          </a:bodyPr>
          <a:lstStyle/>
          <a:p>
            <a:pPr algn="ctr" indent="0" marL="0">
              <a:buNone/>
            </a:pPr>
            <a:r>
              <a:rPr lang="en-US" sz="1150" b="1" dirty="0">
                <a:solidFill>
                  <a:srgbClr val="15803D"/>
                </a:solidFill>
                <a:latin typeface="Calibri" pitchFamily="34" charset="0"/>
                <a:ea typeface="Calibri" pitchFamily="34" charset="-122"/>
                <a:cs typeface="Calibri" pitchFamily="34" charset="-120"/>
              </a:rPr>
              <a:t>CÓ</a:t>
            </a:r>
            <a:endParaRPr lang="en-US" sz="1150" dirty="0"/>
          </a:p>
        </p:txBody>
      </p:sp>
      <p:sp>
        <p:nvSpPr>
          <p:cNvPr id="50" name="Shape 48"/>
          <p:cNvSpPr/>
          <p:nvPr/>
        </p:nvSpPr>
        <p:spPr>
          <a:xfrm>
            <a:off x="7626096" y="4105656"/>
            <a:ext cx="1874520" cy="758952"/>
          </a:xfrm>
          <a:prstGeom prst="rect">
            <a:avLst/>
          </a:prstGeom>
          <a:solidFill>
            <a:srgbClr val="CCFBF1"/>
          </a:solidFill>
          <a:ln w="10160">
            <a:solidFill>
              <a:srgbClr val="E2E8F0"/>
            </a:solidFill>
            <a:prstDash val="solid"/>
          </a:ln>
        </p:spPr>
      </p:sp>
      <p:sp>
        <p:nvSpPr>
          <p:cNvPr id="51" name="Text 49"/>
          <p:cNvSpPr/>
          <p:nvPr/>
        </p:nvSpPr>
        <p:spPr>
          <a:xfrm>
            <a:off x="7708392" y="4334256"/>
            <a:ext cx="1709928" cy="274320"/>
          </a:xfrm>
          <a:prstGeom prst="rect">
            <a:avLst/>
          </a:prstGeom>
          <a:noFill/>
          <a:ln/>
        </p:spPr>
        <p:txBody>
          <a:bodyPr wrap="square" lIns="0" tIns="0" rIns="0" bIns="0" rtlCol="0" anchor="ctr">
            <a:normAutofit/>
          </a:bodyPr>
          <a:lstStyle/>
          <a:p>
            <a:pPr algn="ctr" indent="0" marL="0">
              <a:buNone/>
            </a:pPr>
            <a:r>
              <a:rPr lang="en-US" sz="1150" b="1" dirty="0">
                <a:solidFill>
                  <a:srgbClr val="15803D"/>
                </a:solidFill>
                <a:latin typeface="Calibri" pitchFamily="34" charset="0"/>
                <a:ea typeface="Calibri" pitchFamily="34" charset="-122"/>
                <a:cs typeface="Calibri" pitchFamily="34" charset="-120"/>
              </a:rPr>
              <a:t>CÓ</a:t>
            </a:r>
            <a:endParaRPr lang="en-US" sz="1150" dirty="0"/>
          </a:p>
        </p:txBody>
      </p:sp>
      <p:sp>
        <p:nvSpPr>
          <p:cNvPr id="52" name="Shape 50"/>
          <p:cNvSpPr/>
          <p:nvPr/>
        </p:nvSpPr>
        <p:spPr>
          <a:xfrm>
            <a:off x="9500616" y="4105656"/>
            <a:ext cx="2029968" cy="758952"/>
          </a:xfrm>
          <a:prstGeom prst="rect">
            <a:avLst/>
          </a:prstGeom>
          <a:solidFill>
            <a:srgbClr val="CCFBF1"/>
          </a:solidFill>
          <a:ln w="10160">
            <a:solidFill>
              <a:srgbClr val="E2E8F0"/>
            </a:solidFill>
            <a:prstDash val="solid"/>
          </a:ln>
        </p:spPr>
      </p:sp>
      <p:sp>
        <p:nvSpPr>
          <p:cNvPr id="53" name="Text 51"/>
          <p:cNvSpPr/>
          <p:nvPr/>
        </p:nvSpPr>
        <p:spPr>
          <a:xfrm>
            <a:off x="9582912" y="4334256"/>
            <a:ext cx="1865376" cy="274320"/>
          </a:xfrm>
          <a:prstGeom prst="rect">
            <a:avLst/>
          </a:prstGeom>
          <a:noFill/>
          <a:ln/>
        </p:spPr>
        <p:txBody>
          <a:bodyPr wrap="square" lIns="0" tIns="0" rIns="0" bIns="0" rtlCol="0" anchor="ctr">
            <a:normAutofit/>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Cần kiểm định</a:t>
            </a:r>
            <a:endParaRPr lang="en-US" sz="1150" dirty="0"/>
          </a:p>
        </p:txBody>
      </p:sp>
      <p:sp>
        <p:nvSpPr>
          <p:cNvPr id="54" name="Shape 52"/>
          <p:cNvSpPr/>
          <p:nvPr/>
        </p:nvSpPr>
        <p:spPr>
          <a:xfrm>
            <a:off x="658368" y="5074920"/>
            <a:ext cx="10881360" cy="768096"/>
          </a:xfrm>
          <a:prstGeom prst="roundRect">
            <a:avLst>
              <a:gd name="adj" fmla="val 9524"/>
            </a:avLst>
          </a:prstGeom>
          <a:solidFill>
            <a:srgbClr val="FEF3C7"/>
          </a:solidFill>
          <a:ln w="12700">
            <a:solidFill>
              <a:srgbClr val="FEF3C7"/>
            </a:solidFill>
            <a:prstDash val="solid"/>
          </a:ln>
        </p:spPr>
      </p:sp>
      <p:sp>
        <p:nvSpPr>
          <p:cNvPr id="55" name="Text 53"/>
          <p:cNvSpPr/>
          <p:nvPr/>
        </p:nvSpPr>
        <p:spPr>
          <a:xfrm>
            <a:off x="896112" y="5285232"/>
            <a:ext cx="1691640" cy="237744"/>
          </a:xfrm>
          <a:prstGeom prst="rect">
            <a:avLst/>
          </a:prstGeom>
          <a:noFill/>
          <a:ln/>
        </p:spPr>
        <p:txBody>
          <a:bodyPr wrap="square" lIns="0" tIns="0" rIns="0" bIns="0" rtlCol="0" anchor="ctr"/>
          <a:lstStyle/>
          <a:p>
            <a:pPr indent="0" marL="0">
              <a:buNone/>
            </a:pPr>
            <a:r>
              <a:rPr lang="en-US" sz="1200" b="1" dirty="0">
                <a:solidFill>
                  <a:srgbClr val="D97706"/>
                </a:solidFill>
                <a:latin typeface="Calibri" pitchFamily="34" charset="0"/>
                <a:ea typeface="Calibri" pitchFamily="34" charset="-122"/>
                <a:cs typeface="Calibri" pitchFamily="34" charset="-120"/>
              </a:rPr>
              <a:t>Diễn giải ứng viên</a:t>
            </a:r>
            <a:endParaRPr lang="en-US" sz="1200" dirty="0"/>
          </a:p>
        </p:txBody>
      </p:sp>
      <p:sp>
        <p:nvSpPr>
          <p:cNvPr id="56" name="Text 54"/>
          <p:cNvSpPr/>
          <p:nvPr/>
        </p:nvSpPr>
        <p:spPr>
          <a:xfrm>
            <a:off x="2578608" y="5230368"/>
            <a:ext cx="8595360" cy="347472"/>
          </a:xfrm>
          <a:prstGeom prst="rect">
            <a:avLst/>
          </a:prstGeom>
          <a:noFill/>
          <a:ln/>
        </p:spPr>
        <p:txBody>
          <a:bodyPr wrap="square" lIns="0" tIns="0" rIns="0" bIns="0" rtlCol="0" anchor="ctr">
            <a:normAutofit/>
          </a:bodyPr>
          <a:lstStyle/>
          <a:p>
            <a:pPr indent="0" marL="0">
              <a:buNone/>
            </a:pPr>
            <a:r>
              <a:rPr lang="en-US" sz="1300" dirty="0">
                <a:solidFill>
                  <a:srgbClr val="172033"/>
                </a:solidFill>
                <a:latin typeface="Calibri" pitchFamily="34" charset="0"/>
                <a:ea typeface="Calibri" pitchFamily="34" charset="-122"/>
                <a:cs typeface="Calibri" pitchFamily="34" charset="-120"/>
              </a:rPr>
              <a:t>khoảng dương → điểm cao hơn tín hiệu khía cạnh (có thể do tấm đệm)   |   khoảng âm → điểm thấp hơn tín hiệu khía cạnh (có thể do trừng phạt)</a:t>
            </a:r>
            <a:endParaRPr lang="en-US" sz="1300" dirty="0"/>
          </a:p>
        </p:txBody>
      </p:sp>
      <p:sp>
        <p:nvSpPr>
          <p:cNvPr id="57" name="Text 55"/>
          <p:cNvSpPr/>
          <p:nvPr/>
        </p:nvSpPr>
        <p:spPr>
          <a:xfrm>
            <a:off x="2578608" y="5596128"/>
            <a:ext cx="7132320" cy="164592"/>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Đây là mở rộng của dự án, chưa phải chuẩn đã được xác lập.</a:t>
            </a:r>
            <a:endParaRPr lang="en-US" sz="1000" dirty="0"/>
          </a:p>
        </p:txBody>
      </p:sp>
      <p:sp>
        <p:nvSpPr>
          <p:cNvPr id="58" name="Text 56"/>
          <p:cNvSpPr/>
          <p:nvPr/>
        </p:nvSpPr>
        <p:spPr>
          <a:xfrm>
            <a:off x="640080" y="6172200"/>
            <a:ext cx="10607040" cy="164592"/>
          </a:xfrm>
          <a:prstGeom prst="rect">
            <a:avLst/>
          </a:prstGeom>
          <a:noFill/>
          <a:ln/>
        </p:spPr>
        <p:txBody>
          <a:bodyPr wrap="square" lIns="0" tIns="0" rIns="0" bIns="0" rtlCol="0" anchor="ctr">
            <a:normAutofit/>
          </a:bodyPr>
          <a:lstStyle/>
          <a:p>
            <a:pPr indent="0" marL="0">
              <a:buNone/>
            </a:pPr>
            <a:r>
              <a:rPr lang="en-US" sz="850" i="1" dirty="0">
                <a:solidFill>
                  <a:srgbClr val="64748B"/>
                </a:solidFill>
                <a:latin typeface="Calibri" pitchFamily="34" charset="0"/>
                <a:ea typeface="Calibri" pitchFamily="34" charset="-122"/>
                <a:cs typeface="Calibri" pitchFamily="34" charset="-120"/>
              </a:rPr>
              <a:t>Nguồn: Kwon et al. (2025); Jayakody et al. (2026, preprint); tổng hợp khảo sát.</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indent="0" marL="0">
              <a:buNone/>
            </a:pPr>
            <a:r>
              <a:rPr lang="en-US" sz="1000" b="1" spc="120" kern="0" dirty="0">
                <a:solidFill>
                  <a:srgbClr val="0F766E"/>
                </a:solidFill>
                <a:latin typeface="Calibri" pitchFamily="34" charset="0"/>
                <a:ea typeface="Calibri" pitchFamily="34" charset="-122"/>
                <a:cs typeface="Calibri" pitchFamily="34" charset="-120"/>
              </a:rPr>
              <a:t>CƠ CHẾ HÀNH VI</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indent="0" marL="0">
              <a:buNone/>
            </a:pPr>
            <a:r>
              <a:rPr lang="en-US" sz="2900" b="1" dirty="0">
                <a:solidFill>
                  <a:srgbClr val="172033"/>
                </a:solidFill>
                <a:latin typeface="Cambria" pitchFamily="34" charset="0"/>
                <a:ea typeface="Cambria" pitchFamily="34" charset="-122"/>
                <a:cs typeface="Cambria" pitchFamily="34" charset="-120"/>
              </a:rPr>
              <a:t>Kết quả #3: lý thuyết dừng trước điểm sao quan sát được</a:t>
            </a:r>
            <a:endParaRPr lang="en-US" sz="2900" dirty="0"/>
          </a:p>
        </p:txBody>
      </p:sp>
      <p:sp>
        <p:nvSpPr>
          <p:cNvPr id="4" name="Shape 2"/>
          <p:cNvSpPr/>
          <p:nvPr/>
        </p:nvSpPr>
        <p:spPr>
          <a:xfrm>
            <a:off x="685800" y="1828800"/>
            <a:ext cx="2057400" cy="1417320"/>
          </a:xfrm>
          <a:prstGeom prst="roundRect">
            <a:avLst>
              <a:gd name="adj" fmla="val 5161"/>
            </a:avLst>
          </a:prstGeom>
          <a:solidFill>
            <a:srgbClr val="FFE4E6"/>
          </a:solidFill>
          <a:ln w="12700">
            <a:solidFill>
              <a:srgbClr val="FFE4E6"/>
            </a:solidFill>
            <a:prstDash val="solid"/>
          </a:ln>
        </p:spPr>
      </p:sp>
      <p:sp>
        <p:nvSpPr>
          <p:cNvPr id="5" name="Text 3"/>
          <p:cNvSpPr/>
          <p:nvPr/>
        </p:nvSpPr>
        <p:spPr>
          <a:xfrm>
            <a:off x="868680" y="2148840"/>
            <a:ext cx="1691640" cy="292608"/>
          </a:xfrm>
          <a:prstGeom prst="rect">
            <a:avLst/>
          </a:prstGeom>
          <a:noFill/>
          <a:ln/>
        </p:spPr>
        <p:txBody>
          <a:bodyPr wrap="square" lIns="0" tIns="0" rIns="0" bIns="0" rtlCol="0" anchor="ctr">
            <a:normAutofit/>
          </a:bodyPr>
          <a:lstStyle/>
          <a:p>
            <a:pPr algn="ctr" indent="0" marL="0">
              <a:buNone/>
            </a:pPr>
            <a:r>
              <a:rPr lang="en-US" sz="1500" b="1" dirty="0">
                <a:solidFill>
                  <a:srgbClr val="E11D48"/>
                </a:solidFill>
                <a:latin typeface="Calibri" pitchFamily="34" charset="0"/>
                <a:ea typeface="Calibri" pitchFamily="34" charset="-122"/>
                <a:cs typeface="Calibri" pitchFamily="34" charset="-120"/>
              </a:rPr>
              <a:t>Sự cố dịch vụ</a:t>
            </a:r>
            <a:endParaRPr lang="en-US" sz="1500" dirty="0"/>
          </a:p>
        </p:txBody>
      </p:sp>
      <p:sp>
        <p:nvSpPr>
          <p:cNvPr id="6" name="Text 4"/>
          <p:cNvSpPr/>
          <p:nvPr/>
        </p:nvSpPr>
        <p:spPr>
          <a:xfrm>
            <a:off x="868680" y="2587752"/>
            <a:ext cx="1691640" cy="365760"/>
          </a:xfrm>
          <a:prstGeom prst="rect">
            <a:avLst/>
          </a:prstGeom>
          <a:noFill/>
          <a:ln/>
        </p:spPr>
        <p:txBody>
          <a:bodyPr wrap="square" lIns="0" tIns="0" rIns="0" bIns="0" rtlCol="0" anchor="ctr">
            <a:normAutofit/>
          </a:bodyPr>
          <a:lstStyle/>
          <a:p>
            <a:pPr algn="ctr" indent="0" marL="0">
              <a:buNone/>
            </a:pPr>
            <a:r>
              <a:rPr lang="en-US" sz="1150" dirty="0">
                <a:solidFill>
                  <a:srgbClr val="475569"/>
                </a:solidFill>
                <a:latin typeface="Calibri" pitchFamily="34" charset="0"/>
                <a:ea typeface="Calibri" pitchFamily="34" charset="-122"/>
                <a:cs typeface="Calibri" pitchFamily="34" charset="-120"/>
              </a:rPr>
              <a:t>cơ sở vật chất / dịch vụ / tiện ích</a:t>
            </a:r>
            <a:endParaRPr lang="en-US" sz="1150" dirty="0"/>
          </a:p>
        </p:txBody>
      </p:sp>
      <p:sp>
        <p:nvSpPr>
          <p:cNvPr id="7" name="Shape 5"/>
          <p:cNvSpPr/>
          <p:nvPr/>
        </p:nvSpPr>
        <p:spPr>
          <a:xfrm>
            <a:off x="2743200" y="2523744"/>
            <a:ext cx="411480" cy="0"/>
          </a:xfrm>
          <a:prstGeom prst="line">
            <a:avLst/>
          </a:prstGeom>
          <a:noFill/>
          <a:ln w="25400">
            <a:solidFill>
              <a:srgbClr val="64748B"/>
            </a:solidFill>
            <a:prstDash val="solid"/>
            <a:tailEnd type="triangle"/>
          </a:ln>
        </p:spPr>
      </p:sp>
      <p:sp>
        <p:nvSpPr>
          <p:cNvPr id="8" name="Shape 6"/>
          <p:cNvSpPr/>
          <p:nvPr/>
        </p:nvSpPr>
        <p:spPr>
          <a:xfrm>
            <a:off x="3154680" y="1828800"/>
            <a:ext cx="2057400" cy="1417320"/>
          </a:xfrm>
          <a:prstGeom prst="roundRect">
            <a:avLst>
              <a:gd name="adj" fmla="val 5161"/>
            </a:avLst>
          </a:prstGeom>
          <a:solidFill>
            <a:srgbClr val="DBEAFE"/>
          </a:solidFill>
          <a:ln w="12700">
            <a:solidFill>
              <a:srgbClr val="DBEAFE"/>
            </a:solidFill>
            <a:prstDash val="solid"/>
          </a:ln>
        </p:spPr>
      </p:sp>
      <p:sp>
        <p:nvSpPr>
          <p:cNvPr id="9" name="Text 7"/>
          <p:cNvSpPr/>
          <p:nvPr/>
        </p:nvSpPr>
        <p:spPr>
          <a:xfrm>
            <a:off x="3337560" y="2148840"/>
            <a:ext cx="1691640" cy="292608"/>
          </a:xfrm>
          <a:prstGeom prst="rect">
            <a:avLst/>
          </a:prstGeom>
          <a:noFill/>
          <a:ln/>
        </p:spPr>
        <p:txBody>
          <a:bodyPr wrap="square" lIns="0" tIns="0" rIns="0" bIns="0" rtlCol="0" anchor="ctr">
            <a:normAutofit/>
          </a:bodyPr>
          <a:lstStyle/>
          <a:p>
            <a:pPr algn="ctr" indent="0" marL="0">
              <a:buNone/>
            </a:pPr>
            <a:r>
              <a:rPr lang="en-US" sz="1500" b="1" dirty="0">
                <a:solidFill>
                  <a:srgbClr val="2563EB"/>
                </a:solidFill>
                <a:latin typeface="Calibri" pitchFamily="34" charset="0"/>
                <a:ea typeface="Calibri" pitchFamily="34" charset="-122"/>
                <a:cs typeface="Calibri" pitchFamily="34" charset="-120"/>
              </a:rPr>
              <a:t>Đánh giá của khách hàng</a:t>
            </a:r>
            <a:endParaRPr lang="en-US" sz="1500" dirty="0"/>
          </a:p>
        </p:txBody>
      </p:sp>
      <p:sp>
        <p:nvSpPr>
          <p:cNvPr id="10" name="Text 8"/>
          <p:cNvSpPr/>
          <p:nvPr/>
        </p:nvSpPr>
        <p:spPr>
          <a:xfrm>
            <a:off x="3337560" y="2587752"/>
            <a:ext cx="1691640" cy="365760"/>
          </a:xfrm>
          <a:prstGeom prst="rect">
            <a:avLst/>
          </a:prstGeom>
          <a:noFill/>
          <a:ln/>
        </p:spPr>
        <p:txBody>
          <a:bodyPr wrap="square" lIns="0" tIns="0" rIns="0" bIns="0" rtlCol="0" anchor="ctr">
            <a:normAutofit/>
          </a:bodyPr>
          <a:lstStyle/>
          <a:p>
            <a:pPr algn="ctr" indent="0" marL="0">
              <a:buNone/>
            </a:pPr>
            <a:r>
              <a:rPr lang="en-US" sz="1150" dirty="0">
                <a:solidFill>
                  <a:srgbClr val="475569"/>
                </a:solidFill>
                <a:latin typeface="Calibri" pitchFamily="34" charset="0"/>
                <a:ea typeface="Calibri" pitchFamily="34" charset="-122"/>
                <a:cs typeface="Calibri" pitchFamily="34" charset="-120"/>
              </a:rPr>
              <a:t>công bằng · quy kết · kỳ vọng</a:t>
            </a:r>
            <a:endParaRPr lang="en-US" sz="1150" dirty="0"/>
          </a:p>
        </p:txBody>
      </p:sp>
      <p:sp>
        <p:nvSpPr>
          <p:cNvPr id="11" name="Shape 9"/>
          <p:cNvSpPr/>
          <p:nvPr/>
        </p:nvSpPr>
        <p:spPr>
          <a:xfrm>
            <a:off x="5212080" y="2523744"/>
            <a:ext cx="411480" cy="0"/>
          </a:xfrm>
          <a:prstGeom prst="line">
            <a:avLst/>
          </a:prstGeom>
          <a:noFill/>
          <a:ln w="25400">
            <a:solidFill>
              <a:srgbClr val="64748B"/>
            </a:solidFill>
            <a:prstDash val="solid"/>
            <a:tailEnd type="triangle"/>
          </a:ln>
        </p:spPr>
      </p:sp>
      <p:sp>
        <p:nvSpPr>
          <p:cNvPr id="12" name="Shape 10"/>
          <p:cNvSpPr/>
          <p:nvPr/>
        </p:nvSpPr>
        <p:spPr>
          <a:xfrm>
            <a:off x="5623560" y="1828800"/>
            <a:ext cx="2331720" cy="1417320"/>
          </a:xfrm>
          <a:prstGeom prst="roundRect">
            <a:avLst>
              <a:gd name="adj" fmla="val 5161"/>
            </a:avLst>
          </a:prstGeom>
          <a:solidFill>
            <a:srgbClr val="CCFBF1"/>
          </a:solidFill>
          <a:ln w="12700">
            <a:solidFill>
              <a:srgbClr val="CCFBF1"/>
            </a:solidFill>
            <a:prstDash val="solid"/>
          </a:ln>
        </p:spPr>
      </p:sp>
      <p:sp>
        <p:nvSpPr>
          <p:cNvPr id="13" name="Text 11"/>
          <p:cNvSpPr/>
          <p:nvPr/>
        </p:nvSpPr>
        <p:spPr>
          <a:xfrm>
            <a:off x="5806440" y="2148840"/>
            <a:ext cx="1965960" cy="292608"/>
          </a:xfrm>
          <a:prstGeom prst="rect">
            <a:avLst/>
          </a:prstGeom>
          <a:noFill/>
          <a:ln/>
        </p:spPr>
        <p:txBody>
          <a:bodyPr wrap="square" lIns="0" tIns="0" rIns="0" bIns="0" rtlCol="0" anchor="ctr">
            <a:normAutofit/>
          </a:bodyPr>
          <a:lstStyle/>
          <a:p>
            <a:pPr algn="ctr" indent="0" marL="0">
              <a:buNone/>
            </a:pPr>
            <a:r>
              <a:rPr lang="en-US" sz="1500" b="1" dirty="0">
                <a:solidFill>
                  <a:srgbClr val="0F766E"/>
                </a:solidFill>
                <a:latin typeface="Calibri" pitchFamily="34" charset="0"/>
                <a:ea typeface="Calibri" pitchFamily="34" charset="-122"/>
                <a:cs typeface="Calibri" pitchFamily="34" charset="-120"/>
              </a:rPr>
              <a:t>Cơ chế nội tại</a:t>
            </a:r>
            <a:endParaRPr lang="en-US" sz="1500" dirty="0"/>
          </a:p>
        </p:txBody>
      </p:sp>
      <p:sp>
        <p:nvSpPr>
          <p:cNvPr id="14" name="Text 12"/>
          <p:cNvSpPr/>
          <p:nvPr/>
        </p:nvSpPr>
        <p:spPr>
          <a:xfrm>
            <a:off x="5806440" y="2587752"/>
            <a:ext cx="1965960" cy="365760"/>
          </a:xfrm>
          <a:prstGeom prst="rect">
            <a:avLst/>
          </a:prstGeom>
          <a:noFill/>
          <a:ln/>
        </p:spPr>
        <p:txBody>
          <a:bodyPr wrap="square" lIns="0" tIns="0" rIns="0" bIns="0" rtlCol="0" anchor="ctr">
            <a:normAutofit/>
          </a:bodyPr>
          <a:lstStyle/>
          <a:p>
            <a:pPr algn="ctr" indent="0" marL="0">
              <a:buNone/>
            </a:pPr>
            <a:r>
              <a:rPr lang="en-US" sz="1150" dirty="0">
                <a:solidFill>
                  <a:srgbClr val="475569"/>
                </a:solidFill>
                <a:latin typeface="Calibri" pitchFamily="34" charset="0"/>
                <a:ea typeface="Calibri" pitchFamily="34" charset="-122"/>
                <a:cs typeface="Calibri" pitchFamily="34" charset="-120"/>
              </a:rPr>
              <a:t>đồng cảm · tha thứ · cảm xúc tiêu cực</a:t>
            </a:r>
            <a:endParaRPr lang="en-US" sz="1150" dirty="0"/>
          </a:p>
        </p:txBody>
      </p:sp>
      <p:sp>
        <p:nvSpPr>
          <p:cNvPr id="15" name="Shape 13"/>
          <p:cNvSpPr/>
          <p:nvPr/>
        </p:nvSpPr>
        <p:spPr>
          <a:xfrm>
            <a:off x="8732520" y="1828800"/>
            <a:ext cx="2057400" cy="1417320"/>
          </a:xfrm>
          <a:prstGeom prst="roundRect">
            <a:avLst>
              <a:gd name="adj" fmla="val 5161"/>
            </a:avLst>
          </a:prstGeom>
          <a:solidFill>
            <a:srgbClr val="FEF3C7"/>
          </a:solidFill>
          <a:ln w="12700">
            <a:solidFill>
              <a:srgbClr val="FEF3C7"/>
            </a:solidFill>
            <a:prstDash val="solid"/>
          </a:ln>
        </p:spPr>
      </p:sp>
      <p:sp>
        <p:nvSpPr>
          <p:cNvPr id="16" name="Text 14"/>
          <p:cNvSpPr/>
          <p:nvPr/>
        </p:nvSpPr>
        <p:spPr>
          <a:xfrm>
            <a:off x="8915400" y="2148840"/>
            <a:ext cx="1691640" cy="292608"/>
          </a:xfrm>
          <a:prstGeom prst="rect">
            <a:avLst/>
          </a:prstGeom>
          <a:noFill/>
          <a:ln/>
        </p:spPr>
        <p:txBody>
          <a:bodyPr wrap="square" lIns="0" tIns="0" rIns="0" bIns="0" rtlCol="0" anchor="ctr">
            <a:normAutofit/>
          </a:bodyPr>
          <a:lstStyle/>
          <a:p>
            <a:pPr algn="ctr" indent="0" marL="0">
              <a:buNone/>
            </a:pPr>
            <a:r>
              <a:rPr lang="en-US" sz="1500" b="1" dirty="0">
                <a:solidFill>
                  <a:srgbClr val="D97706"/>
                </a:solidFill>
                <a:latin typeface="Calibri" pitchFamily="34" charset="0"/>
                <a:ea typeface="Calibri" pitchFamily="34" charset="-122"/>
                <a:cs typeface="Calibri" pitchFamily="34" charset="-120"/>
              </a:rPr>
              <a:t>Điểm quan sát được</a:t>
            </a:r>
            <a:endParaRPr lang="en-US" sz="1500" dirty="0"/>
          </a:p>
        </p:txBody>
      </p:sp>
      <p:sp>
        <p:nvSpPr>
          <p:cNvPr id="17" name="Text 15"/>
          <p:cNvSpPr/>
          <p:nvPr/>
        </p:nvSpPr>
        <p:spPr>
          <a:xfrm>
            <a:off x="8915400" y="2587752"/>
            <a:ext cx="1691640" cy="365760"/>
          </a:xfrm>
          <a:prstGeom prst="rect">
            <a:avLst/>
          </a:prstGeom>
          <a:noFill/>
          <a:ln/>
        </p:spPr>
        <p:txBody>
          <a:bodyPr wrap="square" lIns="0" tIns="0" rIns="0" bIns="0" rtlCol="0" anchor="ctr">
            <a:normAutofit/>
          </a:bodyPr>
          <a:lstStyle/>
          <a:p>
            <a:pPr algn="ctr" indent="0" marL="0">
              <a:buNone/>
            </a:pPr>
            <a:r>
              <a:rPr lang="en-US" sz="1150" dirty="0">
                <a:solidFill>
                  <a:srgbClr val="475569"/>
                </a:solidFill>
                <a:latin typeface="Calibri" pitchFamily="34" charset="0"/>
                <a:ea typeface="Calibri" pitchFamily="34" charset="-122"/>
                <a:cs typeface="Calibri" pitchFamily="34" charset="-120"/>
              </a:rPr>
              <a:t>1–5 sao trong dữ liệu review thực tế</a:t>
            </a:r>
            <a:endParaRPr lang="en-US" sz="1150" dirty="0"/>
          </a:p>
        </p:txBody>
      </p:sp>
      <p:sp>
        <p:nvSpPr>
          <p:cNvPr id="18" name="Shape 16"/>
          <p:cNvSpPr/>
          <p:nvPr/>
        </p:nvSpPr>
        <p:spPr>
          <a:xfrm>
            <a:off x="7973568" y="2523744"/>
            <a:ext cx="658368" cy="0"/>
          </a:xfrm>
          <a:prstGeom prst="line">
            <a:avLst/>
          </a:prstGeom>
          <a:noFill/>
          <a:ln w="38100">
            <a:solidFill>
              <a:srgbClr val="E11D48"/>
            </a:solidFill>
            <a:prstDash val="solid"/>
            <a:tailEnd type="triangle"/>
          </a:ln>
        </p:spPr>
      </p:sp>
      <p:sp>
        <p:nvSpPr>
          <p:cNvPr id="19" name="Text 17"/>
          <p:cNvSpPr/>
          <p:nvPr/>
        </p:nvSpPr>
        <p:spPr>
          <a:xfrm>
            <a:off x="7406640" y="1353312"/>
            <a:ext cx="1783080" cy="274320"/>
          </a:xfrm>
          <a:prstGeom prst="rect">
            <a:avLst/>
          </a:prstGeom>
          <a:noFill/>
          <a:ln/>
        </p:spPr>
        <p:txBody>
          <a:bodyPr wrap="square" lIns="0" tIns="0" rIns="0" bIns="0" rtlCol="0" anchor="ctr"/>
          <a:lstStyle/>
          <a:p>
            <a:pPr algn="ctr" indent="0" marL="0">
              <a:buNone/>
            </a:pPr>
            <a:r>
              <a:rPr lang="en-US" sz="1050" b="1" dirty="0">
                <a:solidFill>
                  <a:srgbClr val="E11D48"/>
                </a:solidFill>
                <a:latin typeface="Calibri" pitchFamily="34" charset="0"/>
                <a:ea typeface="Calibri" pitchFamily="34" charset="-122"/>
                <a:cs typeface="Calibri" pitchFamily="34" charset="-120"/>
              </a:rPr>
              <a:t>THIẾU KIỂM ĐỊNH TRỰC TIẾP</a:t>
            </a:r>
            <a:endParaRPr lang="en-US" sz="1050" dirty="0"/>
          </a:p>
        </p:txBody>
      </p:sp>
      <p:sp>
        <p:nvSpPr>
          <p:cNvPr id="20" name="Shape 18"/>
          <p:cNvSpPr/>
          <p:nvPr/>
        </p:nvSpPr>
        <p:spPr>
          <a:xfrm>
            <a:off x="685800" y="3822192"/>
            <a:ext cx="5349240" cy="1417320"/>
          </a:xfrm>
          <a:prstGeom prst="roundRect">
            <a:avLst>
              <a:gd name="adj" fmla="val 5161"/>
            </a:avLst>
          </a:prstGeom>
          <a:solidFill>
            <a:srgbClr val="FFFFFF"/>
          </a:solidFill>
          <a:ln w="12700">
            <a:solidFill>
              <a:srgbClr val="E2E8F0"/>
            </a:solidFill>
            <a:prstDash val="solid"/>
          </a:ln>
        </p:spPr>
      </p:sp>
      <p:sp>
        <p:nvSpPr>
          <p:cNvPr id="21" name="Text 19"/>
          <p:cNvSpPr/>
          <p:nvPr/>
        </p:nvSpPr>
        <p:spPr>
          <a:xfrm>
            <a:off x="941832" y="4114800"/>
            <a:ext cx="2560320" cy="274320"/>
          </a:xfrm>
          <a:prstGeom prst="rect">
            <a:avLst/>
          </a:prstGeom>
          <a:noFill/>
          <a:ln/>
        </p:spPr>
        <p:txBody>
          <a:bodyPr wrap="square" lIns="0" tIns="0" rIns="0" bIns="0" rtlCol="0" anchor="ctr"/>
          <a:lstStyle/>
          <a:p>
            <a:pPr indent="0" marL="0">
              <a:buNone/>
            </a:pPr>
            <a:r>
              <a:rPr lang="en-US" sz="1600" b="1" dirty="0">
                <a:solidFill>
                  <a:srgbClr val="15803D"/>
                </a:solidFill>
                <a:latin typeface="Calibri" pitchFamily="34" charset="0"/>
                <a:ea typeface="Calibri" pitchFamily="34" charset="-122"/>
                <a:cs typeface="Calibri" pitchFamily="34" charset="-120"/>
              </a:rPr>
              <a:t>Điều nghiên cứu hiện tại hỗ trợ</a:t>
            </a:r>
            <a:endParaRPr lang="en-US" sz="1600" dirty="0"/>
          </a:p>
        </p:txBody>
      </p:sp>
      <p:sp>
        <p:nvSpPr>
          <p:cNvPr id="22" name="Text 20"/>
          <p:cNvSpPr/>
          <p:nvPr/>
        </p:nvSpPr>
        <p:spPr>
          <a:xfrm>
            <a:off x="941832" y="4526280"/>
            <a:ext cx="4663440" cy="475488"/>
          </a:xfrm>
          <a:prstGeom prst="rect">
            <a:avLst/>
          </a:prstGeom>
          <a:noFill/>
          <a:ln/>
        </p:spPr>
        <p:txBody>
          <a:bodyPr wrap="square" lIns="0" tIns="0" rIns="0" bIns="0" rtlCol="0" anchor="ctr">
            <a:normAutofit/>
          </a:bodyPr>
          <a:lstStyle/>
          <a:p>
            <a:pPr indent="0" marL="0">
              <a:buNone/>
            </a:pPr>
            <a:r>
              <a:rPr lang="en-US" sz="1250" dirty="0">
                <a:solidFill>
                  <a:srgbClr val="475569"/>
                </a:solidFill>
                <a:latin typeface="Calibri" pitchFamily="34" charset="0"/>
                <a:ea typeface="Calibri" pitchFamily="34" charset="-122"/>
                <a:cs typeface="Calibri" pitchFamily="34" charset="-120"/>
              </a:rPr>
              <a:t>Loại sự cố, công bằng, đồng cảm và phục hồi ảnh hưởng đến tha thứ, không hài lòng hoặc ý định quay lại.</a:t>
            </a:r>
            <a:endParaRPr lang="en-US" sz="1250" dirty="0"/>
          </a:p>
        </p:txBody>
      </p:sp>
      <p:sp>
        <p:nvSpPr>
          <p:cNvPr id="23" name="Shape 21"/>
          <p:cNvSpPr/>
          <p:nvPr/>
        </p:nvSpPr>
        <p:spPr>
          <a:xfrm>
            <a:off x="6190488" y="3822192"/>
            <a:ext cx="5349240" cy="1417320"/>
          </a:xfrm>
          <a:prstGeom prst="roundRect">
            <a:avLst>
              <a:gd name="adj" fmla="val 5161"/>
            </a:avLst>
          </a:prstGeom>
          <a:solidFill>
            <a:srgbClr val="FFE4E6"/>
          </a:solidFill>
          <a:ln w="12700">
            <a:solidFill>
              <a:srgbClr val="FFE4E6"/>
            </a:solidFill>
            <a:prstDash val="solid"/>
          </a:ln>
        </p:spPr>
      </p:sp>
      <p:sp>
        <p:nvSpPr>
          <p:cNvPr id="24" name="Text 22"/>
          <p:cNvSpPr/>
          <p:nvPr/>
        </p:nvSpPr>
        <p:spPr>
          <a:xfrm>
            <a:off x="6446520" y="4114800"/>
            <a:ext cx="2560320" cy="274320"/>
          </a:xfrm>
          <a:prstGeom prst="rect">
            <a:avLst/>
          </a:prstGeom>
          <a:noFill/>
          <a:ln/>
        </p:spPr>
        <p:txBody>
          <a:bodyPr wrap="square" lIns="0" tIns="0" rIns="0" bIns="0" rtlCol="0" anchor="ctr"/>
          <a:lstStyle/>
          <a:p>
            <a:pPr indent="0" marL="0">
              <a:buNone/>
            </a:pPr>
            <a:r>
              <a:rPr lang="en-US" sz="1600" b="1" dirty="0">
                <a:solidFill>
                  <a:srgbClr val="E11D48"/>
                </a:solidFill>
                <a:latin typeface="Calibri" pitchFamily="34" charset="0"/>
                <a:ea typeface="Calibri" pitchFamily="34" charset="-122"/>
                <a:cs typeface="Calibri" pitchFamily="34" charset="-120"/>
              </a:rPr>
              <a:t>Điều còn chưa kiểm định</a:t>
            </a:r>
            <a:endParaRPr lang="en-US" sz="1600" dirty="0"/>
          </a:p>
        </p:txBody>
      </p:sp>
      <p:sp>
        <p:nvSpPr>
          <p:cNvPr id="25" name="Text 23"/>
          <p:cNvSpPr/>
          <p:nvPr/>
        </p:nvSpPr>
        <p:spPr>
          <a:xfrm>
            <a:off x="6446520" y="4526280"/>
            <a:ext cx="4663440" cy="475488"/>
          </a:xfrm>
          <a:prstGeom prst="rect">
            <a:avLst/>
          </a:prstGeom>
          <a:noFill/>
          <a:ln/>
        </p:spPr>
        <p:txBody>
          <a:bodyPr wrap="square" lIns="0" tIns="0" rIns="0" bIns="0" rtlCol="0" anchor="ctr">
            <a:normAutofit/>
          </a:bodyPr>
          <a:lstStyle/>
          <a:p>
            <a:pPr indent="0" marL="0">
              <a:buNone/>
            </a:pPr>
            <a:r>
              <a:rPr lang="en-US" sz="1250" dirty="0">
                <a:solidFill>
                  <a:srgbClr val="475569"/>
                </a:solidFill>
                <a:latin typeface="Calibri" pitchFamily="34" charset="0"/>
                <a:ea typeface="Calibri" pitchFamily="34" charset="-122"/>
                <a:cs typeface="Calibri" pitchFamily="34" charset="-120"/>
              </a:rPr>
              <a:t>Liệu tha thứ / cảm xúc trừng phạt có giải thích điểm sao thực tế trong review khách sạn hay không.</a:t>
            </a:r>
            <a:endParaRPr lang="en-US" sz="1250" dirty="0"/>
          </a:p>
        </p:txBody>
      </p:sp>
      <p:sp>
        <p:nvSpPr>
          <p:cNvPr id="26" name="Text 24"/>
          <p:cNvSpPr/>
          <p:nvPr/>
        </p:nvSpPr>
        <p:spPr>
          <a:xfrm>
            <a:off x="1051560" y="5596128"/>
            <a:ext cx="10058400" cy="274320"/>
          </a:xfrm>
          <a:prstGeom prst="rect">
            <a:avLst/>
          </a:prstGeom>
          <a:noFill/>
          <a:ln/>
        </p:spPr>
        <p:txBody>
          <a:bodyPr wrap="square" lIns="0" tIns="0" rIns="0" bIns="0" rtlCol="0" anchor="ctr">
            <a:normAutofit/>
          </a:bodyPr>
          <a:lstStyle/>
          <a:p>
            <a:pPr algn="ctr" indent="0" marL="0">
              <a:buNone/>
            </a:pPr>
            <a:r>
              <a:rPr lang="en-US" sz="1350" b="1" dirty="0">
                <a:solidFill>
                  <a:srgbClr val="7C3AED"/>
                </a:solidFill>
                <a:latin typeface="Calibri" pitchFamily="34" charset="0"/>
                <a:ea typeface="Calibri" pitchFamily="34" charset="-122"/>
                <a:cs typeface="Calibri" pitchFamily="34" charset="-120"/>
              </a:rPr>
              <a:t>Kỷ luật thuật ngữ: “Thăng hoa” và “Phẫn nộ” chỉ là nhãn tạm cho đến khi xác lập construct validity.</a:t>
            </a:r>
            <a:endParaRPr lang="en-US" sz="1350" dirty="0"/>
          </a:p>
        </p:txBody>
      </p:sp>
      <p:sp>
        <p:nvSpPr>
          <p:cNvPr id="27" name="Text 25"/>
          <p:cNvSpPr/>
          <p:nvPr/>
        </p:nvSpPr>
        <p:spPr>
          <a:xfrm>
            <a:off x="640080" y="6172200"/>
            <a:ext cx="10607040" cy="164592"/>
          </a:xfrm>
          <a:prstGeom prst="rect">
            <a:avLst/>
          </a:prstGeom>
          <a:noFill/>
          <a:ln/>
        </p:spPr>
        <p:txBody>
          <a:bodyPr wrap="square" lIns="0" tIns="0" rIns="0" bIns="0" rtlCol="0" anchor="ctr">
            <a:normAutofit/>
          </a:bodyPr>
          <a:lstStyle/>
          <a:p>
            <a:pPr indent="0" marL="0">
              <a:buNone/>
            </a:pPr>
            <a:r>
              <a:rPr lang="en-US" sz="850" i="1" dirty="0">
                <a:solidFill>
                  <a:srgbClr val="64748B"/>
                </a:solidFill>
                <a:latin typeface="Calibri" pitchFamily="34" charset="0"/>
                <a:ea typeface="Calibri" pitchFamily="34" charset="-122"/>
                <a:cs typeface="Calibri" pitchFamily="34" charset="-120"/>
              </a:rPr>
              <a:t>Bằng chứng: Kumar &amp; Shankar (2024); Honora et al. (2024); Huang &amp; Lo (2025); Wei et al. (2025).</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indent="0" marL="0">
              <a:buNone/>
            </a:pPr>
            <a:r>
              <a:rPr lang="en-US" sz="1000" b="1" spc="120" kern="0" dirty="0">
                <a:solidFill>
                  <a:srgbClr val="0F766E"/>
                </a:solidFill>
                <a:latin typeface="Calibri" pitchFamily="34" charset="0"/>
                <a:ea typeface="Calibri" pitchFamily="34" charset="-122"/>
                <a:cs typeface="Calibri" pitchFamily="34" charset="-120"/>
              </a:rPr>
              <a:t>RESEARCH QUESTIONS BẢN NHÁP</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indent="0" marL="0">
              <a:buNone/>
            </a:pPr>
            <a:r>
              <a:rPr lang="en-US" sz="2900" b="1" dirty="0">
                <a:solidFill>
                  <a:srgbClr val="172033"/>
                </a:solidFill>
                <a:latin typeface="Cambria" pitchFamily="34" charset="0"/>
                <a:ea typeface="Cambria" pitchFamily="34" charset="-122"/>
                <a:cs typeface="Cambria" pitchFamily="34" charset="-120"/>
              </a:rPr>
              <a:t>Hướng nghiên cứu đề xuất sau khảo sát</a:t>
            </a:r>
            <a:endParaRPr lang="en-US" sz="2900" dirty="0"/>
          </a:p>
        </p:txBody>
      </p:sp>
      <p:sp>
        <p:nvSpPr>
          <p:cNvPr id="4" name="Shape 2"/>
          <p:cNvSpPr/>
          <p:nvPr/>
        </p:nvSpPr>
        <p:spPr>
          <a:xfrm>
            <a:off x="658368" y="1417320"/>
            <a:ext cx="3456432" cy="3246120"/>
          </a:xfrm>
          <a:prstGeom prst="roundRect">
            <a:avLst>
              <a:gd name="adj" fmla="val 2254"/>
            </a:avLst>
          </a:prstGeom>
          <a:solidFill>
            <a:srgbClr val="FFE4E6"/>
          </a:solidFill>
          <a:ln w="12700">
            <a:solidFill>
              <a:srgbClr val="FFE4E6"/>
            </a:solidFill>
            <a:prstDash val="solid"/>
          </a:ln>
        </p:spPr>
      </p:sp>
      <p:sp>
        <p:nvSpPr>
          <p:cNvPr id="5" name="Text 3"/>
          <p:cNvSpPr/>
          <p:nvPr/>
        </p:nvSpPr>
        <p:spPr>
          <a:xfrm>
            <a:off x="914400" y="1737360"/>
            <a:ext cx="658368" cy="320040"/>
          </a:xfrm>
          <a:prstGeom prst="rect">
            <a:avLst/>
          </a:prstGeom>
          <a:noFill/>
          <a:ln/>
        </p:spPr>
        <p:txBody>
          <a:bodyPr wrap="square" lIns="0" tIns="0" rIns="0" bIns="0" rtlCol="0" anchor="ctr"/>
          <a:lstStyle/>
          <a:p>
            <a:pPr indent="0" marL="0">
              <a:buNone/>
            </a:pPr>
            <a:r>
              <a:rPr lang="en-US" sz="1900" b="1" dirty="0">
                <a:solidFill>
                  <a:srgbClr val="E11D48"/>
                </a:solidFill>
                <a:latin typeface="Cambria" pitchFamily="34" charset="0"/>
                <a:ea typeface="Cambria" pitchFamily="34" charset="-122"/>
                <a:cs typeface="Cambria" pitchFamily="34" charset="-120"/>
              </a:rPr>
              <a:t>RQ1</a:t>
            </a:r>
            <a:endParaRPr lang="en-US" sz="1900" dirty="0"/>
          </a:p>
        </p:txBody>
      </p:sp>
      <p:sp>
        <p:nvSpPr>
          <p:cNvPr id="6" name="Text 4"/>
          <p:cNvSpPr/>
          <p:nvPr/>
        </p:nvSpPr>
        <p:spPr>
          <a:xfrm>
            <a:off x="914400" y="2240280"/>
            <a:ext cx="2907792" cy="658368"/>
          </a:xfrm>
          <a:prstGeom prst="rect">
            <a:avLst/>
          </a:prstGeom>
          <a:noFill/>
          <a:ln/>
        </p:spPr>
        <p:txBody>
          <a:bodyPr wrap="square" lIns="0" tIns="0" rIns="0" bIns="0" rtlCol="0" anchor="ctr">
            <a:normAutofit/>
          </a:bodyPr>
          <a:lstStyle/>
          <a:p>
            <a:pPr indent="0" marL="0">
              <a:buNone/>
            </a:pPr>
            <a:r>
              <a:rPr lang="en-US" sz="1700" b="1" dirty="0">
                <a:solidFill>
                  <a:srgbClr val="172033"/>
                </a:solidFill>
                <a:latin typeface="Calibri" pitchFamily="34" charset="0"/>
                <a:ea typeface="Calibri" pitchFamily="34" charset="-122"/>
                <a:cs typeface="Calibri" pitchFamily="34" charset="-120"/>
              </a:rPr>
              <a:t>Bao nhiêu, và theo chiều nào?</a:t>
            </a:r>
            <a:endParaRPr lang="en-US" sz="1700" dirty="0"/>
          </a:p>
        </p:txBody>
      </p:sp>
      <p:sp>
        <p:nvSpPr>
          <p:cNvPr id="7" name="Text 5"/>
          <p:cNvSpPr/>
          <p:nvPr/>
        </p:nvSpPr>
        <p:spPr>
          <a:xfrm>
            <a:off x="914400" y="3154680"/>
            <a:ext cx="2907792" cy="987552"/>
          </a:xfrm>
          <a:prstGeom prst="rect">
            <a:avLst/>
          </a:prstGeom>
          <a:noFill/>
          <a:ln/>
        </p:spPr>
        <p:txBody>
          <a:bodyPr wrap="square" lIns="0" tIns="0" rIns="0" bIns="0" rtlCol="0" anchor="ctr">
            <a:normAutofit/>
          </a:bodyPr>
          <a:lstStyle/>
          <a:p>
            <a:pPr indent="0" marL="0">
              <a:buNone/>
            </a:pPr>
            <a:r>
              <a:rPr lang="en-US" sz="1300" dirty="0">
                <a:solidFill>
                  <a:srgbClr val="475569"/>
                </a:solidFill>
                <a:latin typeface="Calibri" pitchFamily="34" charset="0"/>
                <a:ea typeface="Calibri" pitchFamily="34" charset="-122"/>
                <a:cs typeface="Calibri" pitchFamily="34" charset="-120"/>
              </a:rPr>
              <a:t>Ước tính tỷ lệ và loại bất nhất sau khi nhãn người được đối soát.</a:t>
            </a:r>
            <a:endParaRPr lang="en-US" sz="1300" dirty="0"/>
          </a:p>
        </p:txBody>
      </p:sp>
      <p:sp>
        <p:nvSpPr>
          <p:cNvPr id="8" name="Shape 6"/>
          <p:cNvSpPr/>
          <p:nvPr/>
        </p:nvSpPr>
        <p:spPr>
          <a:xfrm>
            <a:off x="4361688" y="1417320"/>
            <a:ext cx="3456432" cy="3246120"/>
          </a:xfrm>
          <a:prstGeom prst="roundRect">
            <a:avLst>
              <a:gd name="adj" fmla="val 2254"/>
            </a:avLst>
          </a:prstGeom>
          <a:solidFill>
            <a:srgbClr val="DBEAFE"/>
          </a:solidFill>
          <a:ln w="12700">
            <a:solidFill>
              <a:srgbClr val="DBEAFE"/>
            </a:solidFill>
            <a:prstDash val="solid"/>
          </a:ln>
        </p:spPr>
      </p:sp>
      <p:sp>
        <p:nvSpPr>
          <p:cNvPr id="9" name="Text 7"/>
          <p:cNvSpPr/>
          <p:nvPr/>
        </p:nvSpPr>
        <p:spPr>
          <a:xfrm>
            <a:off x="4617720" y="1737360"/>
            <a:ext cx="658368" cy="320040"/>
          </a:xfrm>
          <a:prstGeom prst="rect">
            <a:avLst/>
          </a:prstGeom>
          <a:noFill/>
          <a:ln/>
        </p:spPr>
        <p:txBody>
          <a:bodyPr wrap="square" lIns="0" tIns="0" rIns="0" bIns="0" rtlCol="0" anchor="ctr"/>
          <a:lstStyle/>
          <a:p>
            <a:pPr indent="0" marL="0">
              <a:buNone/>
            </a:pPr>
            <a:r>
              <a:rPr lang="en-US" sz="1900" b="1" dirty="0">
                <a:solidFill>
                  <a:srgbClr val="2563EB"/>
                </a:solidFill>
                <a:latin typeface="Cambria" pitchFamily="34" charset="0"/>
                <a:ea typeface="Cambria" pitchFamily="34" charset="-122"/>
                <a:cs typeface="Cambria" pitchFamily="34" charset="-120"/>
              </a:rPr>
              <a:t>RQ2</a:t>
            </a:r>
            <a:endParaRPr lang="en-US" sz="1900" dirty="0"/>
          </a:p>
        </p:txBody>
      </p:sp>
      <p:sp>
        <p:nvSpPr>
          <p:cNvPr id="10" name="Text 8"/>
          <p:cNvSpPr/>
          <p:nvPr/>
        </p:nvSpPr>
        <p:spPr>
          <a:xfrm>
            <a:off x="4617720" y="2240280"/>
            <a:ext cx="2907792" cy="658368"/>
          </a:xfrm>
          <a:prstGeom prst="rect">
            <a:avLst/>
          </a:prstGeom>
          <a:noFill/>
          <a:ln/>
        </p:spPr>
        <p:txBody>
          <a:bodyPr wrap="square" lIns="0" tIns="0" rIns="0" bIns="0" rtlCol="0" anchor="ctr">
            <a:normAutofit/>
          </a:bodyPr>
          <a:lstStyle/>
          <a:p>
            <a:pPr indent="0" marL="0">
              <a:buNone/>
            </a:pPr>
            <a:r>
              <a:rPr lang="en-US" sz="1700" b="1" dirty="0">
                <a:solidFill>
                  <a:srgbClr val="172033"/>
                </a:solidFill>
                <a:latin typeface="Calibri" pitchFamily="34" charset="0"/>
                <a:ea typeface="Calibri" pitchFamily="34" charset="-122"/>
                <a:cs typeface="Calibri" pitchFamily="34" charset="-120"/>
              </a:rPr>
              <a:t>Đo bất nhất như thế nào?</a:t>
            </a:r>
            <a:endParaRPr lang="en-US" sz="1700" dirty="0"/>
          </a:p>
        </p:txBody>
      </p:sp>
      <p:sp>
        <p:nvSpPr>
          <p:cNvPr id="11" name="Text 9"/>
          <p:cNvSpPr/>
          <p:nvPr/>
        </p:nvSpPr>
        <p:spPr>
          <a:xfrm>
            <a:off x="4617720" y="3154680"/>
            <a:ext cx="2907792" cy="987552"/>
          </a:xfrm>
          <a:prstGeom prst="rect">
            <a:avLst/>
          </a:prstGeom>
          <a:noFill/>
          <a:ln/>
        </p:spPr>
        <p:txBody>
          <a:bodyPr wrap="square" lIns="0" tIns="0" rIns="0" bIns="0" rtlCol="0" anchor="ctr">
            <a:normAutofit/>
          </a:bodyPr>
          <a:lstStyle/>
          <a:p>
            <a:pPr indent="0" marL="0">
              <a:buNone/>
            </a:pPr>
            <a:r>
              <a:rPr lang="en-US" sz="1300" dirty="0">
                <a:solidFill>
                  <a:srgbClr val="475569"/>
                </a:solidFill>
                <a:latin typeface="Calibri" pitchFamily="34" charset="0"/>
                <a:ea typeface="Calibri" pitchFamily="34" charset="-122"/>
                <a:cs typeface="Calibri" pitchFamily="34" charset="-120"/>
              </a:rPr>
              <a:t>Chọn phép đo cấp khía cạnh giữ cả độ lớn và chiều.</a:t>
            </a:r>
            <a:endParaRPr lang="en-US" sz="1300" dirty="0"/>
          </a:p>
        </p:txBody>
      </p:sp>
      <p:sp>
        <p:nvSpPr>
          <p:cNvPr id="12" name="Shape 10"/>
          <p:cNvSpPr/>
          <p:nvPr/>
        </p:nvSpPr>
        <p:spPr>
          <a:xfrm>
            <a:off x="8065008" y="1417320"/>
            <a:ext cx="3456432" cy="3246120"/>
          </a:xfrm>
          <a:prstGeom prst="roundRect">
            <a:avLst>
              <a:gd name="adj" fmla="val 2254"/>
            </a:avLst>
          </a:prstGeom>
          <a:solidFill>
            <a:srgbClr val="CCFBF1"/>
          </a:solidFill>
          <a:ln w="12700">
            <a:solidFill>
              <a:srgbClr val="CCFBF1"/>
            </a:solidFill>
            <a:prstDash val="solid"/>
          </a:ln>
        </p:spPr>
      </p:sp>
      <p:sp>
        <p:nvSpPr>
          <p:cNvPr id="13" name="Text 11"/>
          <p:cNvSpPr/>
          <p:nvPr/>
        </p:nvSpPr>
        <p:spPr>
          <a:xfrm>
            <a:off x="8321040" y="1737360"/>
            <a:ext cx="658368" cy="320040"/>
          </a:xfrm>
          <a:prstGeom prst="rect">
            <a:avLst/>
          </a:prstGeom>
          <a:noFill/>
          <a:ln/>
        </p:spPr>
        <p:txBody>
          <a:bodyPr wrap="square" lIns="0" tIns="0" rIns="0" bIns="0" rtlCol="0" anchor="ctr"/>
          <a:lstStyle/>
          <a:p>
            <a:pPr indent="0" marL="0">
              <a:buNone/>
            </a:pPr>
            <a:r>
              <a:rPr lang="en-US" sz="1900" b="1" dirty="0">
                <a:solidFill>
                  <a:srgbClr val="0F766E"/>
                </a:solidFill>
                <a:latin typeface="Cambria" pitchFamily="34" charset="0"/>
                <a:ea typeface="Cambria" pitchFamily="34" charset="-122"/>
                <a:cs typeface="Cambria" pitchFamily="34" charset="-120"/>
              </a:rPr>
              <a:t>RQ3</a:t>
            </a:r>
            <a:endParaRPr lang="en-US" sz="1900" dirty="0"/>
          </a:p>
        </p:txBody>
      </p:sp>
      <p:sp>
        <p:nvSpPr>
          <p:cNvPr id="14" name="Text 12"/>
          <p:cNvSpPr/>
          <p:nvPr/>
        </p:nvSpPr>
        <p:spPr>
          <a:xfrm>
            <a:off x="8321040" y="2240280"/>
            <a:ext cx="2907792" cy="658368"/>
          </a:xfrm>
          <a:prstGeom prst="rect">
            <a:avLst/>
          </a:prstGeom>
          <a:noFill/>
          <a:ln/>
        </p:spPr>
        <p:txBody>
          <a:bodyPr wrap="square" lIns="0" tIns="0" rIns="0" bIns="0" rtlCol="0" anchor="ctr">
            <a:normAutofit/>
          </a:bodyPr>
          <a:lstStyle/>
          <a:p>
            <a:pPr indent="0" marL="0">
              <a:buNone/>
            </a:pPr>
            <a:r>
              <a:rPr lang="en-US" sz="1700" b="1" dirty="0">
                <a:solidFill>
                  <a:srgbClr val="172033"/>
                </a:solidFill>
                <a:latin typeface="Calibri" pitchFamily="34" charset="0"/>
                <a:ea typeface="Calibri" pitchFamily="34" charset="-122"/>
                <a:cs typeface="Calibri" pitchFamily="34" charset="-120"/>
              </a:rPr>
              <a:t>Yếu tố nào đệm hoặc phạt điểm?</a:t>
            </a:r>
            <a:endParaRPr lang="en-US" sz="1700" dirty="0"/>
          </a:p>
        </p:txBody>
      </p:sp>
      <p:sp>
        <p:nvSpPr>
          <p:cNvPr id="15" name="Text 13"/>
          <p:cNvSpPr/>
          <p:nvPr/>
        </p:nvSpPr>
        <p:spPr>
          <a:xfrm>
            <a:off x="8321040" y="3154680"/>
            <a:ext cx="2907792" cy="987552"/>
          </a:xfrm>
          <a:prstGeom prst="rect">
            <a:avLst/>
          </a:prstGeom>
          <a:noFill/>
          <a:ln/>
        </p:spPr>
        <p:txBody>
          <a:bodyPr wrap="square" lIns="0" tIns="0" rIns="0" bIns="0" rtlCol="0" anchor="ctr">
            <a:normAutofit/>
          </a:bodyPr>
          <a:lstStyle/>
          <a:p>
            <a:pPr indent="0" marL="0">
              <a:buNone/>
            </a:pPr>
            <a:r>
              <a:rPr lang="en-US" sz="1300" dirty="0">
                <a:solidFill>
                  <a:srgbClr val="475569"/>
                </a:solidFill>
                <a:latin typeface="Calibri" pitchFamily="34" charset="0"/>
                <a:ea typeface="Calibri" pitchFamily="34" charset="-122"/>
                <a:cs typeface="Calibri" pitchFamily="34" charset="-120"/>
              </a:rPr>
              <a:t>Kiểm định liệu Service tích cực có đệm cho lỗi Facility và nhận diện các khía cạnh gây phạt điểm.</a:t>
            </a:r>
            <a:endParaRPr lang="en-US" sz="1300" dirty="0"/>
          </a:p>
        </p:txBody>
      </p:sp>
      <p:sp>
        <p:nvSpPr>
          <p:cNvPr id="16" name="Shape 14"/>
          <p:cNvSpPr/>
          <p:nvPr/>
        </p:nvSpPr>
        <p:spPr>
          <a:xfrm>
            <a:off x="1170432" y="5074920"/>
            <a:ext cx="9857232" cy="658368"/>
          </a:xfrm>
          <a:prstGeom prst="roundRect">
            <a:avLst>
              <a:gd name="adj" fmla="val 11111"/>
            </a:avLst>
          </a:prstGeom>
          <a:solidFill>
            <a:srgbClr val="0B1220"/>
          </a:solidFill>
          <a:ln w="12700">
            <a:solidFill>
              <a:srgbClr val="0B1220"/>
            </a:solidFill>
            <a:prstDash val="solid"/>
          </a:ln>
        </p:spPr>
      </p:sp>
      <p:sp>
        <p:nvSpPr>
          <p:cNvPr id="17" name="Text 15"/>
          <p:cNvSpPr/>
          <p:nvPr/>
        </p:nvSpPr>
        <p:spPr>
          <a:xfrm>
            <a:off x="1444752" y="5285232"/>
            <a:ext cx="1691640" cy="219456"/>
          </a:xfrm>
          <a:prstGeom prst="rect">
            <a:avLst/>
          </a:prstGeom>
          <a:noFill/>
          <a:ln/>
        </p:spPr>
        <p:txBody>
          <a:bodyPr wrap="square" lIns="0" tIns="0" rIns="0" bIns="0" rtlCol="0" anchor="ctr"/>
          <a:lstStyle/>
          <a:p>
            <a:pPr indent="0" marL="0">
              <a:buNone/>
            </a:pPr>
            <a:r>
              <a:rPr lang="en-US" sz="1250" b="1" dirty="0">
                <a:solidFill>
                  <a:srgbClr val="CCFBF1"/>
                </a:solidFill>
                <a:latin typeface="Calibri" pitchFamily="34" charset="0"/>
                <a:ea typeface="Calibri" pitchFamily="34" charset="-122"/>
                <a:cs typeface="Calibri" pitchFamily="34" charset="-120"/>
              </a:rPr>
              <a:t>Đóng góp phương pháp</a:t>
            </a:r>
            <a:endParaRPr lang="en-US" sz="1250" dirty="0"/>
          </a:p>
        </p:txBody>
      </p:sp>
      <p:sp>
        <p:nvSpPr>
          <p:cNvPr id="18" name="Text 16"/>
          <p:cNvSpPr/>
          <p:nvPr/>
        </p:nvSpPr>
        <p:spPr>
          <a:xfrm>
            <a:off x="3063240" y="5239512"/>
            <a:ext cx="7571232" cy="292608"/>
          </a:xfrm>
          <a:prstGeom prst="rect">
            <a:avLst/>
          </a:prstGeom>
          <a:noFill/>
          <a:ln/>
        </p:spPr>
        <p:txBody>
          <a:bodyPr wrap="square" lIns="0" tIns="0" rIns="0" bIns="0" rtlCol="0" anchor="ctr">
            <a:normAutofit/>
          </a:bodyPr>
          <a:lstStyle/>
          <a:p>
            <a:pPr indent="0" marL="0">
              <a:buNone/>
            </a:pPr>
            <a:r>
              <a:rPr lang="en-US" sz="1450" b="1" dirty="0">
                <a:solidFill>
                  <a:srgbClr val="FFFFFF"/>
                </a:solidFill>
                <a:latin typeface="Calibri" pitchFamily="34" charset="0"/>
                <a:ea typeface="Calibri" pitchFamily="34" charset="-122"/>
                <a:cs typeface="Calibri" pitchFamily="34" charset="-120"/>
              </a:rPr>
              <a:t>Độ lệch có dấu cấp khía cạnh + benchmark nhãn người có đối chứng + hành vi điểm số quan sát được</a:t>
            </a:r>
            <a:endParaRPr lang="en-US" sz="1450" dirty="0"/>
          </a:p>
        </p:txBody>
      </p:sp>
      <p:sp>
        <p:nvSpPr>
          <p:cNvPr id="19" name="Text 17"/>
          <p:cNvSpPr/>
          <p:nvPr/>
        </p:nvSpPr>
        <p:spPr>
          <a:xfrm>
            <a:off x="3063240" y="5486400"/>
            <a:ext cx="5852160" cy="164592"/>
          </a:xfrm>
          <a:prstGeom prst="rect">
            <a:avLst/>
          </a:prstGeom>
          <a:noFill/>
          <a:ln/>
        </p:spPr>
        <p:txBody>
          <a:bodyPr wrap="square" lIns="0" tIns="0" rIns="0" bIns="0" rtlCol="0" anchor="ctr"/>
          <a:lstStyle/>
          <a:p>
            <a:pPr indent="0" marL="0">
              <a:buNone/>
            </a:pPr>
            <a:r>
              <a:rPr lang="en-US" sz="1050" i="1" dirty="0">
                <a:solidFill>
                  <a:srgbClr val="CBD5E1"/>
                </a:solidFill>
                <a:latin typeface="Calibri" pitchFamily="34" charset="0"/>
                <a:ea typeface="Calibri" pitchFamily="34" charset="-122"/>
                <a:cs typeface="Calibri" pitchFamily="34" charset="-120"/>
              </a:rPr>
              <a:t>Trạng thái: bản nháp — cần thống nhất với giảng viên trước khi ban hành.</a:t>
            </a:r>
            <a:endParaRPr lang="en-US" sz="1050" dirty="0"/>
          </a:p>
        </p:txBody>
      </p:sp>
      <p:sp>
        <p:nvSpPr>
          <p:cNvPr id="20" name="Text 18"/>
          <p:cNvSpPr/>
          <p:nvPr/>
        </p:nvSpPr>
        <p:spPr>
          <a:xfrm>
            <a:off x="640080" y="6172200"/>
            <a:ext cx="10607040" cy="164592"/>
          </a:xfrm>
          <a:prstGeom prst="rect">
            <a:avLst/>
          </a:prstGeom>
          <a:noFill/>
          <a:ln/>
        </p:spPr>
        <p:txBody>
          <a:bodyPr wrap="square" lIns="0" tIns="0" rIns="0" bIns="0" rtlCol="0" anchor="ctr">
            <a:normAutofit/>
          </a:bodyPr>
          <a:lstStyle/>
          <a:p>
            <a:pPr indent="0" marL="0">
              <a:buNone/>
            </a:pPr>
            <a:r>
              <a:rPr lang="en-US" sz="850" i="1" dirty="0">
                <a:solidFill>
                  <a:srgbClr val="64748B"/>
                </a:solidFill>
                <a:latin typeface="Calibri" pitchFamily="34" charset="0"/>
                <a:ea typeface="Calibri" pitchFamily="34" charset="-122"/>
                <a:cs typeface="Calibri" pitchFamily="34" charset="-120"/>
              </a:rPr>
              <a:t>Nguồn: tổng quan dự án và bản nháp Research Proposal; các RQ chưa phải quyết định chính thức.</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indent="0" marL="0">
              <a:buNone/>
            </a:pPr>
            <a:r>
              <a:rPr lang="en-US" sz="1000" b="1" spc="120" kern="0" dirty="0">
                <a:solidFill>
                  <a:srgbClr val="0F766E"/>
                </a:solidFill>
                <a:latin typeface="Calibri" pitchFamily="34" charset="0"/>
                <a:ea typeface="Calibri" pitchFamily="34" charset="-122"/>
                <a:cs typeface="Calibri" pitchFamily="34" charset="-120"/>
              </a:rPr>
              <a:t>KIỂM ĐỊNH CÓ MỤC TIÊU</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indent="0" marL="0">
              <a:buNone/>
            </a:pPr>
            <a:r>
              <a:rPr lang="en-US" sz="2900" b="1" dirty="0">
                <a:solidFill>
                  <a:srgbClr val="172033"/>
                </a:solidFill>
                <a:latin typeface="Cambria" pitchFamily="34" charset="0"/>
                <a:ea typeface="Cambria" pitchFamily="34" charset="-122"/>
                <a:cs typeface="Cambria" pitchFamily="34" charset="-120"/>
              </a:rPr>
              <a:t>Bước tiếp theo: xây dựng benchmark có đối chứng</a:t>
            </a:r>
            <a:endParaRPr lang="en-US" sz="2900" dirty="0"/>
          </a:p>
        </p:txBody>
      </p:sp>
      <p:sp>
        <p:nvSpPr>
          <p:cNvPr id="4" name="Shape 2"/>
          <p:cNvSpPr/>
          <p:nvPr/>
        </p:nvSpPr>
        <p:spPr>
          <a:xfrm>
            <a:off x="658368" y="1389888"/>
            <a:ext cx="2176272" cy="1691640"/>
          </a:xfrm>
          <a:prstGeom prst="roundRect">
            <a:avLst>
              <a:gd name="adj" fmla="val 4324"/>
            </a:avLst>
          </a:prstGeom>
          <a:solidFill>
            <a:srgbClr val="FFE4E6"/>
          </a:solidFill>
          <a:ln w="12700">
            <a:solidFill>
              <a:srgbClr val="FFE4E6"/>
            </a:solidFill>
            <a:prstDash val="solid"/>
          </a:ln>
        </p:spPr>
      </p:sp>
      <p:sp>
        <p:nvSpPr>
          <p:cNvPr id="5" name="Text 3"/>
          <p:cNvSpPr/>
          <p:nvPr/>
        </p:nvSpPr>
        <p:spPr>
          <a:xfrm>
            <a:off x="841248" y="1645920"/>
            <a:ext cx="1810512" cy="365760"/>
          </a:xfrm>
          <a:prstGeom prst="rect">
            <a:avLst/>
          </a:prstGeom>
          <a:noFill/>
          <a:ln/>
        </p:spPr>
        <p:txBody>
          <a:bodyPr wrap="square" lIns="0" tIns="0" rIns="0" bIns="0" rtlCol="0" anchor="ctr">
            <a:normAutofit/>
          </a:bodyPr>
          <a:lstStyle/>
          <a:p>
            <a:pPr algn="ctr" indent="0" marL="0">
              <a:buNone/>
            </a:pPr>
            <a:r>
              <a:rPr lang="en-US" sz="2500" b="1" dirty="0">
                <a:solidFill>
                  <a:srgbClr val="E11D48"/>
                </a:solidFill>
                <a:latin typeface="Cambria" pitchFamily="34" charset="0"/>
                <a:ea typeface="Cambria" pitchFamily="34" charset="-122"/>
                <a:cs typeface="Cambria" pitchFamily="34" charset="-120"/>
              </a:rPr>
              <a:t>404</a:t>
            </a:r>
            <a:endParaRPr lang="en-US" sz="2500" dirty="0"/>
          </a:p>
        </p:txBody>
      </p:sp>
      <p:sp>
        <p:nvSpPr>
          <p:cNvPr id="6" name="Text 4"/>
          <p:cNvSpPr/>
          <p:nvPr/>
        </p:nvSpPr>
        <p:spPr>
          <a:xfrm>
            <a:off x="841248" y="2139696"/>
            <a:ext cx="1810512" cy="384048"/>
          </a:xfrm>
          <a:prstGeom prst="rect">
            <a:avLst/>
          </a:prstGeom>
          <a:noFill/>
          <a:ln/>
        </p:spPr>
        <p:txBody>
          <a:bodyPr wrap="square" lIns="0" tIns="0" rIns="0" bIns="0" rtlCol="0" anchor="ctr">
            <a:normAutofit/>
          </a:bodyPr>
          <a:lstStyle/>
          <a:p>
            <a:pPr algn="ctr" indent="0" marL="0">
              <a:buNone/>
            </a:pPr>
            <a:r>
              <a:rPr lang="en-US" sz="1250" b="1" dirty="0">
                <a:solidFill>
                  <a:srgbClr val="172033"/>
                </a:solidFill>
                <a:latin typeface="Calibri" pitchFamily="34" charset="0"/>
                <a:ea typeface="Calibri" pitchFamily="34" charset="-122"/>
                <a:cs typeface="Calibri" pitchFamily="34" charset="-120"/>
              </a:rPr>
              <a:t>Điểm cao + đoạn tiêu cực</a:t>
            </a:r>
            <a:endParaRPr lang="en-US" sz="1250" dirty="0"/>
          </a:p>
        </p:txBody>
      </p:sp>
      <p:sp>
        <p:nvSpPr>
          <p:cNvPr id="7" name="Text 5"/>
          <p:cNvSpPr/>
          <p:nvPr/>
        </p:nvSpPr>
        <p:spPr>
          <a:xfrm>
            <a:off x="841248" y="2633472"/>
            <a:ext cx="1810512" cy="256032"/>
          </a:xfrm>
          <a:prstGeom prst="rect">
            <a:avLst/>
          </a:prstGeom>
          <a:noFill/>
          <a:ln/>
        </p:spPr>
        <p:txBody>
          <a:bodyPr wrap="square" lIns="0" tIns="0" rIns="0" bIns="0" rtlCol="0" anchor="ctr">
            <a:normAutofit/>
          </a:bodyPr>
          <a:lstStyle/>
          <a:p>
            <a:pPr algn="ctr" indent="0" marL="0">
              <a:buNone/>
            </a:pPr>
            <a:r>
              <a:rPr lang="en-US" sz="1050" dirty="0">
                <a:solidFill>
                  <a:srgbClr val="475569"/>
                </a:solidFill>
                <a:latin typeface="Calibri" pitchFamily="34" charset="0"/>
                <a:ea typeface="Calibri" pitchFamily="34" charset="-122"/>
                <a:cs typeface="Calibri" pitchFamily="34" charset="-120"/>
              </a:rPr>
              <a:t>Chiều tấm đệm nghi vấn</a:t>
            </a:r>
            <a:endParaRPr lang="en-US" sz="1050" dirty="0"/>
          </a:p>
        </p:txBody>
      </p:sp>
      <p:sp>
        <p:nvSpPr>
          <p:cNvPr id="8" name="Shape 6"/>
          <p:cNvSpPr/>
          <p:nvPr/>
        </p:nvSpPr>
        <p:spPr>
          <a:xfrm>
            <a:off x="3090672" y="1389888"/>
            <a:ext cx="2176272" cy="1691640"/>
          </a:xfrm>
          <a:prstGeom prst="roundRect">
            <a:avLst>
              <a:gd name="adj" fmla="val 4324"/>
            </a:avLst>
          </a:prstGeom>
          <a:solidFill>
            <a:srgbClr val="FEF3C7"/>
          </a:solidFill>
          <a:ln w="12700">
            <a:solidFill>
              <a:srgbClr val="FEF3C7"/>
            </a:solidFill>
            <a:prstDash val="solid"/>
          </a:ln>
        </p:spPr>
      </p:sp>
      <p:sp>
        <p:nvSpPr>
          <p:cNvPr id="9" name="Text 7"/>
          <p:cNvSpPr/>
          <p:nvPr/>
        </p:nvSpPr>
        <p:spPr>
          <a:xfrm>
            <a:off x="3273552" y="1645920"/>
            <a:ext cx="1810512" cy="365760"/>
          </a:xfrm>
          <a:prstGeom prst="rect">
            <a:avLst/>
          </a:prstGeom>
          <a:noFill/>
          <a:ln/>
        </p:spPr>
        <p:txBody>
          <a:bodyPr wrap="square" lIns="0" tIns="0" rIns="0" bIns="0" rtlCol="0" anchor="ctr">
            <a:normAutofit/>
          </a:bodyPr>
          <a:lstStyle/>
          <a:p>
            <a:pPr algn="ctr" indent="0" marL="0">
              <a:buNone/>
            </a:pPr>
            <a:r>
              <a:rPr lang="en-US" sz="2500" b="1" dirty="0">
                <a:solidFill>
                  <a:srgbClr val="D97706"/>
                </a:solidFill>
                <a:latin typeface="Cambria" pitchFamily="34" charset="0"/>
                <a:ea typeface="Cambria" pitchFamily="34" charset="-122"/>
                <a:cs typeface="Cambria" pitchFamily="34" charset="-120"/>
              </a:rPr>
              <a:t>199</a:t>
            </a:r>
            <a:endParaRPr lang="en-US" sz="2500" dirty="0"/>
          </a:p>
        </p:txBody>
      </p:sp>
      <p:sp>
        <p:nvSpPr>
          <p:cNvPr id="10" name="Text 8"/>
          <p:cNvSpPr/>
          <p:nvPr/>
        </p:nvSpPr>
        <p:spPr>
          <a:xfrm>
            <a:off x="3273552" y="2139696"/>
            <a:ext cx="1810512" cy="384048"/>
          </a:xfrm>
          <a:prstGeom prst="rect">
            <a:avLst/>
          </a:prstGeom>
          <a:noFill/>
          <a:ln/>
        </p:spPr>
        <p:txBody>
          <a:bodyPr wrap="square" lIns="0" tIns="0" rIns="0" bIns="0" rtlCol="0" anchor="ctr">
            <a:normAutofit/>
          </a:bodyPr>
          <a:lstStyle/>
          <a:p>
            <a:pPr algn="ctr" indent="0" marL="0">
              <a:buNone/>
            </a:pPr>
            <a:r>
              <a:rPr lang="en-US" sz="1250" b="1" dirty="0">
                <a:solidFill>
                  <a:srgbClr val="172033"/>
                </a:solidFill>
                <a:latin typeface="Calibri" pitchFamily="34" charset="0"/>
                <a:ea typeface="Calibri" pitchFamily="34" charset="-122"/>
                <a:cs typeface="Calibri" pitchFamily="34" charset="-120"/>
              </a:rPr>
              <a:t>Điểm thấp + đoạn tích cực</a:t>
            </a:r>
            <a:endParaRPr lang="en-US" sz="1250" dirty="0"/>
          </a:p>
        </p:txBody>
      </p:sp>
      <p:sp>
        <p:nvSpPr>
          <p:cNvPr id="11" name="Text 9"/>
          <p:cNvSpPr/>
          <p:nvPr/>
        </p:nvSpPr>
        <p:spPr>
          <a:xfrm>
            <a:off x="3273552" y="2633472"/>
            <a:ext cx="1810512" cy="256032"/>
          </a:xfrm>
          <a:prstGeom prst="rect">
            <a:avLst/>
          </a:prstGeom>
          <a:noFill/>
          <a:ln/>
        </p:spPr>
        <p:txBody>
          <a:bodyPr wrap="square" lIns="0" tIns="0" rIns="0" bIns="0" rtlCol="0" anchor="ctr">
            <a:normAutofit/>
          </a:bodyPr>
          <a:lstStyle/>
          <a:p>
            <a:pPr algn="ctr" indent="0" marL="0">
              <a:buNone/>
            </a:pPr>
            <a:r>
              <a:rPr lang="en-US" sz="1050" dirty="0">
                <a:solidFill>
                  <a:srgbClr val="475569"/>
                </a:solidFill>
                <a:latin typeface="Calibri" pitchFamily="34" charset="0"/>
                <a:ea typeface="Calibri" pitchFamily="34" charset="-122"/>
                <a:cs typeface="Calibri" pitchFamily="34" charset="-120"/>
              </a:rPr>
              <a:t>Ca đối xứng / trừng phạt nghi vấn</a:t>
            </a:r>
            <a:endParaRPr lang="en-US" sz="1050" dirty="0"/>
          </a:p>
        </p:txBody>
      </p:sp>
      <p:sp>
        <p:nvSpPr>
          <p:cNvPr id="12" name="Shape 10"/>
          <p:cNvSpPr/>
          <p:nvPr/>
        </p:nvSpPr>
        <p:spPr>
          <a:xfrm>
            <a:off x="5522976" y="1389888"/>
            <a:ext cx="2176272" cy="1691640"/>
          </a:xfrm>
          <a:prstGeom prst="roundRect">
            <a:avLst>
              <a:gd name="adj" fmla="val 4324"/>
            </a:avLst>
          </a:prstGeom>
          <a:solidFill>
            <a:srgbClr val="DBEAFE"/>
          </a:solidFill>
          <a:ln w="12700">
            <a:solidFill>
              <a:srgbClr val="DBEAFE"/>
            </a:solidFill>
            <a:prstDash val="solid"/>
          </a:ln>
        </p:spPr>
      </p:sp>
      <p:sp>
        <p:nvSpPr>
          <p:cNvPr id="13" name="Text 11"/>
          <p:cNvSpPr/>
          <p:nvPr/>
        </p:nvSpPr>
        <p:spPr>
          <a:xfrm>
            <a:off x="5705856" y="1645920"/>
            <a:ext cx="1810512" cy="365760"/>
          </a:xfrm>
          <a:prstGeom prst="rect">
            <a:avLst/>
          </a:prstGeom>
          <a:noFill/>
          <a:ln/>
        </p:spPr>
        <p:txBody>
          <a:bodyPr wrap="square" lIns="0" tIns="0" rIns="0" bIns="0" rtlCol="0" anchor="ctr">
            <a:normAutofit/>
          </a:bodyPr>
          <a:lstStyle/>
          <a:p>
            <a:pPr algn="ctr" indent="0" marL="0">
              <a:buNone/>
            </a:pPr>
            <a:r>
              <a:rPr lang="en-US" sz="1800" b="1" dirty="0">
                <a:solidFill>
                  <a:srgbClr val="2563EB"/>
                </a:solidFill>
                <a:latin typeface="Cambria" pitchFamily="34" charset="0"/>
                <a:ea typeface="Cambria" pitchFamily="34" charset="-122"/>
                <a:cs typeface="Cambria" pitchFamily="34" charset="-120"/>
              </a:rPr>
              <a:t>ĐỐI CHỨNG</a:t>
            </a:r>
            <a:endParaRPr lang="en-US" sz="1800" dirty="0"/>
          </a:p>
        </p:txBody>
      </p:sp>
      <p:sp>
        <p:nvSpPr>
          <p:cNvPr id="14" name="Text 12"/>
          <p:cNvSpPr/>
          <p:nvPr/>
        </p:nvSpPr>
        <p:spPr>
          <a:xfrm>
            <a:off x="5705856" y="2139696"/>
            <a:ext cx="1810512" cy="384048"/>
          </a:xfrm>
          <a:prstGeom prst="rect">
            <a:avLst/>
          </a:prstGeom>
          <a:noFill/>
          <a:ln/>
        </p:spPr>
        <p:txBody>
          <a:bodyPr wrap="square" lIns="0" tIns="0" rIns="0" bIns="0" rtlCol="0" anchor="ctr">
            <a:normAutofit/>
          </a:bodyPr>
          <a:lstStyle/>
          <a:p>
            <a:pPr algn="ctr" indent="0" marL="0">
              <a:buNone/>
            </a:pPr>
            <a:r>
              <a:rPr lang="en-US" sz="1250" b="1" dirty="0">
                <a:solidFill>
                  <a:srgbClr val="172033"/>
                </a:solidFill>
                <a:latin typeface="Calibri" pitchFamily="34" charset="0"/>
                <a:ea typeface="Calibri" pitchFamily="34" charset="-122"/>
                <a:cs typeface="Calibri" pitchFamily="34" charset="-120"/>
              </a:rPr>
              <a:t>Review nhất quán</a:t>
            </a:r>
            <a:endParaRPr lang="en-US" sz="1250" dirty="0"/>
          </a:p>
        </p:txBody>
      </p:sp>
      <p:sp>
        <p:nvSpPr>
          <p:cNvPr id="15" name="Text 13"/>
          <p:cNvSpPr/>
          <p:nvPr/>
        </p:nvSpPr>
        <p:spPr>
          <a:xfrm>
            <a:off x="5705856" y="2633472"/>
            <a:ext cx="1810512" cy="256032"/>
          </a:xfrm>
          <a:prstGeom prst="rect">
            <a:avLst/>
          </a:prstGeom>
          <a:noFill/>
          <a:ln/>
        </p:spPr>
        <p:txBody>
          <a:bodyPr wrap="square" lIns="0" tIns="0" rIns="0" bIns="0" rtlCol="0" anchor="ctr">
            <a:normAutofit/>
          </a:bodyPr>
          <a:lstStyle/>
          <a:p>
            <a:pPr algn="ctr" indent="0" marL="0">
              <a:buNone/>
            </a:pPr>
            <a:r>
              <a:rPr lang="en-US" sz="1050" dirty="0">
                <a:solidFill>
                  <a:srgbClr val="475569"/>
                </a:solidFill>
                <a:latin typeface="Calibri" pitchFamily="34" charset="0"/>
                <a:ea typeface="Calibri" pitchFamily="34" charset="-122"/>
                <a:cs typeface="Calibri" pitchFamily="34" charset="-120"/>
              </a:rPr>
              <a:t>Cả hai cực điểm</a:t>
            </a:r>
            <a:endParaRPr lang="en-US" sz="1050" dirty="0"/>
          </a:p>
        </p:txBody>
      </p:sp>
      <p:sp>
        <p:nvSpPr>
          <p:cNvPr id="16" name="Shape 14"/>
          <p:cNvSpPr/>
          <p:nvPr/>
        </p:nvSpPr>
        <p:spPr>
          <a:xfrm>
            <a:off x="7790688" y="2221992"/>
            <a:ext cx="548640" cy="0"/>
          </a:xfrm>
          <a:prstGeom prst="line">
            <a:avLst/>
          </a:prstGeom>
          <a:noFill/>
          <a:ln w="31750">
            <a:solidFill>
              <a:srgbClr val="64748B"/>
            </a:solidFill>
            <a:prstDash val="solid"/>
            <a:tailEnd type="triangle"/>
          </a:ln>
        </p:spPr>
      </p:sp>
      <p:sp>
        <p:nvSpPr>
          <p:cNvPr id="17" name="Shape 15"/>
          <p:cNvSpPr/>
          <p:nvPr/>
        </p:nvSpPr>
        <p:spPr>
          <a:xfrm>
            <a:off x="8458200" y="1389888"/>
            <a:ext cx="3090672" cy="1691640"/>
          </a:xfrm>
          <a:prstGeom prst="roundRect">
            <a:avLst>
              <a:gd name="adj" fmla="val 4324"/>
            </a:avLst>
          </a:prstGeom>
          <a:solidFill>
            <a:srgbClr val="CCFBF1"/>
          </a:solidFill>
          <a:ln w="12700">
            <a:solidFill>
              <a:srgbClr val="CCFBF1"/>
            </a:solidFill>
            <a:prstDash val="solid"/>
          </a:ln>
        </p:spPr>
      </p:sp>
      <p:sp>
        <p:nvSpPr>
          <p:cNvPr id="18" name="Text 16"/>
          <p:cNvSpPr/>
          <p:nvPr/>
        </p:nvSpPr>
        <p:spPr>
          <a:xfrm>
            <a:off x="8732520" y="1700784"/>
            <a:ext cx="2542032" cy="384048"/>
          </a:xfrm>
          <a:prstGeom prst="rect">
            <a:avLst/>
          </a:prstGeom>
          <a:noFill/>
          <a:ln/>
        </p:spPr>
        <p:txBody>
          <a:bodyPr wrap="square" lIns="0" tIns="0" rIns="0" bIns="0" rtlCol="0" anchor="ctr"/>
          <a:lstStyle/>
          <a:p>
            <a:pPr algn="ctr" indent="0" marL="0">
              <a:buNone/>
            </a:pPr>
            <a:r>
              <a:rPr lang="en-US" sz="2200" b="1" dirty="0">
                <a:solidFill>
                  <a:srgbClr val="0F766E"/>
                </a:solidFill>
                <a:latin typeface="Cambria" pitchFamily="34" charset="0"/>
                <a:ea typeface="Cambria" pitchFamily="34" charset="-122"/>
                <a:cs typeface="Cambria" pitchFamily="34" charset="-120"/>
              </a:rPr>
              <a:t>600–800 mẫu</a:t>
            </a:r>
            <a:endParaRPr lang="en-US" sz="2200" dirty="0"/>
          </a:p>
        </p:txBody>
      </p:sp>
      <p:sp>
        <p:nvSpPr>
          <p:cNvPr id="19" name="Text 17"/>
          <p:cNvSpPr/>
          <p:nvPr/>
        </p:nvSpPr>
        <p:spPr>
          <a:xfrm>
            <a:off x="8732520" y="2286000"/>
            <a:ext cx="2542032" cy="420624"/>
          </a:xfrm>
          <a:prstGeom prst="rect">
            <a:avLst/>
          </a:prstGeom>
          <a:noFill/>
          <a:ln/>
        </p:spPr>
        <p:txBody>
          <a:bodyPr wrap="square" lIns="0" tIns="0" rIns="0" bIns="0" rtlCol="0" anchor="ctr">
            <a:normAutofit/>
          </a:bodyPr>
          <a:lstStyle/>
          <a:p>
            <a:pPr algn="ctr" indent="0" marL="0">
              <a:buNone/>
            </a:pPr>
            <a:r>
              <a:rPr lang="en-US" sz="1250" b="1" dirty="0">
                <a:solidFill>
                  <a:srgbClr val="172033"/>
                </a:solidFill>
                <a:latin typeface="Calibri" pitchFamily="34" charset="0"/>
                <a:ea typeface="Calibri" pitchFamily="34" charset="-122"/>
                <a:cs typeface="Calibri" pitchFamily="34" charset="-120"/>
              </a:rPr>
              <a:t>tập kiểm định mục tiêu giữ prevalence tự nhiên</a:t>
            </a:r>
            <a:endParaRPr lang="en-US" sz="1250" dirty="0"/>
          </a:p>
        </p:txBody>
      </p:sp>
      <p:sp>
        <p:nvSpPr>
          <p:cNvPr id="20" name="Shape 18"/>
          <p:cNvSpPr/>
          <p:nvPr/>
        </p:nvSpPr>
        <p:spPr>
          <a:xfrm>
            <a:off x="658368" y="3767328"/>
            <a:ext cx="3246120" cy="1097280"/>
          </a:xfrm>
          <a:prstGeom prst="roundRect">
            <a:avLst>
              <a:gd name="adj" fmla="val 6667"/>
            </a:avLst>
          </a:prstGeom>
          <a:solidFill>
            <a:srgbClr val="DBEAFE"/>
          </a:solidFill>
          <a:ln w="12700">
            <a:solidFill>
              <a:srgbClr val="DBEAFE"/>
            </a:solidFill>
            <a:prstDash val="solid"/>
          </a:ln>
        </p:spPr>
      </p:sp>
      <p:sp>
        <p:nvSpPr>
          <p:cNvPr id="21" name="Shape 19"/>
          <p:cNvSpPr/>
          <p:nvPr/>
        </p:nvSpPr>
        <p:spPr>
          <a:xfrm>
            <a:off x="822960" y="3931920"/>
            <a:ext cx="347472" cy="347472"/>
          </a:xfrm>
          <a:prstGeom prst="ellipse">
            <a:avLst/>
          </a:prstGeom>
          <a:solidFill>
            <a:srgbClr val="2563EB"/>
          </a:solidFill>
          <a:ln w="12700">
            <a:solidFill>
              <a:srgbClr val="2563EB"/>
            </a:solidFill>
            <a:prstDash val="solid"/>
          </a:ln>
        </p:spPr>
      </p:sp>
      <p:sp>
        <p:nvSpPr>
          <p:cNvPr id="22" name="Text 20"/>
          <p:cNvSpPr/>
          <p:nvPr/>
        </p:nvSpPr>
        <p:spPr>
          <a:xfrm>
            <a:off x="822960" y="3991356"/>
            <a:ext cx="347472" cy="1371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3" name="Text 21"/>
          <p:cNvSpPr/>
          <p:nvPr/>
        </p:nvSpPr>
        <p:spPr>
          <a:xfrm>
            <a:off x="1280160" y="3922776"/>
            <a:ext cx="2459736" cy="228600"/>
          </a:xfrm>
          <a:prstGeom prst="rect">
            <a:avLst/>
          </a:prstGeom>
          <a:noFill/>
          <a:ln/>
        </p:spPr>
        <p:txBody>
          <a:bodyPr wrap="square" lIns="0" tIns="0" rIns="0" bIns="0" rtlCol="0" anchor="ctr">
            <a:normAutofit/>
          </a:bodyPr>
          <a:lstStyle/>
          <a:p>
            <a:pPr indent="0" marL="0">
              <a:buNone/>
            </a:pPr>
            <a:r>
              <a:rPr lang="en-US" sz="1400" b="1" dirty="0">
                <a:solidFill>
                  <a:srgbClr val="172033"/>
                </a:solidFill>
                <a:latin typeface="Calibri" pitchFamily="34" charset="0"/>
                <a:ea typeface="Calibri" pitchFamily="34" charset="-122"/>
                <a:cs typeface="Calibri" pitchFamily="34" charset="-120"/>
              </a:rPr>
              <a:t>Hiệu chuẩn độc lập</a:t>
            </a:r>
            <a:endParaRPr lang="en-US" sz="1400" dirty="0"/>
          </a:p>
        </p:txBody>
      </p:sp>
      <p:sp>
        <p:nvSpPr>
          <p:cNvPr id="24" name="Text 22"/>
          <p:cNvSpPr/>
          <p:nvPr/>
        </p:nvSpPr>
        <p:spPr>
          <a:xfrm>
            <a:off x="822960" y="4325112"/>
            <a:ext cx="2916936" cy="384048"/>
          </a:xfrm>
          <a:prstGeom prst="rect">
            <a:avLst/>
          </a:prstGeom>
          <a:noFill/>
          <a:ln/>
        </p:spPr>
        <p:txBody>
          <a:bodyPr wrap="square" lIns="254" tIns="254" rIns="254" bIns="254" rtlCol="0" anchor="ctr">
            <a:normAutofit/>
          </a:bodyPr>
          <a:lstStyle/>
          <a:p>
            <a:pPr indent="0" marL="0">
              <a:buNone/>
            </a:pPr>
            <a:r>
              <a:rPr lang="en-US" sz="1100" dirty="0">
                <a:solidFill>
                  <a:srgbClr val="475569"/>
                </a:solidFill>
                <a:latin typeface="Calibri" pitchFamily="34" charset="0"/>
                <a:ea typeface="Calibri" pitchFamily="34" charset="-122"/>
                <a:cs typeface="Calibri" pitchFamily="34" charset="-120"/>
              </a:rPr>
              <a:t>Hai người gán nhãn 30–50 review đầu tiên mà không trao đổi.</a:t>
            </a:r>
            <a:endParaRPr lang="en-US" sz="1100" dirty="0"/>
          </a:p>
        </p:txBody>
      </p:sp>
      <p:sp>
        <p:nvSpPr>
          <p:cNvPr id="25" name="Shape 23"/>
          <p:cNvSpPr/>
          <p:nvPr/>
        </p:nvSpPr>
        <p:spPr>
          <a:xfrm>
            <a:off x="4142232" y="3767328"/>
            <a:ext cx="3246120" cy="1097280"/>
          </a:xfrm>
          <a:prstGeom prst="roundRect">
            <a:avLst>
              <a:gd name="adj" fmla="val 6667"/>
            </a:avLst>
          </a:prstGeom>
          <a:solidFill>
            <a:srgbClr val="EDE9FE"/>
          </a:solidFill>
          <a:ln w="12700">
            <a:solidFill>
              <a:srgbClr val="EDE9FE"/>
            </a:solidFill>
            <a:prstDash val="solid"/>
          </a:ln>
        </p:spPr>
      </p:sp>
      <p:sp>
        <p:nvSpPr>
          <p:cNvPr id="26" name="Shape 24"/>
          <p:cNvSpPr/>
          <p:nvPr/>
        </p:nvSpPr>
        <p:spPr>
          <a:xfrm>
            <a:off x="4306824" y="3931920"/>
            <a:ext cx="347472" cy="347472"/>
          </a:xfrm>
          <a:prstGeom prst="ellipse">
            <a:avLst/>
          </a:prstGeom>
          <a:solidFill>
            <a:srgbClr val="7C3AED"/>
          </a:solidFill>
          <a:ln w="12700">
            <a:solidFill>
              <a:srgbClr val="7C3AED"/>
            </a:solidFill>
            <a:prstDash val="solid"/>
          </a:ln>
        </p:spPr>
      </p:sp>
      <p:sp>
        <p:nvSpPr>
          <p:cNvPr id="27" name="Text 25"/>
          <p:cNvSpPr/>
          <p:nvPr/>
        </p:nvSpPr>
        <p:spPr>
          <a:xfrm>
            <a:off x="4306824" y="3991356"/>
            <a:ext cx="347472" cy="1371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Text 26"/>
          <p:cNvSpPr/>
          <p:nvPr/>
        </p:nvSpPr>
        <p:spPr>
          <a:xfrm>
            <a:off x="4764024" y="3922776"/>
            <a:ext cx="2459736" cy="228600"/>
          </a:xfrm>
          <a:prstGeom prst="rect">
            <a:avLst/>
          </a:prstGeom>
          <a:noFill/>
          <a:ln/>
        </p:spPr>
        <p:txBody>
          <a:bodyPr wrap="square" lIns="0" tIns="0" rIns="0" bIns="0" rtlCol="0" anchor="ctr">
            <a:normAutofit/>
          </a:bodyPr>
          <a:lstStyle/>
          <a:p>
            <a:pPr indent="0" marL="0">
              <a:buNone/>
            </a:pPr>
            <a:r>
              <a:rPr lang="en-US" sz="1400" b="1" dirty="0">
                <a:solidFill>
                  <a:srgbClr val="172033"/>
                </a:solidFill>
                <a:latin typeface="Calibri" pitchFamily="34" charset="0"/>
                <a:ea typeface="Calibri" pitchFamily="34" charset="-122"/>
                <a:cs typeface="Calibri" pitchFamily="34" charset="-120"/>
              </a:rPr>
              <a:t>Kiểm tra đồng thuận</a:t>
            </a:r>
            <a:endParaRPr lang="en-US" sz="1400" dirty="0"/>
          </a:p>
        </p:txBody>
      </p:sp>
      <p:sp>
        <p:nvSpPr>
          <p:cNvPr id="29" name="Text 27"/>
          <p:cNvSpPr/>
          <p:nvPr/>
        </p:nvSpPr>
        <p:spPr>
          <a:xfrm>
            <a:off x="4306824" y="4325112"/>
            <a:ext cx="2916936" cy="384048"/>
          </a:xfrm>
          <a:prstGeom prst="rect">
            <a:avLst/>
          </a:prstGeom>
          <a:noFill/>
          <a:ln/>
        </p:spPr>
        <p:txBody>
          <a:bodyPr wrap="square" lIns="254" tIns="254" rIns="254" bIns="254" rtlCol="0" anchor="ctr">
            <a:normAutofit/>
          </a:bodyPr>
          <a:lstStyle/>
          <a:p>
            <a:pPr indent="0" marL="0">
              <a:buNone/>
            </a:pPr>
            <a:r>
              <a:rPr lang="en-US" sz="1100" dirty="0">
                <a:solidFill>
                  <a:srgbClr val="475569"/>
                </a:solidFill>
                <a:latin typeface="Calibri" pitchFamily="34" charset="0"/>
                <a:ea typeface="Calibri" pitchFamily="34" charset="-122"/>
                <a:cs typeface="Calibri" pitchFamily="34" charset="-120"/>
              </a:rPr>
              <a:t>Mục tiêu Cohen’s Kappa ≥ 0.70; chỉnh codebook nếu thấp hơn.</a:t>
            </a:r>
            <a:endParaRPr lang="en-US" sz="1100" dirty="0"/>
          </a:p>
        </p:txBody>
      </p:sp>
      <p:sp>
        <p:nvSpPr>
          <p:cNvPr id="30" name="Shape 28"/>
          <p:cNvSpPr/>
          <p:nvPr/>
        </p:nvSpPr>
        <p:spPr>
          <a:xfrm>
            <a:off x="7626096" y="3767328"/>
            <a:ext cx="3913632" cy="1097280"/>
          </a:xfrm>
          <a:prstGeom prst="roundRect">
            <a:avLst>
              <a:gd name="adj" fmla="val 6667"/>
            </a:avLst>
          </a:prstGeom>
          <a:solidFill>
            <a:srgbClr val="CCFBF1"/>
          </a:solidFill>
          <a:ln w="12700">
            <a:solidFill>
              <a:srgbClr val="CCFBF1"/>
            </a:solidFill>
            <a:prstDash val="solid"/>
          </a:ln>
        </p:spPr>
      </p:sp>
      <p:sp>
        <p:nvSpPr>
          <p:cNvPr id="31" name="Shape 29"/>
          <p:cNvSpPr/>
          <p:nvPr/>
        </p:nvSpPr>
        <p:spPr>
          <a:xfrm>
            <a:off x="7790688" y="3931920"/>
            <a:ext cx="347472" cy="347472"/>
          </a:xfrm>
          <a:prstGeom prst="ellipse">
            <a:avLst/>
          </a:prstGeom>
          <a:solidFill>
            <a:srgbClr val="0F766E"/>
          </a:solidFill>
          <a:ln w="12700">
            <a:solidFill>
              <a:srgbClr val="0F766E"/>
            </a:solidFill>
            <a:prstDash val="solid"/>
          </a:ln>
        </p:spPr>
      </p:sp>
      <p:sp>
        <p:nvSpPr>
          <p:cNvPr id="32" name="Text 30"/>
          <p:cNvSpPr/>
          <p:nvPr/>
        </p:nvSpPr>
        <p:spPr>
          <a:xfrm>
            <a:off x="7790688" y="3991356"/>
            <a:ext cx="347472" cy="1371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3" name="Text 31"/>
          <p:cNvSpPr/>
          <p:nvPr/>
        </p:nvSpPr>
        <p:spPr>
          <a:xfrm>
            <a:off x="8247888" y="3922776"/>
            <a:ext cx="3127248" cy="228600"/>
          </a:xfrm>
          <a:prstGeom prst="rect">
            <a:avLst/>
          </a:prstGeom>
          <a:noFill/>
          <a:ln/>
        </p:spPr>
        <p:txBody>
          <a:bodyPr wrap="square" lIns="0" tIns="0" rIns="0" bIns="0" rtlCol="0" anchor="ctr">
            <a:normAutofit/>
          </a:bodyPr>
          <a:lstStyle/>
          <a:p>
            <a:pPr indent="0" marL="0">
              <a:buNone/>
            </a:pPr>
            <a:r>
              <a:rPr lang="en-US" sz="1400" b="1" dirty="0">
                <a:solidFill>
                  <a:srgbClr val="172033"/>
                </a:solidFill>
                <a:latin typeface="Calibri" pitchFamily="34" charset="0"/>
                <a:ea typeface="Calibri" pitchFamily="34" charset="-122"/>
                <a:cs typeface="Calibri" pitchFamily="34" charset="-120"/>
              </a:rPr>
              <a:t>Gán nhãn toàn bộ + đối soát</a:t>
            </a:r>
            <a:endParaRPr lang="en-US" sz="1400" dirty="0"/>
          </a:p>
        </p:txBody>
      </p:sp>
      <p:sp>
        <p:nvSpPr>
          <p:cNvPr id="34" name="Text 32"/>
          <p:cNvSpPr/>
          <p:nvPr/>
        </p:nvSpPr>
        <p:spPr>
          <a:xfrm>
            <a:off x="7790688" y="4325112"/>
            <a:ext cx="3584448" cy="384048"/>
          </a:xfrm>
          <a:prstGeom prst="rect">
            <a:avLst/>
          </a:prstGeom>
          <a:noFill/>
          <a:ln/>
        </p:spPr>
        <p:txBody>
          <a:bodyPr wrap="square" lIns="254" tIns="254" rIns="254" bIns="254" rtlCol="0" anchor="ctr">
            <a:normAutofit/>
          </a:bodyPr>
          <a:lstStyle/>
          <a:p>
            <a:pPr indent="0" marL="0">
              <a:buNone/>
            </a:pPr>
            <a:r>
              <a:rPr lang="en-US" sz="1100" dirty="0">
                <a:solidFill>
                  <a:srgbClr val="475569"/>
                </a:solidFill>
                <a:latin typeface="Calibri" pitchFamily="34" charset="0"/>
                <a:ea typeface="Calibri" pitchFamily="34" charset="-122"/>
                <a:cs typeface="Calibri" pitchFamily="34" charset="-120"/>
              </a:rPr>
              <a:t>Giải quyết bất đồng và tạo một ground truth cuối.</a:t>
            </a:r>
            <a:endParaRPr lang="en-US" sz="1100" dirty="0"/>
          </a:p>
        </p:txBody>
      </p:sp>
      <p:sp>
        <p:nvSpPr>
          <p:cNvPr id="35" name="Shape 33"/>
          <p:cNvSpPr/>
          <p:nvPr/>
        </p:nvSpPr>
        <p:spPr>
          <a:xfrm>
            <a:off x="3913632" y="4315968"/>
            <a:ext cx="182880" cy="0"/>
          </a:xfrm>
          <a:prstGeom prst="line">
            <a:avLst/>
          </a:prstGeom>
          <a:noFill/>
          <a:ln w="25400">
            <a:solidFill>
              <a:srgbClr val="64748B"/>
            </a:solidFill>
            <a:prstDash val="solid"/>
            <a:tailEnd type="triangle"/>
          </a:ln>
        </p:spPr>
      </p:sp>
      <p:sp>
        <p:nvSpPr>
          <p:cNvPr id="36" name="Shape 34"/>
          <p:cNvSpPr/>
          <p:nvPr/>
        </p:nvSpPr>
        <p:spPr>
          <a:xfrm>
            <a:off x="7397496" y="4315968"/>
            <a:ext cx="182880" cy="0"/>
          </a:xfrm>
          <a:prstGeom prst="line">
            <a:avLst/>
          </a:prstGeom>
          <a:noFill/>
          <a:ln w="25400">
            <a:solidFill>
              <a:srgbClr val="64748B"/>
            </a:solidFill>
            <a:prstDash val="solid"/>
            <a:tailEnd type="triangle"/>
          </a:ln>
        </p:spPr>
      </p:sp>
      <p:sp>
        <p:nvSpPr>
          <p:cNvPr id="37" name="Shape 35"/>
          <p:cNvSpPr/>
          <p:nvPr/>
        </p:nvSpPr>
        <p:spPr>
          <a:xfrm>
            <a:off x="1280160" y="5239512"/>
            <a:ext cx="9646920" cy="603504"/>
          </a:xfrm>
          <a:prstGeom prst="roundRect">
            <a:avLst>
              <a:gd name="adj" fmla="val 12121"/>
            </a:avLst>
          </a:prstGeom>
          <a:solidFill>
            <a:srgbClr val="FFFFFF"/>
          </a:solidFill>
          <a:ln w="12700">
            <a:solidFill>
              <a:srgbClr val="E2E8F0"/>
            </a:solidFill>
            <a:prstDash val="solid"/>
          </a:ln>
        </p:spPr>
      </p:sp>
      <p:sp>
        <p:nvSpPr>
          <p:cNvPr id="38" name="Text 36"/>
          <p:cNvSpPr/>
          <p:nvPr/>
        </p:nvSpPr>
        <p:spPr>
          <a:xfrm>
            <a:off x="1554480" y="5431536"/>
            <a:ext cx="9098280" cy="228600"/>
          </a:xfrm>
          <a:prstGeom prst="rect">
            <a:avLst/>
          </a:prstGeom>
          <a:noFill/>
          <a:ln/>
        </p:spPr>
        <p:txBody>
          <a:bodyPr wrap="square" lIns="0" tIns="0" rIns="0" bIns="0" rtlCol="0" anchor="ctr">
            <a:normAutofit/>
          </a:bodyPr>
          <a:lstStyle/>
          <a:p>
            <a:pPr algn="ctr" indent="0" marL="0">
              <a:buNone/>
            </a:pPr>
            <a:r>
              <a:rPr lang="en-US" sz="1300" b="1" dirty="0">
                <a:solidFill>
                  <a:srgbClr val="475569"/>
                </a:solidFill>
                <a:latin typeface="Calibri" pitchFamily="34" charset="0"/>
                <a:ea typeface="Calibri" pitchFamily="34" charset="-122"/>
                <a:cs typeface="Calibri" pitchFamily="34" charset="-120"/>
              </a:rPr>
              <a:t>Nhãn ghi nhận: loại bất nhất · khía cạnh đích · mức độ · khắc phục sự cố · phủ định / châm biếm</a:t>
            </a:r>
            <a:endParaRPr lang="en-US" sz="1300" dirty="0"/>
          </a:p>
        </p:txBody>
      </p:sp>
      <p:sp>
        <p:nvSpPr>
          <p:cNvPr id="39" name="Text 37"/>
          <p:cNvSpPr/>
          <p:nvPr/>
        </p:nvSpPr>
        <p:spPr>
          <a:xfrm>
            <a:off x="640080" y="6172200"/>
            <a:ext cx="10607040" cy="164592"/>
          </a:xfrm>
          <a:prstGeom prst="rect">
            <a:avLst/>
          </a:prstGeom>
          <a:noFill/>
          <a:ln/>
        </p:spPr>
        <p:txBody>
          <a:bodyPr wrap="square" lIns="0" tIns="0" rIns="0" bIns="0" rtlCol="0" anchor="ctr">
            <a:normAutofit/>
          </a:bodyPr>
          <a:lstStyle/>
          <a:p>
            <a:pPr indent="0" marL="0">
              <a:buNone/>
            </a:pPr>
            <a:r>
              <a:rPr lang="en-US" sz="850" i="1" dirty="0">
                <a:solidFill>
                  <a:srgbClr val="64748B"/>
                </a:solidFill>
                <a:latin typeface="Calibri" pitchFamily="34" charset="0"/>
                <a:ea typeface="Calibri" pitchFamily="34" charset="-122"/>
                <a:cs typeface="Calibri" pitchFamily="34" charset="-120"/>
              </a:rPr>
              <a:t>Nguồn: quy trình gán nhãn thủ công. Số ca nghi vấn được xác minh trực tiếp từ dataset.</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indent="0" marL="0">
              <a:buNone/>
            </a:pPr>
            <a:r>
              <a:rPr lang="en-US" sz="1000" b="1" spc="120" kern="0" dirty="0">
                <a:solidFill>
                  <a:srgbClr val="0F766E"/>
                </a:solidFill>
                <a:latin typeface="Calibri" pitchFamily="34" charset="0"/>
                <a:ea typeface="Calibri" pitchFamily="34" charset="-122"/>
                <a:cs typeface="Calibri" pitchFamily="34" charset="-120"/>
              </a:rPr>
              <a:t>RDR-0003 SẼ ĐƯỢC KIẾM CHỨNG RA SAO</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indent="0" marL="0">
              <a:buNone/>
            </a:pPr>
            <a:r>
              <a:rPr lang="en-US" sz="2900" b="1" dirty="0">
                <a:solidFill>
                  <a:srgbClr val="172033"/>
                </a:solidFill>
                <a:latin typeface="Cambria" pitchFamily="34" charset="0"/>
                <a:ea typeface="Cambria" pitchFamily="34" charset="-122"/>
                <a:cs typeface="Cambria" pitchFamily="34" charset="-120"/>
              </a:rPr>
              <a:t>Một benchmark, ba công thức, một cổng quyết định</a:t>
            </a:r>
            <a:endParaRPr lang="en-US" sz="2900" dirty="0"/>
          </a:p>
        </p:txBody>
      </p:sp>
      <p:sp>
        <p:nvSpPr>
          <p:cNvPr id="4" name="Shape 2"/>
          <p:cNvSpPr/>
          <p:nvPr/>
        </p:nvSpPr>
        <p:spPr>
          <a:xfrm>
            <a:off x="658368" y="1353312"/>
            <a:ext cx="2788920" cy="1133856"/>
          </a:xfrm>
          <a:prstGeom prst="roundRect">
            <a:avLst>
              <a:gd name="adj" fmla="val 6452"/>
            </a:avLst>
          </a:prstGeom>
          <a:solidFill>
            <a:srgbClr val="F1F5F9"/>
          </a:solidFill>
          <a:ln w="12700">
            <a:solidFill>
              <a:srgbClr val="F1F5F9"/>
            </a:solidFill>
            <a:prstDash val="solid"/>
          </a:ln>
        </p:spPr>
      </p:sp>
      <p:sp>
        <p:nvSpPr>
          <p:cNvPr id="5" name="Text 3"/>
          <p:cNvSpPr/>
          <p:nvPr/>
        </p:nvSpPr>
        <p:spPr>
          <a:xfrm>
            <a:off x="859536" y="1664208"/>
            <a:ext cx="2386584" cy="274320"/>
          </a:xfrm>
          <a:prstGeom prst="rect">
            <a:avLst/>
          </a:prstGeom>
          <a:noFill/>
          <a:ln/>
        </p:spPr>
        <p:txBody>
          <a:bodyPr wrap="square" lIns="0" tIns="0" rIns="0" bIns="0" rtlCol="0" anchor="ctr">
            <a:normAutofit/>
          </a:bodyPr>
          <a:lstStyle/>
          <a:p>
            <a:pPr algn="ctr" indent="0" marL="0">
              <a:buNone/>
            </a:pPr>
            <a:r>
              <a:rPr lang="en-US" sz="1600" b="1" dirty="0">
                <a:solidFill>
                  <a:srgbClr val="172033"/>
                </a:solidFill>
                <a:latin typeface="Calibri" pitchFamily="34" charset="0"/>
                <a:ea typeface="Calibri" pitchFamily="34" charset="-122"/>
                <a:cs typeface="Calibri" pitchFamily="34" charset="-120"/>
              </a:rPr>
              <a:t>Ma trận phân cực 3×3</a:t>
            </a:r>
            <a:endParaRPr lang="en-US" sz="1600" dirty="0"/>
          </a:p>
        </p:txBody>
      </p:sp>
      <p:sp>
        <p:nvSpPr>
          <p:cNvPr id="6" name="Text 4"/>
          <p:cNvSpPr/>
          <p:nvPr/>
        </p:nvSpPr>
        <p:spPr>
          <a:xfrm>
            <a:off x="859536" y="2084832"/>
            <a:ext cx="2386584" cy="201168"/>
          </a:xfrm>
          <a:prstGeom prst="rect">
            <a:avLst/>
          </a:prstGeom>
          <a:noFill/>
          <a:ln/>
        </p:spPr>
        <p:txBody>
          <a:bodyPr wrap="square" lIns="0" tIns="0" rIns="0" bIns="0" rtlCol="0" anchor="ctr">
            <a:normAutofit/>
          </a:bodyPr>
          <a:lstStyle/>
          <a:p>
            <a:pPr algn="ctr" indent="0" marL="0">
              <a:buNone/>
            </a:pPr>
            <a:r>
              <a:rPr lang="en-US" sz="1150" b="1" dirty="0">
                <a:solidFill>
                  <a:srgbClr val="475569"/>
                </a:solidFill>
                <a:latin typeface="Calibri" pitchFamily="34" charset="0"/>
                <a:ea typeface="Calibri" pitchFamily="34" charset="-122"/>
                <a:cs typeface="Calibri" pitchFamily="34" charset="-120"/>
              </a:rPr>
              <a:t>Baseline dễ diễn giải</a:t>
            </a:r>
            <a:endParaRPr lang="en-US" sz="1150" dirty="0"/>
          </a:p>
        </p:txBody>
      </p:sp>
      <p:sp>
        <p:nvSpPr>
          <p:cNvPr id="7" name="Shape 5"/>
          <p:cNvSpPr/>
          <p:nvPr/>
        </p:nvSpPr>
        <p:spPr>
          <a:xfrm>
            <a:off x="2048256" y="2542032"/>
            <a:ext cx="0" cy="438912"/>
          </a:xfrm>
          <a:prstGeom prst="line">
            <a:avLst/>
          </a:prstGeom>
          <a:noFill/>
          <a:ln w="25400">
            <a:solidFill>
              <a:srgbClr val="64748B"/>
            </a:solidFill>
            <a:prstDash val="solid"/>
            <a:tailEnd type="triangle"/>
          </a:ln>
        </p:spPr>
      </p:sp>
      <p:sp>
        <p:nvSpPr>
          <p:cNvPr id="8" name="Shape 6"/>
          <p:cNvSpPr/>
          <p:nvPr/>
        </p:nvSpPr>
        <p:spPr>
          <a:xfrm>
            <a:off x="4114800" y="1353312"/>
            <a:ext cx="2788920" cy="1133856"/>
          </a:xfrm>
          <a:prstGeom prst="roundRect">
            <a:avLst>
              <a:gd name="adj" fmla="val 6452"/>
            </a:avLst>
          </a:prstGeom>
          <a:solidFill>
            <a:srgbClr val="DBEAFE"/>
          </a:solidFill>
          <a:ln w="12700">
            <a:solidFill>
              <a:srgbClr val="DBEAFE"/>
            </a:solidFill>
            <a:prstDash val="solid"/>
          </a:ln>
        </p:spPr>
      </p:sp>
      <p:sp>
        <p:nvSpPr>
          <p:cNvPr id="9" name="Text 7"/>
          <p:cNvSpPr/>
          <p:nvPr/>
        </p:nvSpPr>
        <p:spPr>
          <a:xfrm>
            <a:off x="4315968" y="1664208"/>
            <a:ext cx="2386584" cy="274320"/>
          </a:xfrm>
          <a:prstGeom prst="rect">
            <a:avLst/>
          </a:prstGeom>
          <a:noFill/>
          <a:ln/>
        </p:spPr>
        <p:txBody>
          <a:bodyPr wrap="square" lIns="0" tIns="0" rIns="0" bIns="0" rtlCol="0" anchor="ctr">
            <a:normAutofit/>
          </a:bodyPr>
          <a:lstStyle/>
          <a:p>
            <a:pPr algn="ctr" indent="0" marL="0">
              <a:buNone/>
            </a:pPr>
            <a:r>
              <a:rPr lang="en-US" sz="1600" b="1" dirty="0">
                <a:solidFill>
                  <a:srgbClr val="172033"/>
                </a:solidFill>
                <a:latin typeface="Calibri" pitchFamily="34" charset="0"/>
                <a:ea typeface="Calibri" pitchFamily="34" charset="-122"/>
                <a:cs typeface="Calibri" pitchFamily="34" charset="-120"/>
              </a:rPr>
              <a:t>Khoảng z có dấu</a:t>
            </a:r>
            <a:endParaRPr lang="en-US" sz="1600" dirty="0"/>
          </a:p>
        </p:txBody>
      </p:sp>
      <p:sp>
        <p:nvSpPr>
          <p:cNvPr id="10" name="Text 8"/>
          <p:cNvSpPr/>
          <p:nvPr/>
        </p:nvSpPr>
        <p:spPr>
          <a:xfrm>
            <a:off x="4315968" y="2084832"/>
            <a:ext cx="2386584" cy="201168"/>
          </a:xfrm>
          <a:prstGeom prst="rect">
            <a:avLst/>
          </a:prstGeom>
          <a:noFill/>
          <a:ln/>
        </p:spPr>
        <p:txBody>
          <a:bodyPr wrap="square" lIns="0" tIns="0" rIns="0" bIns="0" rtlCol="0" anchor="ctr">
            <a:normAutofit/>
          </a:bodyPr>
          <a:lstStyle/>
          <a:p>
            <a:pPr algn="ctr" indent="0" marL="0">
              <a:buNone/>
            </a:pPr>
            <a:r>
              <a:rPr lang="en-US" sz="1150" b="1" dirty="0">
                <a:solidFill>
                  <a:srgbClr val="2563EB"/>
                </a:solidFill>
                <a:latin typeface="Calibri" pitchFamily="34" charset="0"/>
                <a:ea typeface="Calibri" pitchFamily="34" charset="-122"/>
                <a:cs typeface="Calibri" pitchFamily="34" charset="-120"/>
              </a:rPr>
              <a:t>Chiều + độ lớn</a:t>
            </a:r>
            <a:endParaRPr lang="en-US" sz="1150" dirty="0"/>
          </a:p>
        </p:txBody>
      </p:sp>
      <p:sp>
        <p:nvSpPr>
          <p:cNvPr id="11" name="Shape 9"/>
          <p:cNvSpPr/>
          <p:nvPr/>
        </p:nvSpPr>
        <p:spPr>
          <a:xfrm>
            <a:off x="5504688" y="2542032"/>
            <a:ext cx="0" cy="438912"/>
          </a:xfrm>
          <a:prstGeom prst="line">
            <a:avLst/>
          </a:prstGeom>
          <a:noFill/>
          <a:ln w="25400">
            <a:solidFill>
              <a:srgbClr val="64748B"/>
            </a:solidFill>
            <a:prstDash val="solid"/>
            <a:tailEnd type="triangle"/>
          </a:ln>
        </p:spPr>
      </p:sp>
      <p:sp>
        <p:nvSpPr>
          <p:cNvPr id="12" name="Shape 10"/>
          <p:cNvSpPr/>
          <p:nvPr/>
        </p:nvSpPr>
        <p:spPr>
          <a:xfrm>
            <a:off x="7571232" y="1353312"/>
            <a:ext cx="2788920" cy="1133856"/>
          </a:xfrm>
          <a:prstGeom prst="roundRect">
            <a:avLst>
              <a:gd name="adj" fmla="val 6452"/>
            </a:avLst>
          </a:prstGeom>
          <a:solidFill>
            <a:srgbClr val="CCFBF1"/>
          </a:solidFill>
          <a:ln w="12700">
            <a:solidFill>
              <a:srgbClr val="CCFBF1"/>
            </a:solidFill>
            <a:prstDash val="solid"/>
          </a:ln>
        </p:spPr>
      </p:sp>
      <p:sp>
        <p:nvSpPr>
          <p:cNvPr id="13" name="Text 11"/>
          <p:cNvSpPr/>
          <p:nvPr/>
        </p:nvSpPr>
        <p:spPr>
          <a:xfrm>
            <a:off x="7772400" y="1664208"/>
            <a:ext cx="2386584" cy="274320"/>
          </a:xfrm>
          <a:prstGeom prst="rect">
            <a:avLst/>
          </a:prstGeom>
          <a:noFill/>
          <a:ln/>
        </p:spPr>
        <p:txBody>
          <a:bodyPr wrap="square" lIns="0" tIns="0" rIns="0" bIns="0" rtlCol="0" anchor="ctr">
            <a:normAutofit/>
          </a:bodyPr>
          <a:lstStyle/>
          <a:p>
            <a:pPr algn="ctr" indent="0" marL="0">
              <a:buNone/>
            </a:pPr>
            <a:r>
              <a:rPr lang="en-US" sz="1600" b="1" dirty="0">
                <a:solidFill>
                  <a:srgbClr val="172033"/>
                </a:solidFill>
                <a:latin typeface="Calibri" pitchFamily="34" charset="0"/>
                <a:ea typeface="Calibri" pitchFamily="34" charset="-122"/>
                <a:cs typeface="Calibri" pitchFamily="34" charset="-120"/>
              </a:rPr>
              <a:t>Khoảng khía cạnh có dấu</a:t>
            </a:r>
            <a:endParaRPr lang="en-US" sz="1600" dirty="0"/>
          </a:p>
        </p:txBody>
      </p:sp>
      <p:sp>
        <p:nvSpPr>
          <p:cNvPr id="14" name="Text 12"/>
          <p:cNvSpPr/>
          <p:nvPr/>
        </p:nvSpPr>
        <p:spPr>
          <a:xfrm>
            <a:off x="7772400" y="2084832"/>
            <a:ext cx="2386584" cy="201168"/>
          </a:xfrm>
          <a:prstGeom prst="rect">
            <a:avLst/>
          </a:prstGeom>
          <a:noFill/>
          <a:ln/>
        </p:spPr>
        <p:txBody>
          <a:bodyPr wrap="square" lIns="0" tIns="0" rIns="0" bIns="0" rtlCol="0" anchor="ctr">
            <a:normAutofit/>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Phép đo ứng viên</a:t>
            </a:r>
            <a:endParaRPr lang="en-US" sz="1150" dirty="0"/>
          </a:p>
        </p:txBody>
      </p:sp>
      <p:sp>
        <p:nvSpPr>
          <p:cNvPr id="15" name="Shape 13"/>
          <p:cNvSpPr/>
          <p:nvPr/>
        </p:nvSpPr>
        <p:spPr>
          <a:xfrm>
            <a:off x="8961120" y="2542032"/>
            <a:ext cx="0" cy="438912"/>
          </a:xfrm>
          <a:prstGeom prst="line">
            <a:avLst/>
          </a:prstGeom>
          <a:noFill/>
          <a:ln w="25400">
            <a:solidFill>
              <a:srgbClr val="64748B"/>
            </a:solidFill>
            <a:prstDash val="solid"/>
            <a:tailEnd type="triangle"/>
          </a:ln>
        </p:spPr>
      </p:sp>
      <p:sp>
        <p:nvSpPr>
          <p:cNvPr id="16" name="Shape 14"/>
          <p:cNvSpPr/>
          <p:nvPr/>
        </p:nvSpPr>
        <p:spPr>
          <a:xfrm>
            <a:off x="1170432" y="3035808"/>
            <a:ext cx="9857232" cy="1170432"/>
          </a:xfrm>
          <a:prstGeom prst="roundRect">
            <a:avLst>
              <a:gd name="adj" fmla="val 6250"/>
            </a:avLst>
          </a:prstGeom>
          <a:solidFill>
            <a:srgbClr val="FFFFFF"/>
          </a:solidFill>
          <a:ln w="12700">
            <a:solidFill>
              <a:srgbClr val="CBD5E1"/>
            </a:solidFill>
            <a:prstDash val="solid"/>
          </a:ln>
        </p:spPr>
      </p:sp>
      <p:sp>
        <p:nvSpPr>
          <p:cNvPr id="17" name="Text 15"/>
          <p:cNvSpPr/>
          <p:nvPr/>
        </p:nvSpPr>
        <p:spPr>
          <a:xfrm>
            <a:off x="1417320" y="3319272"/>
            <a:ext cx="2011680" cy="256032"/>
          </a:xfrm>
          <a:prstGeom prst="rect">
            <a:avLst/>
          </a:prstGeom>
          <a:noFill/>
          <a:ln/>
        </p:spPr>
        <p:txBody>
          <a:bodyPr wrap="square" lIns="0" tIns="0" rIns="0" bIns="0" rtlCol="0" anchor="ctr">
            <a:normAutofit/>
          </a:bodyPr>
          <a:lstStyle/>
          <a:p>
            <a:pPr algn="ctr" indent="0" marL="0">
              <a:buNone/>
            </a:pPr>
            <a:r>
              <a:rPr lang="en-US" sz="1350" b="1" dirty="0">
                <a:solidFill>
                  <a:srgbClr val="172033"/>
                </a:solidFill>
                <a:latin typeface="Calibri" pitchFamily="34" charset="0"/>
                <a:ea typeface="Calibri" pitchFamily="34" charset="-122"/>
                <a:cs typeface="Calibri" pitchFamily="34" charset="-120"/>
              </a:rPr>
              <a:t>Macro-F1</a:t>
            </a:r>
            <a:endParaRPr lang="en-US" sz="1350" dirty="0"/>
          </a:p>
        </p:txBody>
      </p:sp>
      <p:sp>
        <p:nvSpPr>
          <p:cNvPr id="18" name="Text 16"/>
          <p:cNvSpPr/>
          <p:nvPr/>
        </p:nvSpPr>
        <p:spPr>
          <a:xfrm>
            <a:off x="1417320" y="3675888"/>
            <a:ext cx="2011680" cy="292608"/>
          </a:xfrm>
          <a:prstGeom prst="rect">
            <a:avLst/>
          </a:prstGeom>
          <a:noFill/>
          <a:ln/>
        </p:spPr>
        <p:txBody>
          <a:bodyPr wrap="square" lIns="0" tIns="0" rIns="0" bIns="0" rtlCol="0" anchor="ctr">
            <a:normAutofit/>
          </a:bodyPr>
          <a:lstStyle/>
          <a:p>
            <a:pPr algn="ctr" indent="0" marL="0">
              <a:buNone/>
            </a:pPr>
            <a:r>
              <a:rPr lang="en-US" sz="1050" dirty="0">
                <a:solidFill>
                  <a:srgbClr val="475569"/>
                </a:solidFill>
                <a:latin typeface="Calibri" pitchFamily="34" charset="0"/>
                <a:ea typeface="Calibri" pitchFamily="34" charset="-122"/>
                <a:cs typeface="Calibri" pitchFamily="34" charset="-120"/>
              </a:rPr>
              <a:t>khớp nhãn chiều do người gán</a:t>
            </a:r>
            <a:endParaRPr lang="en-US" sz="1050" dirty="0"/>
          </a:p>
        </p:txBody>
      </p:sp>
      <p:sp>
        <p:nvSpPr>
          <p:cNvPr id="19" name="Text 17"/>
          <p:cNvSpPr/>
          <p:nvPr/>
        </p:nvSpPr>
        <p:spPr>
          <a:xfrm>
            <a:off x="3813048" y="3319272"/>
            <a:ext cx="2011680" cy="256032"/>
          </a:xfrm>
          <a:prstGeom prst="rect">
            <a:avLst/>
          </a:prstGeom>
          <a:noFill/>
          <a:ln/>
        </p:spPr>
        <p:txBody>
          <a:bodyPr wrap="square" lIns="0" tIns="0" rIns="0" bIns="0" rtlCol="0" anchor="ctr">
            <a:normAutofit/>
          </a:bodyPr>
          <a:lstStyle/>
          <a:p>
            <a:pPr algn="ctr" indent="0" marL="0">
              <a:buNone/>
            </a:pPr>
            <a:r>
              <a:rPr lang="en-US" sz="1350" b="1" dirty="0">
                <a:solidFill>
                  <a:srgbClr val="172033"/>
                </a:solidFill>
                <a:latin typeface="Calibri" pitchFamily="34" charset="0"/>
                <a:ea typeface="Calibri" pitchFamily="34" charset="-122"/>
                <a:cs typeface="Calibri" pitchFamily="34" charset="-120"/>
              </a:rPr>
              <a:t>Tỷ lệ dương tính giả</a:t>
            </a:r>
            <a:endParaRPr lang="en-US" sz="1350" dirty="0"/>
          </a:p>
        </p:txBody>
      </p:sp>
      <p:sp>
        <p:nvSpPr>
          <p:cNvPr id="20" name="Text 18"/>
          <p:cNvSpPr/>
          <p:nvPr/>
        </p:nvSpPr>
        <p:spPr>
          <a:xfrm>
            <a:off x="3813048" y="3675888"/>
            <a:ext cx="2011680" cy="292608"/>
          </a:xfrm>
          <a:prstGeom prst="rect">
            <a:avLst/>
          </a:prstGeom>
          <a:noFill/>
          <a:ln/>
        </p:spPr>
        <p:txBody>
          <a:bodyPr wrap="square" lIns="0" tIns="0" rIns="0" bIns="0" rtlCol="0" anchor="ctr">
            <a:normAutofit/>
          </a:bodyPr>
          <a:lstStyle/>
          <a:p>
            <a:pPr algn="ctr" indent="0" marL="0">
              <a:buNone/>
            </a:pPr>
            <a:r>
              <a:rPr lang="en-US" sz="1050" dirty="0">
                <a:solidFill>
                  <a:srgbClr val="475569"/>
                </a:solidFill>
                <a:latin typeface="Calibri" pitchFamily="34" charset="0"/>
                <a:ea typeface="Calibri" pitchFamily="34" charset="-122"/>
                <a:cs typeface="Calibri" pitchFamily="34" charset="-120"/>
              </a:rPr>
              <a:t>ổn định trên review đối chứng</a:t>
            </a:r>
            <a:endParaRPr lang="en-US" sz="1050" dirty="0"/>
          </a:p>
        </p:txBody>
      </p:sp>
      <p:sp>
        <p:nvSpPr>
          <p:cNvPr id="21" name="Text 19"/>
          <p:cNvSpPr/>
          <p:nvPr/>
        </p:nvSpPr>
        <p:spPr>
          <a:xfrm>
            <a:off x="6208776" y="3319272"/>
            <a:ext cx="2011680" cy="256032"/>
          </a:xfrm>
          <a:prstGeom prst="rect">
            <a:avLst/>
          </a:prstGeom>
          <a:noFill/>
          <a:ln/>
        </p:spPr>
        <p:txBody>
          <a:bodyPr wrap="square" lIns="0" tIns="0" rIns="0" bIns="0" rtlCol="0" anchor="ctr">
            <a:normAutofit/>
          </a:bodyPr>
          <a:lstStyle/>
          <a:p>
            <a:pPr algn="ctr" indent="0" marL="0">
              <a:buNone/>
            </a:pPr>
            <a:r>
              <a:rPr lang="en-US" sz="1350" b="1" dirty="0">
                <a:solidFill>
                  <a:srgbClr val="172033"/>
                </a:solidFill>
                <a:latin typeface="Calibri" pitchFamily="34" charset="0"/>
                <a:ea typeface="Calibri" pitchFamily="34" charset="-122"/>
                <a:cs typeface="Calibri" pitchFamily="34" charset="-120"/>
              </a:rPr>
              <a:t>Ổn định theo chiều</a:t>
            </a:r>
            <a:endParaRPr lang="en-US" sz="1350" dirty="0"/>
          </a:p>
        </p:txBody>
      </p:sp>
      <p:sp>
        <p:nvSpPr>
          <p:cNvPr id="22" name="Text 20"/>
          <p:cNvSpPr/>
          <p:nvPr/>
        </p:nvSpPr>
        <p:spPr>
          <a:xfrm>
            <a:off x="6208776" y="3675888"/>
            <a:ext cx="2011680" cy="292608"/>
          </a:xfrm>
          <a:prstGeom prst="rect">
            <a:avLst/>
          </a:prstGeom>
          <a:noFill/>
          <a:ln/>
        </p:spPr>
        <p:txBody>
          <a:bodyPr wrap="square" lIns="0" tIns="0" rIns="0" bIns="0" rtlCol="0" anchor="ctr">
            <a:normAutofit/>
          </a:bodyPr>
          <a:lstStyle/>
          <a:p>
            <a:pPr algn="ctr" indent="0" marL="0">
              <a:buNone/>
            </a:pPr>
            <a:r>
              <a:rPr lang="en-US" sz="1050" dirty="0">
                <a:solidFill>
                  <a:srgbClr val="475569"/>
                </a:solidFill>
                <a:latin typeface="Calibri" pitchFamily="34" charset="0"/>
                <a:ea typeface="Calibri" pitchFamily="34" charset="-122"/>
                <a:cs typeface="Calibri" pitchFamily="34" charset="-120"/>
              </a:rPr>
              <a:t>hoạt động trên cả hai tầng điểm</a:t>
            </a:r>
            <a:endParaRPr lang="en-US" sz="1050" dirty="0"/>
          </a:p>
        </p:txBody>
      </p:sp>
      <p:sp>
        <p:nvSpPr>
          <p:cNvPr id="23" name="Text 21"/>
          <p:cNvSpPr/>
          <p:nvPr/>
        </p:nvSpPr>
        <p:spPr>
          <a:xfrm>
            <a:off x="8604504" y="3319272"/>
            <a:ext cx="2011680" cy="256032"/>
          </a:xfrm>
          <a:prstGeom prst="rect">
            <a:avLst/>
          </a:prstGeom>
          <a:noFill/>
          <a:ln/>
        </p:spPr>
        <p:txBody>
          <a:bodyPr wrap="square" lIns="0" tIns="0" rIns="0" bIns="0" rtlCol="0" anchor="ctr">
            <a:normAutofit/>
          </a:bodyPr>
          <a:lstStyle/>
          <a:p>
            <a:pPr algn="ctr" indent="0" marL="0">
              <a:buNone/>
            </a:pPr>
            <a:r>
              <a:rPr lang="en-US" sz="1350" b="1" dirty="0">
                <a:solidFill>
                  <a:srgbClr val="E11D48"/>
                </a:solidFill>
                <a:latin typeface="Calibri" pitchFamily="34" charset="0"/>
                <a:ea typeface="Calibri" pitchFamily="34" charset="-122"/>
                <a:cs typeface="Calibri" pitchFamily="34" charset="-120"/>
              </a:rPr>
              <a:t>Không rò rỉ</a:t>
            </a:r>
            <a:endParaRPr lang="en-US" sz="1350" dirty="0"/>
          </a:p>
        </p:txBody>
      </p:sp>
      <p:sp>
        <p:nvSpPr>
          <p:cNvPr id="24" name="Text 22"/>
          <p:cNvSpPr/>
          <p:nvPr/>
        </p:nvSpPr>
        <p:spPr>
          <a:xfrm>
            <a:off x="8604504" y="3675888"/>
            <a:ext cx="2011680" cy="292608"/>
          </a:xfrm>
          <a:prstGeom prst="rect">
            <a:avLst/>
          </a:prstGeom>
          <a:noFill/>
          <a:ln/>
        </p:spPr>
        <p:txBody>
          <a:bodyPr wrap="square" lIns="0" tIns="0" rIns="0" bIns="0" rtlCol="0" anchor="ctr">
            <a:normAutofit/>
          </a:bodyPr>
          <a:lstStyle/>
          <a:p>
            <a:pPr algn="ctr" indent="0" marL="0">
              <a:buNone/>
            </a:pPr>
            <a:r>
              <a:rPr lang="en-US" sz="1050" dirty="0">
                <a:solidFill>
                  <a:srgbClr val="475569"/>
                </a:solidFill>
                <a:latin typeface="Calibri" pitchFamily="34" charset="0"/>
                <a:ea typeface="Calibri" pitchFamily="34" charset="-122"/>
                <a:cs typeface="Calibri" pitchFamily="34" charset="-120"/>
              </a:rPr>
              <a:t>sentiment độc lập với rating / Branding</a:t>
            </a:r>
            <a:endParaRPr lang="en-US" sz="1050" dirty="0"/>
          </a:p>
        </p:txBody>
      </p:sp>
      <p:sp>
        <p:nvSpPr>
          <p:cNvPr id="25" name="Shape 23"/>
          <p:cNvSpPr/>
          <p:nvPr/>
        </p:nvSpPr>
        <p:spPr>
          <a:xfrm>
            <a:off x="6089904" y="4315968"/>
            <a:ext cx="0" cy="438912"/>
          </a:xfrm>
          <a:prstGeom prst="line">
            <a:avLst/>
          </a:prstGeom>
          <a:noFill/>
          <a:ln w="38100">
            <a:solidFill>
              <a:srgbClr val="0F766E"/>
            </a:solidFill>
            <a:prstDash val="solid"/>
            <a:tailEnd type="triangle"/>
          </a:ln>
        </p:spPr>
      </p:sp>
      <p:sp>
        <p:nvSpPr>
          <p:cNvPr id="26" name="Shape 24"/>
          <p:cNvSpPr/>
          <p:nvPr/>
        </p:nvSpPr>
        <p:spPr>
          <a:xfrm>
            <a:off x="1892808" y="4828032"/>
            <a:ext cx="8412480" cy="841248"/>
          </a:xfrm>
          <a:prstGeom prst="roundRect">
            <a:avLst>
              <a:gd name="adj" fmla="val 8696"/>
            </a:avLst>
          </a:prstGeom>
          <a:solidFill>
            <a:srgbClr val="0B1220"/>
          </a:solidFill>
          <a:ln w="12700">
            <a:solidFill>
              <a:srgbClr val="0B1220"/>
            </a:solidFill>
            <a:prstDash val="solid"/>
          </a:ln>
        </p:spPr>
      </p:sp>
      <p:sp>
        <p:nvSpPr>
          <p:cNvPr id="27" name="Text 25"/>
          <p:cNvSpPr/>
          <p:nvPr/>
        </p:nvSpPr>
        <p:spPr>
          <a:xfrm>
            <a:off x="2240280" y="5102352"/>
            <a:ext cx="822960" cy="256032"/>
          </a:xfrm>
          <a:prstGeom prst="rect">
            <a:avLst/>
          </a:prstGeom>
          <a:noFill/>
          <a:ln/>
        </p:spPr>
        <p:txBody>
          <a:bodyPr wrap="square" lIns="0" tIns="0" rIns="0" bIns="0" rtlCol="0" anchor="ctr"/>
          <a:lstStyle/>
          <a:p>
            <a:pPr indent="0" marL="0">
              <a:buNone/>
            </a:pPr>
            <a:r>
              <a:rPr lang="en-US" sz="1400" b="1" dirty="0">
                <a:solidFill>
                  <a:srgbClr val="CCFBF1"/>
                </a:solidFill>
                <a:latin typeface="Calibri" pitchFamily="34" charset="0"/>
                <a:ea typeface="Calibri" pitchFamily="34" charset="-122"/>
                <a:cs typeface="Calibri" pitchFamily="34" charset="-120"/>
              </a:rPr>
              <a:t>ĐẠT</a:t>
            </a:r>
            <a:endParaRPr lang="en-US" sz="1400" dirty="0"/>
          </a:p>
        </p:txBody>
      </p:sp>
      <p:sp>
        <p:nvSpPr>
          <p:cNvPr id="28" name="Text 26"/>
          <p:cNvSpPr/>
          <p:nvPr/>
        </p:nvSpPr>
        <p:spPr>
          <a:xfrm>
            <a:off x="3035808" y="5047488"/>
            <a:ext cx="3657600" cy="329184"/>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Calibri" pitchFamily="34" charset="0"/>
                <a:ea typeface="Calibri" pitchFamily="34" charset="-122"/>
                <a:cs typeface="Calibri" pitchFamily="34" charset="-120"/>
              </a:rPr>
              <a:t>Ban hành RDR-0003 và chuyển sang mô hình hóa hành vi chấm điểm</a:t>
            </a:r>
            <a:endParaRPr lang="en-US" sz="1400" dirty="0"/>
          </a:p>
        </p:txBody>
      </p:sp>
      <p:sp>
        <p:nvSpPr>
          <p:cNvPr id="29" name="Text 27"/>
          <p:cNvSpPr/>
          <p:nvPr/>
        </p:nvSpPr>
        <p:spPr>
          <a:xfrm>
            <a:off x="7059168" y="5102352"/>
            <a:ext cx="658368" cy="256032"/>
          </a:xfrm>
          <a:prstGeom prst="rect">
            <a:avLst/>
          </a:prstGeom>
          <a:noFill/>
          <a:ln/>
        </p:spPr>
        <p:txBody>
          <a:bodyPr wrap="square" lIns="0" tIns="0" rIns="0" bIns="0" rtlCol="0" anchor="ctr"/>
          <a:lstStyle/>
          <a:p>
            <a:pPr indent="0" marL="0">
              <a:buNone/>
            </a:pPr>
            <a:r>
              <a:rPr lang="en-US" sz="1400" b="1" dirty="0">
                <a:solidFill>
                  <a:srgbClr val="FFE4E6"/>
                </a:solidFill>
                <a:latin typeface="Calibri" pitchFamily="34" charset="0"/>
                <a:ea typeface="Calibri" pitchFamily="34" charset="-122"/>
                <a:cs typeface="Calibri" pitchFamily="34" charset="-120"/>
              </a:rPr>
              <a:t>KHÔNG ĐẠT</a:t>
            </a:r>
            <a:endParaRPr lang="en-US" sz="1400" dirty="0"/>
          </a:p>
        </p:txBody>
      </p:sp>
      <p:sp>
        <p:nvSpPr>
          <p:cNvPr id="30" name="Text 28"/>
          <p:cNvSpPr/>
          <p:nvPr/>
        </p:nvSpPr>
        <p:spPr>
          <a:xfrm>
            <a:off x="7662672" y="5047488"/>
            <a:ext cx="2331720" cy="329184"/>
          </a:xfrm>
          <a:prstGeom prst="rect">
            <a:avLst/>
          </a:prstGeom>
          <a:noFill/>
          <a:ln/>
        </p:spPr>
        <p:txBody>
          <a:bodyPr wrap="square" lIns="0" tIns="0" rIns="0" bIns="0" rtlCol="0" anchor="ctr">
            <a:normAutofit/>
          </a:bodyPr>
          <a:lstStyle/>
          <a:p>
            <a:pPr indent="0" marL="0">
              <a:buNone/>
            </a:pPr>
            <a:r>
              <a:rPr lang="en-US" sz="1250" b="1" dirty="0">
                <a:solidFill>
                  <a:srgbClr val="FFFFFF"/>
                </a:solidFill>
                <a:latin typeface="Calibri" pitchFamily="34" charset="0"/>
                <a:ea typeface="Calibri" pitchFamily="34" charset="-122"/>
                <a:cs typeface="Calibri" pitchFamily="34" charset="-120"/>
              </a:rPr>
              <a:t>Giữ baseline ma trận; chỉ mở tìm kiếm có mục tiêu</a:t>
            </a:r>
            <a:endParaRPr lang="en-US" sz="1250" dirty="0"/>
          </a:p>
        </p:txBody>
      </p:sp>
      <p:sp>
        <p:nvSpPr>
          <p:cNvPr id="31" name="Text 29"/>
          <p:cNvSpPr/>
          <p:nvPr/>
        </p:nvSpPr>
        <p:spPr>
          <a:xfrm>
            <a:off x="640080" y="6172200"/>
            <a:ext cx="10607040" cy="164592"/>
          </a:xfrm>
          <a:prstGeom prst="rect">
            <a:avLst/>
          </a:prstGeom>
          <a:noFill/>
          <a:ln/>
        </p:spPr>
        <p:txBody>
          <a:bodyPr wrap="square" lIns="0" tIns="0" rIns="0" bIns="0" rtlCol="0" anchor="ctr">
            <a:normAutofit/>
          </a:bodyPr>
          <a:lstStyle/>
          <a:p>
            <a:pPr indent="0" marL="0">
              <a:buNone/>
            </a:pPr>
            <a:r>
              <a:rPr lang="en-US" sz="850" i="1" dirty="0">
                <a:solidFill>
                  <a:srgbClr val="64748B"/>
                </a:solidFill>
                <a:latin typeface="Calibri" pitchFamily="34" charset="0"/>
                <a:ea typeface="Calibri" pitchFamily="34" charset="-122"/>
                <a:cs typeface="Calibri" pitchFamily="34" charset="-120"/>
              </a:rPr>
              <a:t>Nguồn: tổng hợp khảo sát Gate B–D và bản nháp Research Proposal.</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indent="0" marL="0">
              <a:buNone/>
            </a:pPr>
            <a:r>
              <a:rPr lang="en-US" sz="1000" b="1" spc="120" kern="0" dirty="0">
                <a:solidFill>
                  <a:srgbClr val="0F766E"/>
                </a:solidFill>
                <a:latin typeface="Calibri" pitchFamily="34" charset="0"/>
                <a:ea typeface="Calibri" pitchFamily="34" charset="-122"/>
                <a:cs typeface="Calibri" pitchFamily="34" charset="-120"/>
              </a:rPr>
              <a:t>TRẠNG THÁI TRUNG THỰC</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indent="0" marL="0">
              <a:buNone/>
            </a:pPr>
            <a:r>
              <a:rPr lang="en-US" sz="2900" b="1" dirty="0">
                <a:solidFill>
                  <a:srgbClr val="172033"/>
                </a:solidFill>
                <a:latin typeface="Cambria" pitchFamily="34" charset="0"/>
                <a:ea typeface="Cambria" pitchFamily="34" charset="-122"/>
                <a:cs typeface="Cambria" pitchFamily="34" charset="-120"/>
              </a:rPr>
              <a:t>Nhóm đã hoàn thành gì — và điều gì còn mở</a:t>
            </a:r>
            <a:endParaRPr lang="en-US" sz="2900" dirty="0"/>
          </a:p>
        </p:txBody>
      </p:sp>
      <p:sp>
        <p:nvSpPr>
          <p:cNvPr id="4" name="Shape 2"/>
          <p:cNvSpPr/>
          <p:nvPr/>
        </p:nvSpPr>
        <p:spPr>
          <a:xfrm>
            <a:off x="658368" y="1261872"/>
            <a:ext cx="5257800" cy="4434840"/>
          </a:xfrm>
          <a:prstGeom prst="roundRect">
            <a:avLst>
              <a:gd name="adj" fmla="val 1649"/>
            </a:avLst>
          </a:prstGeom>
          <a:solidFill>
            <a:srgbClr val="DCFCE7"/>
          </a:solidFill>
          <a:ln w="12700">
            <a:solidFill>
              <a:srgbClr val="DCFCE7"/>
            </a:solidFill>
            <a:prstDash val="solid"/>
          </a:ln>
        </p:spPr>
      </p:sp>
      <p:sp>
        <p:nvSpPr>
          <p:cNvPr id="5" name="Text 3"/>
          <p:cNvSpPr/>
          <p:nvPr/>
        </p:nvSpPr>
        <p:spPr>
          <a:xfrm>
            <a:off x="932688" y="1600200"/>
            <a:ext cx="1325880" cy="292608"/>
          </a:xfrm>
          <a:prstGeom prst="rect">
            <a:avLst/>
          </a:prstGeom>
          <a:noFill/>
          <a:ln/>
        </p:spPr>
        <p:txBody>
          <a:bodyPr wrap="square" lIns="0" tIns="0" rIns="0" bIns="0" rtlCol="0" anchor="ctr"/>
          <a:lstStyle/>
          <a:p>
            <a:pPr indent="0" marL="0">
              <a:buNone/>
            </a:pPr>
            <a:r>
              <a:rPr lang="en-US" sz="1400" b="1" spc="80" kern="0" dirty="0">
                <a:solidFill>
                  <a:srgbClr val="15803D"/>
                </a:solidFill>
                <a:latin typeface="Calibri" pitchFamily="34" charset="0"/>
                <a:ea typeface="Calibri" pitchFamily="34" charset="-122"/>
                <a:cs typeface="Calibri" pitchFamily="34" charset="-120"/>
              </a:rPr>
              <a:t>ĐÃ HOÀN THÀNH</a:t>
            </a:r>
            <a:endParaRPr lang="en-US" sz="1400" dirty="0"/>
          </a:p>
        </p:txBody>
      </p:sp>
      <p:sp>
        <p:nvSpPr>
          <p:cNvPr id="6" name="Shape 4"/>
          <p:cNvSpPr/>
          <p:nvPr/>
        </p:nvSpPr>
        <p:spPr>
          <a:xfrm>
            <a:off x="950976" y="2148840"/>
            <a:ext cx="228600" cy="228600"/>
          </a:xfrm>
          <a:prstGeom prst="ellipse">
            <a:avLst/>
          </a:prstGeom>
          <a:solidFill>
            <a:srgbClr val="15803D"/>
          </a:solidFill>
          <a:ln w="12700">
            <a:solidFill>
              <a:srgbClr val="15803D"/>
            </a:solidFill>
            <a:prstDash val="solid"/>
          </a:ln>
        </p:spPr>
      </p:sp>
      <p:sp>
        <p:nvSpPr>
          <p:cNvPr id="7" name="Text 5"/>
          <p:cNvSpPr/>
          <p:nvPr/>
        </p:nvSpPr>
        <p:spPr>
          <a:xfrm>
            <a:off x="950976" y="2176272"/>
            <a:ext cx="228600" cy="10972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p>
        </p:txBody>
      </p:sp>
      <p:sp>
        <p:nvSpPr>
          <p:cNvPr id="8" name="Text 6"/>
          <p:cNvSpPr/>
          <p:nvPr/>
        </p:nvSpPr>
        <p:spPr>
          <a:xfrm>
            <a:off x="1353312" y="2112264"/>
            <a:ext cx="4069080" cy="274320"/>
          </a:xfrm>
          <a:prstGeom prst="rect">
            <a:avLst/>
          </a:prstGeom>
          <a:noFill/>
          <a:ln/>
        </p:spPr>
        <p:txBody>
          <a:bodyPr wrap="square" lIns="0" tIns="0" rIns="0" bIns="0" rtlCol="0" anchor="ctr">
            <a:normAutofit/>
          </a:bodyPr>
          <a:lstStyle/>
          <a:p>
            <a:pPr indent="0" marL="0">
              <a:buNone/>
            </a:pPr>
            <a:r>
              <a:rPr lang="en-US" sz="1350" dirty="0">
                <a:solidFill>
                  <a:srgbClr val="172033"/>
                </a:solidFill>
                <a:latin typeface="Calibri" pitchFamily="34" charset="0"/>
                <a:ea typeface="Calibri" pitchFamily="34" charset="-122"/>
                <a:cs typeface="Calibri" pitchFamily="34" charset="-120"/>
              </a:rPr>
              <a:t>Hai vòng khảo sát văn hiến</a:t>
            </a:r>
            <a:endParaRPr lang="en-US" sz="1350" dirty="0"/>
          </a:p>
        </p:txBody>
      </p:sp>
      <p:sp>
        <p:nvSpPr>
          <p:cNvPr id="9" name="Shape 7"/>
          <p:cNvSpPr/>
          <p:nvPr/>
        </p:nvSpPr>
        <p:spPr>
          <a:xfrm>
            <a:off x="950976" y="2660904"/>
            <a:ext cx="228600" cy="228600"/>
          </a:xfrm>
          <a:prstGeom prst="ellipse">
            <a:avLst/>
          </a:prstGeom>
          <a:solidFill>
            <a:srgbClr val="15803D"/>
          </a:solidFill>
          <a:ln w="12700">
            <a:solidFill>
              <a:srgbClr val="15803D"/>
            </a:solidFill>
            <a:prstDash val="solid"/>
          </a:ln>
        </p:spPr>
      </p:sp>
      <p:sp>
        <p:nvSpPr>
          <p:cNvPr id="10" name="Text 8"/>
          <p:cNvSpPr/>
          <p:nvPr/>
        </p:nvSpPr>
        <p:spPr>
          <a:xfrm>
            <a:off x="950976" y="2688336"/>
            <a:ext cx="228600" cy="10972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p>
        </p:txBody>
      </p:sp>
      <p:sp>
        <p:nvSpPr>
          <p:cNvPr id="11" name="Text 9"/>
          <p:cNvSpPr/>
          <p:nvPr/>
        </p:nvSpPr>
        <p:spPr>
          <a:xfrm>
            <a:off x="1353312" y="2624328"/>
            <a:ext cx="4069080" cy="274320"/>
          </a:xfrm>
          <a:prstGeom prst="rect">
            <a:avLst/>
          </a:prstGeom>
          <a:noFill/>
          <a:ln/>
        </p:spPr>
        <p:txBody>
          <a:bodyPr wrap="square" lIns="0" tIns="0" rIns="0" bIns="0" rtlCol="0" anchor="ctr">
            <a:normAutofit/>
          </a:bodyPr>
          <a:lstStyle/>
          <a:p>
            <a:pPr indent="0" marL="0">
              <a:buNone/>
            </a:pPr>
            <a:r>
              <a:rPr lang="en-US" sz="1350" dirty="0">
                <a:solidFill>
                  <a:srgbClr val="172033"/>
                </a:solidFill>
                <a:latin typeface="Calibri" pitchFamily="34" charset="0"/>
                <a:ea typeface="Calibri" pitchFamily="34" charset="-122"/>
                <a:cs typeface="Calibri" pitchFamily="34" charset="-120"/>
              </a:rPr>
              <a:t>15 bài hạt nhân + 3 bài watchlist</a:t>
            </a:r>
            <a:endParaRPr lang="en-US" sz="1350" dirty="0"/>
          </a:p>
        </p:txBody>
      </p:sp>
      <p:sp>
        <p:nvSpPr>
          <p:cNvPr id="12" name="Shape 10"/>
          <p:cNvSpPr/>
          <p:nvPr/>
        </p:nvSpPr>
        <p:spPr>
          <a:xfrm>
            <a:off x="950976" y="3172968"/>
            <a:ext cx="228600" cy="228600"/>
          </a:xfrm>
          <a:prstGeom prst="ellipse">
            <a:avLst/>
          </a:prstGeom>
          <a:solidFill>
            <a:srgbClr val="15803D"/>
          </a:solidFill>
          <a:ln w="12700">
            <a:solidFill>
              <a:srgbClr val="15803D"/>
            </a:solidFill>
            <a:prstDash val="solid"/>
          </a:ln>
        </p:spPr>
      </p:sp>
      <p:sp>
        <p:nvSpPr>
          <p:cNvPr id="13" name="Text 11"/>
          <p:cNvSpPr/>
          <p:nvPr/>
        </p:nvSpPr>
        <p:spPr>
          <a:xfrm>
            <a:off x="950976" y="3200400"/>
            <a:ext cx="228600" cy="10972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p>
        </p:txBody>
      </p:sp>
      <p:sp>
        <p:nvSpPr>
          <p:cNvPr id="14" name="Text 12"/>
          <p:cNvSpPr/>
          <p:nvPr/>
        </p:nvSpPr>
        <p:spPr>
          <a:xfrm>
            <a:off x="1353312" y="3136392"/>
            <a:ext cx="4069080" cy="274320"/>
          </a:xfrm>
          <a:prstGeom prst="rect">
            <a:avLst/>
          </a:prstGeom>
          <a:noFill/>
          <a:ln/>
        </p:spPr>
        <p:txBody>
          <a:bodyPr wrap="square" lIns="0" tIns="0" rIns="0" bIns="0" rtlCol="0" anchor="ctr">
            <a:normAutofit/>
          </a:bodyPr>
          <a:lstStyle/>
          <a:p>
            <a:pPr indent="0" marL="0">
              <a:buNone/>
            </a:pPr>
            <a:r>
              <a:rPr lang="en-US" sz="1350" dirty="0">
                <a:solidFill>
                  <a:srgbClr val="172033"/>
                </a:solidFill>
                <a:latin typeface="Calibri" pitchFamily="34" charset="0"/>
                <a:ea typeface="Calibri" pitchFamily="34" charset="-122"/>
                <a:cs typeface="Calibri" pitchFamily="34" charset="-120"/>
              </a:rPr>
              <a:t>Lập luận research gap và contribution</a:t>
            </a:r>
            <a:endParaRPr lang="en-US" sz="1350" dirty="0"/>
          </a:p>
        </p:txBody>
      </p:sp>
      <p:sp>
        <p:nvSpPr>
          <p:cNvPr id="15" name="Shape 13"/>
          <p:cNvSpPr/>
          <p:nvPr/>
        </p:nvSpPr>
        <p:spPr>
          <a:xfrm>
            <a:off x="950976" y="3685032"/>
            <a:ext cx="228600" cy="228600"/>
          </a:xfrm>
          <a:prstGeom prst="ellipse">
            <a:avLst/>
          </a:prstGeom>
          <a:solidFill>
            <a:srgbClr val="15803D"/>
          </a:solidFill>
          <a:ln w="12700">
            <a:solidFill>
              <a:srgbClr val="15803D"/>
            </a:solidFill>
            <a:prstDash val="solid"/>
          </a:ln>
        </p:spPr>
      </p:sp>
      <p:sp>
        <p:nvSpPr>
          <p:cNvPr id="16" name="Text 14"/>
          <p:cNvSpPr/>
          <p:nvPr/>
        </p:nvSpPr>
        <p:spPr>
          <a:xfrm>
            <a:off x="950976" y="3712464"/>
            <a:ext cx="228600" cy="10972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p>
        </p:txBody>
      </p:sp>
      <p:sp>
        <p:nvSpPr>
          <p:cNvPr id="17" name="Text 15"/>
          <p:cNvSpPr/>
          <p:nvPr/>
        </p:nvSpPr>
        <p:spPr>
          <a:xfrm>
            <a:off x="1353312" y="3648456"/>
            <a:ext cx="4069080" cy="274320"/>
          </a:xfrm>
          <a:prstGeom prst="rect">
            <a:avLst/>
          </a:prstGeom>
          <a:noFill/>
          <a:ln/>
        </p:spPr>
        <p:txBody>
          <a:bodyPr wrap="square" lIns="0" tIns="0" rIns="0" bIns="0" rtlCol="0" anchor="ctr">
            <a:normAutofit/>
          </a:bodyPr>
          <a:lstStyle/>
          <a:p>
            <a:pPr indent="0" marL="0">
              <a:buNone/>
            </a:pPr>
            <a:r>
              <a:rPr lang="en-US" sz="1350" dirty="0">
                <a:solidFill>
                  <a:srgbClr val="172033"/>
                </a:solidFill>
                <a:latin typeface="Calibri" pitchFamily="34" charset="0"/>
                <a:ea typeface="Calibri" pitchFamily="34" charset="-122"/>
                <a:cs typeface="Calibri" pitchFamily="34" charset="-120"/>
              </a:rPr>
              <a:t>Quy trình gán nhãn có đối chứng</a:t>
            </a:r>
            <a:endParaRPr lang="en-US" sz="1350" dirty="0"/>
          </a:p>
        </p:txBody>
      </p:sp>
      <p:sp>
        <p:nvSpPr>
          <p:cNvPr id="18" name="Shape 16"/>
          <p:cNvSpPr/>
          <p:nvPr/>
        </p:nvSpPr>
        <p:spPr>
          <a:xfrm>
            <a:off x="950976" y="4197096"/>
            <a:ext cx="228600" cy="228600"/>
          </a:xfrm>
          <a:prstGeom prst="ellipse">
            <a:avLst/>
          </a:prstGeom>
          <a:solidFill>
            <a:srgbClr val="15803D"/>
          </a:solidFill>
          <a:ln w="12700">
            <a:solidFill>
              <a:srgbClr val="15803D"/>
            </a:solidFill>
            <a:prstDash val="solid"/>
          </a:ln>
        </p:spPr>
      </p:sp>
      <p:sp>
        <p:nvSpPr>
          <p:cNvPr id="19" name="Text 17"/>
          <p:cNvSpPr/>
          <p:nvPr/>
        </p:nvSpPr>
        <p:spPr>
          <a:xfrm>
            <a:off x="950976" y="4224528"/>
            <a:ext cx="228600" cy="10972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p>
        </p:txBody>
      </p:sp>
      <p:sp>
        <p:nvSpPr>
          <p:cNvPr id="20" name="Text 18"/>
          <p:cNvSpPr/>
          <p:nvPr/>
        </p:nvSpPr>
        <p:spPr>
          <a:xfrm>
            <a:off x="1353312" y="4160520"/>
            <a:ext cx="4069080" cy="274320"/>
          </a:xfrm>
          <a:prstGeom prst="rect">
            <a:avLst/>
          </a:prstGeom>
          <a:noFill/>
          <a:ln/>
        </p:spPr>
        <p:txBody>
          <a:bodyPr wrap="square" lIns="0" tIns="0" rIns="0" bIns="0" rtlCol="0" anchor="ctr">
            <a:normAutofit/>
          </a:bodyPr>
          <a:lstStyle/>
          <a:p>
            <a:pPr indent="0" marL="0">
              <a:buNone/>
            </a:pPr>
            <a:r>
              <a:rPr lang="en-US" sz="1350" dirty="0">
                <a:solidFill>
                  <a:srgbClr val="172033"/>
                </a:solidFill>
                <a:latin typeface="Calibri" pitchFamily="34" charset="0"/>
                <a:ea typeface="Calibri" pitchFamily="34" charset="-122"/>
                <a:cs typeface="Calibri" pitchFamily="34" charset="-120"/>
              </a:rPr>
              <a:t>Bản nháp Research Proposal</a:t>
            </a:r>
            <a:endParaRPr lang="en-US" sz="1350" dirty="0"/>
          </a:p>
        </p:txBody>
      </p:sp>
      <p:sp>
        <p:nvSpPr>
          <p:cNvPr id="21" name="Shape 19"/>
          <p:cNvSpPr/>
          <p:nvPr/>
        </p:nvSpPr>
        <p:spPr>
          <a:xfrm>
            <a:off x="950976" y="4709160"/>
            <a:ext cx="228600" cy="228600"/>
          </a:xfrm>
          <a:prstGeom prst="ellipse">
            <a:avLst/>
          </a:prstGeom>
          <a:solidFill>
            <a:srgbClr val="15803D"/>
          </a:solidFill>
          <a:ln w="12700">
            <a:solidFill>
              <a:srgbClr val="15803D"/>
            </a:solidFill>
            <a:prstDash val="solid"/>
          </a:ln>
        </p:spPr>
      </p:sp>
      <p:sp>
        <p:nvSpPr>
          <p:cNvPr id="22" name="Text 20"/>
          <p:cNvSpPr/>
          <p:nvPr/>
        </p:nvSpPr>
        <p:spPr>
          <a:xfrm>
            <a:off x="950976" y="4736592"/>
            <a:ext cx="228600" cy="10972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p>
        </p:txBody>
      </p:sp>
      <p:sp>
        <p:nvSpPr>
          <p:cNvPr id="23" name="Text 21"/>
          <p:cNvSpPr/>
          <p:nvPr/>
        </p:nvSpPr>
        <p:spPr>
          <a:xfrm>
            <a:off x="1353312" y="4672584"/>
            <a:ext cx="4069080" cy="274320"/>
          </a:xfrm>
          <a:prstGeom prst="rect">
            <a:avLst/>
          </a:prstGeom>
          <a:noFill/>
          <a:ln/>
        </p:spPr>
        <p:txBody>
          <a:bodyPr wrap="square" lIns="0" tIns="0" rIns="0" bIns="0" rtlCol="0" anchor="ctr">
            <a:normAutofit/>
          </a:bodyPr>
          <a:lstStyle/>
          <a:p>
            <a:pPr indent="0" marL="0">
              <a:buNone/>
            </a:pPr>
            <a:r>
              <a:rPr lang="en-US" sz="1350" dirty="0">
                <a:solidFill>
                  <a:srgbClr val="172033"/>
                </a:solidFill>
                <a:latin typeface="Calibri" pitchFamily="34" charset="0"/>
                <a:ea typeface="Calibri" pitchFamily="34" charset="-122"/>
                <a:cs typeface="Calibri" pitchFamily="34" charset="-120"/>
              </a:rPr>
              <a:t>Audit trực tiếp dataset: 9.990 review</a:t>
            </a:r>
            <a:endParaRPr lang="en-US" sz="1350" dirty="0"/>
          </a:p>
        </p:txBody>
      </p:sp>
      <p:sp>
        <p:nvSpPr>
          <p:cNvPr id="24" name="Shape 22"/>
          <p:cNvSpPr/>
          <p:nvPr/>
        </p:nvSpPr>
        <p:spPr>
          <a:xfrm>
            <a:off x="6199632" y="1261872"/>
            <a:ext cx="5349240" cy="4434840"/>
          </a:xfrm>
          <a:prstGeom prst="roundRect">
            <a:avLst>
              <a:gd name="adj" fmla="val 1649"/>
            </a:avLst>
          </a:prstGeom>
          <a:solidFill>
            <a:srgbClr val="FEF3C7"/>
          </a:solidFill>
          <a:ln w="12700">
            <a:solidFill>
              <a:srgbClr val="FEF3C7"/>
            </a:solidFill>
            <a:prstDash val="solid"/>
          </a:ln>
        </p:spPr>
      </p:sp>
      <p:sp>
        <p:nvSpPr>
          <p:cNvPr id="25" name="Text 23"/>
          <p:cNvSpPr/>
          <p:nvPr/>
        </p:nvSpPr>
        <p:spPr>
          <a:xfrm>
            <a:off x="6473952" y="1600200"/>
            <a:ext cx="2377440" cy="292608"/>
          </a:xfrm>
          <a:prstGeom prst="rect">
            <a:avLst/>
          </a:prstGeom>
          <a:noFill/>
          <a:ln/>
        </p:spPr>
        <p:txBody>
          <a:bodyPr wrap="square" lIns="0" tIns="0" rIns="0" bIns="0" rtlCol="0" anchor="ctr"/>
          <a:lstStyle/>
          <a:p>
            <a:pPr indent="0" marL="0">
              <a:buNone/>
            </a:pPr>
            <a:r>
              <a:rPr lang="en-US" sz="1400" b="1" spc="60" kern="0" dirty="0">
                <a:solidFill>
                  <a:srgbClr val="D97706"/>
                </a:solidFill>
                <a:latin typeface="Calibri" pitchFamily="34" charset="0"/>
                <a:ea typeface="Calibri" pitchFamily="34" charset="-122"/>
                <a:cs typeface="Calibri" pitchFamily="34" charset="-120"/>
              </a:rPr>
              <a:t>CÒN MỞ / PHẢI KIỂM ĐỊNH</a:t>
            </a:r>
            <a:endParaRPr lang="en-US" sz="1400" dirty="0"/>
          </a:p>
        </p:txBody>
      </p:sp>
      <p:sp>
        <p:nvSpPr>
          <p:cNvPr id="26" name="Shape 24"/>
          <p:cNvSpPr/>
          <p:nvPr/>
        </p:nvSpPr>
        <p:spPr>
          <a:xfrm>
            <a:off x="6510528" y="2148840"/>
            <a:ext cx="228600" cy="228600"/>
          </a:xfrm>
          <a:prstGeom prst="ellipse">
            <a:avLst/>
          </a:prstGeom>
          <a:solidFill>
            <a:srgbClr val="F59E0B"/>
          </a:solidFill>
          <a:ln w="12700">
            <a:solidFill>
              <a:srgbClr val="F59E0B"/>
            </a:solidFill>
            <a:prstDash val="solid"/>
          </a:ln>
        </p:spPr>
      </p:sp>
      <p:sp>
        <p:nvSpPr>
          <p:cNvPr id="27" name="Text 25"/>
          <p:cNvSpPr/>
          <p:nvPr/>
        </p:nvSpPr>
        <p:spPr>
          <a:xfrm>
            <a:off x="6510528" y="2176272"/>
            <a:ext cx="228600" cy="10972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28" name="Text 26"/>
          <p:cNvSpPr/>
          <p:nvPr/>
        </p:nvSpPr>
        <p:spPr>
          <a:xfrm>
            <a:off x="6912864" y="2112264"/>
            <a:ext cx="4160520" cy="274320"/>
          </a:xfrm>
          <a:prstGeom prst="rect">
            <a:avLst/>
          </a:prstGeom>
          <a:noFill/>
          <a:ln/>
        </p:spPr>
        <p:txBody>
          <a:bodyPr wrap="square" lIns="0" tIns="0" rIns="0" bIns="0" rtlCol="0" anchor="ctr">
            <a:normAutofit/>
          </a:bodyPr>
          <a:lstStyle/>
          <a:p>
            <a:pPr indent="0" marL="0">
              <a:buNone/>
            </a:pPr>
            <a:r>
              <a:rPr lang="en-US" sz="1350" dirty="0">
                <a:solidFill>
                  <a:srgbClr val="172033"/>
                </a:solidFill>
                <a:latin typeface="Calibri" pitchFamily="34" charset="0"/>
                <a:ea typeface="Calibri" pitchFamily="34" charset="-122"/>
                <a:cs typeface="Calibri" pitchFamily="34" charset="-120"/>
              </a:rPr>
              <a:t>Tỷ lệ bất nhất thực sự</a:t>
            </a:r>
            <a:endParaRPr lang="en-US" sz="1350" dirty="0"/>
          </a:p>
        </p:txBody>
      </p:sp>
      <p:sp>
        <p:nvSpPr>
          <p:cNvPr id="29" name="Shape 27"/>
          <p:cNvSpPr/>
          <p:nvPr/>
        </p:nvSpPr>
        <p:spPr>
          <a:xfrm>
            <a:off x="6510528" y="2660904"/>
            <a:ext cx="228600" cy="228600"/>
          </a:xfrm>
          <a:prstGeom prst="ellipse">
            <a:avLst/>
          </a:prstGeom>
          <a:solidFill>
            <a:srgbClr val="F59E0B"/>
          </a:solidFill>
          <a:ln w="12700">
            <a:solidFill>
              <a:srgbClr val="F59E0B"/>
            </a:solidFill>
            <a:prstDash val="solid"/>
          </a:ln>
        </p:spPr>
      </p:sp>
      <p:sp>
        <p:nvSpPr>
          <p:cNvPr id="30" name="Text 28"/>
          <p:cNvSpPr/>
          <p:nvPr/>
        </p:nvSpPr>
        <p:spPr>
          <a:xfrm>
            <a:off x="6510528" y="2688336"/>
            <a:ext cx="228600" cy="10972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31" name="Text 29"/>
          <p:cNvSpPr/>
          <p:nvPr/>
        </p:nvSpPr>
        <p:spPr>
          <a:xfrm>
            <a:off x="6912864" y="2624328"/>
            <a:ext cx="4160520" cy="274320"/>
          </a:xfrm>
          <a:prstGeom prst="rect">
            <a:avLst/>
          </a:prstGeom>
          <a:noFill/>
          <a:ln/>
        </p:spPr>
        <p:txBody>
          <a:bodyPr wrap="square" lIns="0" tIns="0" rIns="0" bIns="0" rtlCol="0" anchor="ctr">
            <a:normAutofit/>
          </a:bodyPr>
          <a:lstStyle/>
          <a:p>
            <a:pPr indent="0" marL="0">
              <a:buNone/>
            </a:pPr>
            <a:r>
              <a:rPr lang="en-US" sz="1350" dirty="0">
                <a:solidFill>
                  <a:srgbClr val="172033"/>
                </a:solidFill>
                <a:latin typeface="Calibri" pitchFamily="34" charset="0"/>
                <a:ea typeface="Calibri" pitchFamily="34" charset="-122"/>
                <a:cs typeface="Calibri" pitchFamily="34" charset="-120"/>
              </a:rPr>
              <a:t>Sentiment estimator tốt nhất</a:t>
            </a:r>
            <a:endParaRPr lang="en-US" sz="1350" dirty="0"/>
          </a:p>
        </p:txBody>
      </p:sp>
      <p:sp>
        <p:nvSpPr>
          <p:cNvPr id="32" name="Shape 30"/>
          <p:cNvSpPr/>
          <p:nvPr/>
        </p:nvSpPr>
        <p:spPr>
          <a:xfrm>
            <a:off x="6510528" y="3172968"/>
            <a:ext cx="228600" cy="228600"/>
          </a:xfrm>
          <a:prstGeom prst="ellipse">
            <a:avLst/>
          </a:prstGeom>
          <a:solidFill>
            <a:srgbClr val="F59E0B"/>
          </a:solidFill>
          <a:ln w="12700">
            <a:solidFill>
              <a:srgbClr val="F59E0B"/>
            </a:solidFill>
            <a:prstDash val="solid"/>
          </a:ln>
        </p:spPr>
      </p:sp>
      <p:sp>
        <p:nvSpPr>
          <p:cNvPr id="33" name="Text 31"/>
          <p:cNvSpPr/>
          <p:nvPr/>
        </p:nvSpPr>
        <p:spPr>
          <a:xfrm>
            <a:off x="6510528" y="3200400"/>
            <a:ext cx="228600" cy="10972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34" name="Text 32"/>
          <p:cNvSpPr/>
          <p:nvPr/>
        </p:nvSpPr>
        <p:spPr>
          <a:xfrm>
            <a:off x="6912864" y="3136392"/>
            <a:ext cx="4160520" cy="274320"/>
          </a:xfrm>
          <a:prstGeom prst="rect">
            <a:avLst/>
          </a:prstGeom>
          <a:noFill/>
          <a:ln/>
        </p:spPr>
        <p:txBody>
          <a:bodyPr wrap="square" lIns="0" tIns="0" rIns="0" bIns="0" rtlCol="0" anchor="ctr">
            <a:normAutofit/>
          </a:bodyPr>
          <a:lstStyle/>
          <a:p>
            <a:pPr indent="0" marL="0">
              <a:buNone/>
            </a:pPr>
            <a:r>
              <a:rPr lang="en-US" sz="1350" dirty="0">
                <a:solidFill>
                  <a:srgbClr val="172033"/>
                </a:solidFill>
                <a:latin typeface="Calibri" pitchFamily="34" charset="0"/>
                <a:ea typeface="Calibri" pitchFamily="34" charset="-122"/>
                <a:cs typeface="Calibri" pitchFamily="34" charset="-120"/>
              </a:rPr>
              <a:t>Chuẩn hóa và threshold</a:t>
            </a:r>
            <a:endParaRPr lang="en-US" sz="1350" dirty="0"/>
          </a:p>
        </p:txBody>
      </p:sp>
      <p:sp>
        <p:nvSpPr>
          <p:cNvPr id="35" name="Shape 33"/>
          <p:cNvSpPr/>
          <p:nvPr/>
        </p:nvSpPr>
        <p:spPr>
          <a:xfrm>
            <a:off x="6510528" y="3685032"/>
            <a:ext cx="228600" cy="228600"/>
          </a:xfrm>
          <a:prstGeom prst="ellipse">
            <a:avLst/>
          </a:prstGeom>
          <a:solidFill>
            <a:srgbClr val="F59E0B"/>
          </a:solidFill>
          <a:ln w="12700">
            <a:solidFill>
              <a:srgbClr val="F59E0B"/>
            </a:solidFill>
            <a:prstDash val="solid"/>
          </a:ln>
        </p:spPr>
      </p:sp>
      <p:sp>
        <p:nvSpPr>
          <p:cNvPr id="36" name="Text 34"/>
          <p:cNvSpPr/>
          <p:nvPr/>
        </p:nvSpPr>
        <p:spPr>
          <a:xfrm>
            <a:off x="6510528" y="3712464"/>
            <a:ext cx="228600" cy="10972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37" name="Text 35"/>
          <p:cNvSpPr/>
          <p:nvPr/>
        </p:nvSpPr>
        <p:spPr>
          <a:xfrm>
            <a:off x="6912864" y="3648456"/>
            <a:ext cx="4160520" cy="274320"/>
          </a:xfrm>
          <a:prstGeom prst="rect">
            <a:avLst/>
          </a:prstGeom>
          <a:noFill/>
          <a:ln/>
        </p:spPr>
        <p:txBody>
          <a:bodyPr wrap="square" lIns="0" tIns="0" rIns="0" bIns="0" rtlCol="0" anchor="ctr">
            <a:normAutofit/>
          </a:bodyPr>
          <a:lstStyle/>
          <a:p>
            <a:pPr indent="0" marL="0">
              <a:buNone/>
            </a:pPr>
            <a:r>
              <a:rPr lang="en-US" sz="1350" dirty="0">
                <a:solidFill>
                  <a:srgbClr val="172033"/>
                </a:solidFill>
                <a:latin typeface="Calibri" pitchFamily="34" charset="0"/>
                <a:ea typeface="Calibri" pitchFamily="34" charset="-122"/>
                <a:cs typeface="Calibri" pitchFamily="34" charset="-120"/>
              </a:rPr>
              <a:t>Phép đo bất nhất cuối cùng</a:t>
            </a:r>
            <a:endParaRPr lang="en-US" sz="1350" dirty="0"/>
          </a:p>
        </p:txBody>
      </p:sp>
      <p:sp>
        <p:nvSpPr>
          <p:cNvPr id="38" name="Shape 36"/>
          <p:cNvSpPr/>
          <p:nvPr/>
        </p:nvSpPr>
        <p:spPr>
          <a:xfrm>
            <a:off x="6510528" y="4197096"/>
            <a:ext cx="228600" cy="228600"/>
          </a:xfrm>
          <a:prstGeom prst="ellipse">
            <a:avLst/>
          </a:prstGeom>
          <a:solidFill>
            <a:srgbClr val="F59E0B"/>
          </a:solidFill>
          <a:ln w="12700">
            <a:solidFill>
              <a:srgbClr val="F59E0B"/>
            </a:solidFill>
            <a:prstDash val="solid"/>
          </a:ln>
        </p:spPr>
      </p:sp>
      <p:sp>
        <p:nvSpPr>
          <p:cNvPr id="39" name="Text 37"/>
          <p:cNvSpPr/>
          <p:nvPr/>
        </p:nvSpPr>
        <p:spPr>
          <a:xfrm>
            <a:off x="6510528" y="4224528"/>
            <a:ext cx="228600" cy="10972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40" name="Text 38"/>
          <p:cNvSpPr/>
          <p:nvPr/>
        </p:nvSpPr>
        <p:spPr>
          <a:xfrm>
            <a:off x="6912864" y="4160520"/>
            <a:ext cx="4160520" cy="274320"/>
          </a:xfrm>
          <a:prstGeom prst="rect">
            <a:avLst/>
          </a:prstGeom>
          <a:noFill/>
          <a:ln/>
        </p:spPr>
        <p:txBody>
          <a:bodyPr wrap="square" lIns="0" tIns="0" rIns="0" bIns="0" rtlCol="0" anchor="ctr">
            <a:normAutofit/>
          </a:bodyPr>
          <a:lstStyle/>
          <a:p>
            <a:pPr indent="0" marL="0">
              <a:buNone/>
            </a:pPr>
            <a:r>
              <a:rPr lang="en-US" sz="1350" dirty="0">
                <a:solidFill>
                  <a:srgbClr val="172033"/>
                </a:solidFill>
                <a:latin typeface="Calibri" pitchFamily="34" charset="0"/>
                <a:ea typeface="Calibri" pitchFamily="34" charset="-122"/>
                <a:cs typeface="Calibri" pitchFamily="34" charset="-120"/>
              </a:rPr>
              <a:t>Construct validity của Thăng hoa / Phẫn nộ</a:t>
            </a:r>
            <a:endParaRPr lang="en-US" sz="1350" dirty="0"/>
          </a:p>
        </p:txBody>
      </p:sp>
      <p:sp>
        <p:nvSpPr>
          <p:cNvPr id="41" name="Shape 39"/>
          <p:cNvSpPr/>
          <p:nvPr/>
        </p:nvSpPr>
        <p:spPr>
          <a:xfrm>
            <a:off x="6510528" y="4709160"/>
            <a:ext cx="228600" cy="228600"/>
          </a:xfrm>
          <a:prstGeom prst="ellipse">
            <a:avLst/>
          </a:prstGeom>
          <a:solidFill>
            <a:srgbClr val="F59E0B"/>
          </a:solidFill>
          <a:ln w="12700">
            <a:solidFill>
              <a:srgbClr val="F59E0B"/>
            </a:solidFill>
            <a:prstDash val="solid"/>
          </a:ln>
        </p:spPr>
      </p:sp>
      <p:sp>
        <p:nvSpPr>
          <p:cNvPr id="42" name="Text 40"/>
          <p:cNvSpPr/>
          <p:nvPr/>
        </p:nvSpPr>
        <p:spPr>
          <a:xfrm>
            <a:off x="6510528" y="4736592"/>
            <a:ext cx="228600" cy="10972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43" name="Text 41"/>
          <p:cNvSpPr/>
          <p:nvPr/>
        </p:nvSpPr>
        <p:spPr>
          <a:xfrm>
            <a:off x="6912864" y="4672584"/>
            <a:ext cx="4160520" cy="274320"/>
          </a:xfrm>
          <a:prstGeom prst="rect">
            <a:avLst/>
          </a:prstGeom>
          <a:noFill/>
          <a:ln/>
        </p:spPr>
        <p:txBody>
          <a:bodyPr wrap="square" lIns="0" tIns="0" rIns="0" bIns="0" rtlCol="0" anchor="ctr">
            <a:normAutofit/>
          </a:bodyPr>
          <a:lstStyle/>
          <a:p>
            <a:pPr indent="0" marL="0">
              <a:buNone/>
            </a:pPr>
            <a:r>
              <a:rPr lang="en-US" sz="1350" dirty="0">
                <a:solidFill>
                  <a:srgbClr val="172033"/>
                </a:solidFill>
                <a:latin typeface="Calibri" pitchFamily="34" charset="0"/>
                <a:ea typeface="Calibri" pitchFamily="34" charset="-122"/>
                <a:cs typeface="Calibri" pitchFamily="34" charset="-120"/>
              </a:rPr>
              <a:t>Hiệu ứng tấm đệm lên điểm số quan sát</a:t>
            </a:r>
            <a:endParaRPr lang="en-US" sz="1350" dirty="0"/>
          </a:p>
        </p:txBody>
      </p:sp>
      <p:sp>
        <p:nvSpPr>
          <p:cNvPr id="44" name="Text 42"/>
          <p:cNvSpPr/>
          <p:nvPr/>
        </p:nvSpPr>
        <p:spPr>
          <a:xfrm>
            <a:off x="868680" y="5879592"/>
            <a:ext cx="1097280" cy="201168"/>
          </a:xfrm>
          <a:prstGeom prst="rect">
            <a:avLst/>
          </a:prstGeom>
          <a:noFill/>
          <a:ln/>
        </p:spPr>
        <p:txBody>
          <a:bodyPr wrap="square" lIns="0" tIns="0" rIns="0" bIns="0" rtlCol="0" anchor="ctr"/>
          <a:lstStyle/>
          <a:p>
            <a:pPr indent="0" marL="0">
              <a:buNone/>
            </a:pPr>
            <a:r>
              <a:rPr lang="en-US" sz="1100" b="1" dirty="0">
                <a:solidFill>
                  <a:srgbClr val="0F766E"/>
                </a:solidFill>
                <a:latin typeface="Calibri" pitchFamily="34" charset="0"/>
                <a:ea typeface="Calibri" pitchFamily="34" charset="-122"/>
                <a:cs typeface="Calibri" pitchFamily="34" charset="-120"/>
              </a:rPr>
              <a:t>Hiện tại</a:t>
            </a:r>
            <a:endParaRPr lang="en-US" sz="1100" dirty="0"/>
          </a:p>
        </p:txBody>
      </p:sp>
      <p:sp>
        <p:nvSpPr>
          <p:cNvPr id="45" name="Text 43"/>
          <p:cNvSpPr/>
          <p:nvPr/>
        </p:nvSpPr>
        <p:spPr>
          <a:xfrm>
            <a:off x="1874520" y="5843016"/>
            <a:ext cx="6400800" cy="246888"/>
          </a:xfrm>
          <a:prstGeom prst="rect">
            <a:avLst/>
          </a:prstGeom>
          <a:noFill/>
          <a:ln/>
        </p:spPr>
        <p:txBody>
          <a:bodyPr wrap="square" lIns="0" tIns="0" rIns="0" bIns="0" rtlCol="0" anchor="ctr">
            <a:normAutofit/>
          </a:bodyPr>
          <a:lstStyle/>
          <a:p>
            <a:pPr indent="0" marL="0">
              <a:buNone/>
            </a:pPr>
            <a:r>
              <a:rPr lang="en-US" sz="1300" b="1" dirty="0">
                <a:solidFill>
                  <a:srgbClr val="172033"/>
                </a:solidFill>
                <a:latin typeface="Calibri" pitchFamily="34" charset="0"/>
                <a:ea typeface="Calibri" pitchFamily="34" charset="-122"/>
                <a:cs typeface="Calibri" pitchFamily="34" charset="-120"/>
              </a:rPr>
              <a:t>B1 schema/EDA  →  B2 tập kiểm định  →  B3 gán nhãn độc lập</a:t>
            </a:r>
            <a:endParaRPr lang="en-US" sz="1300" dirty="0"/>
          </a:p>
        </p:txBody>
      </p:sp>
      <p:sp>
        <p:nvSpPr>
          <p:cNvPr id="46" name="Text 44"/>
          <p:cNvSpPr/>
          <p:nvPr/>
        </p:nvSpPr>
        <p:spPr>
          <a:xfrm>
            <a:off x="8732520" y="5843016"/>
            <a:ext cx="2423160" cy="246888"/>
          </a:xfrm>
          <a:prstGeom prst="rect">
            <a:avLst/>
          </a:prstGeom>
          <a:noFill/>
          <a:ln/>
        </p:spPr>
        <p:txBody>
          <a:bodyPr wrap="square" lIns="0" tIns="0" rIns="0" bIns="0" rtlCol="0" anchor="ctr"/>
          <a:lstStyle/>
          <a:p>
            <a:pPr algn="r" indent="0" marL="0">
              <a:buNone/>
            </a:pPr>
            <a:r>
              <a:rPr lang="en-US" sz="1300" b="1" dirty="0">
                <a:solidFill>
                  <a:srgbClr val="7C3AED"/>
                </a:solidFill>
                <a:latin typeface="Calibri" pitchFamily="34" charset="0"/>
                <a:ea typeface="Calibri" pitchFamily="34" charset="-122"/>
                <a:cs typeface="Calibri" pitchFamily="34" charset="-120"/>
              </a:rPr>
              <a:t>Mốc tiếp theo: RDR-0003</a:t>
            </a:r>
            <a:endParaRPr lang="en-US" sz="1300" dirty="0"/>
          </a:p>
        </p:txBody>
      </p:sp>
      <p:sp>
        <p:nvSpPr>
          <p:cNvPr id="47" name="Text 45"/>
          <p:cNvSpPr/>
          <p:nvPr/>
        </p:nvSpPr>
        <p:spPr>
          <a:xfrm>
            <a:off x="640080" y="6172200"/>
            <a:ext cx="10607040" cy="164592"/>
          </a:xfrm>
          <a:prstGeom prst="rect">
            <a:avLst/>
          </a:prstGeom>
          <a:noFill/>
          <a:ln/>
        </p:spPr>
        <p:txBody>
          <a:bodyPr wrap="square" lIns="0" tIns="0" rIns="0" bIns="0" rtlCol="0" anchor="ctr">
            <a:normAutofit/>
          </a:bodyPr>
          <a:lstStyle/>
          <a:p>
            <a:pPr indent="0" marL="0">
              <a:buNone/>
            </a:pPr>
            <a:r>
              <a:rPr lang="en-US" sz="850" i="1" dirty="0">
                <a:solidFill>
                  <a:srgbClr val="64748B"/>
                </a:solidFill>
                <a:latin typeface="Calibri" pitchFamily="34" charset="0"/>
                <a:ea typeface="Calibri" pitchFamily="34" charset="-122"/>
                <a:cs typeface="Calibri" pitchFamily="34" charset="-120"/>
              </a:rPr>
              <a:t>Nguồn: STATUS.md, tổng quan dự án, bản nháp proposal và tổng hợp khảo sát.</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58368" y="658368"/>
            <a:ext cx="6766560" cy="548640"/>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Trao đổi với giảng viên</a:t>
            </a:r>
            <a:endParaRPr lang="en-US" sz="3100" dirty="0"/>
          </a:p>
        </p:txBody>
      </p:sp>
      <p:sp>
        <p:nvSpPr>
          <p:cNvPr id="3" name="Text 1"/>
          <p:cNvSpPr/>
          <p:nvPr/>
        </p:nvSpPr>
        <p:spPr>
          <a:xfrm>
            <a:off x="676656" y="1353312"/>
            <a:ext cx="5029200" cy="292608"/>
          </a:xfrm>
          <a:prstGeom prst="rect">
            <a:avLst/>
          </a:prstGeom>
          <a:noFill/>
          <a:ln/>
        </p:spPr>
        <p:txBody>
          <a:bodyPr wrap="square" lIns="0" tIns="0" rIns="0" bIns="0" rtlCol="0" anchor="ctr"/>
          <a:lstStyle/>
          <a:p>
            <a:pPr indent="0" marL="0">
              <a:buNone/>
            </a:pPr>
            <a:r>
              <a:rPr lang="en-US" sz="1500" dirty="0">
                <a:solidFill>
                  <a:srgbClr val="CBD5E1"/>
                </a:solidFill>
                <a:latin typeface="Calibri" pitchFamily="34" charset="0"/>
                <a:ea typeface="Calibri" pitchFamily="34" charset="-122"/>
                <a:cs typeface="Calibri" pitchFamily="34" charset="-120"/>
              </a:rPr>
              <a:t>Ba quyết định để mở khóa giai đoạn kế tiếp</a:t>
            </a:r>
            <a:endParaRPr lang="en-US" sz="1500" dirty="0"/>
          </a:p>
        </p:txBody>
      </p:sp>
      <p:sp>
        <p:nvSpPr>
          <p:cNvPr id="4" name="Shape 2"/>
          <p:cNvSpPr/>
          <p:nvPr/>
        </p:nvSpPr>
        <p:spPr>
          <a:xfrm>
            <a:off x="713232" y="2011680"/>
            <a:ext cx="621792" cy="621792"/>
          </a:xfrm>
          <a:prstGeom prst="ellipse">
            <a:avLst/>
          </a:prstGeom>
          <a:solidFill>
            <a:srgbClr val="0F766E"/>
          </a:solidFill>
          <a:ln w="19050">
            <a:solidFill>
              <a:srgbClr val="14B8A6"/>
            </a:solidFill>
            <a:prstDash val="solid"/>
          </a:ln>
        </p:spPr>
      </p:sp>
      <p:sp>
        <p:nvSpPr>
          <p:cNvPr id="5" name="Text 3"/>
          <p:cNvSpPr/>
          <p:nvPr/>
        </p:nvSpPr>
        <p:spPr>
          <a:xfrm>
            <a:off x="713232" y="2212848"/>
            <a:ext cx="621792" cy="1828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6" name="Text 4"/>
          <p:cNvSpPr/>
          <p:nvPr/>
        </p:nvSpPr>
        <p:spPr>
          <a:xfrm>
            <a:off x="1600200" y="2029968"/>
            <a:ext cx="1920240" cy="2743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Phạm vi</a:t>
            </a:r>
            <a:endParaRPr lang="en-US" sz="1700" dirty="0"/>
          </a:p>
        </p:txBody>
      </p:sp>
      <p:sp>
        <p:nvSpPr>
          <p:cNvPr id="7" name="Text 5"/>
          <p:cNvSpPr/>
          <p:nvPr/>
        </p:nvSpPr>
        <p:spPr>
          <a:xfrm>
            <a:off x="1600200" y="2404872"/>
            <a:ext cx="5715000" cy="420624"/>
          </a:xfrm>
          <a:prstGeom prst="rect">
            <a:avLst/>
          </a:prstGeom>
          <a:noFill/>
          <a:ln/>
        </p:spPr>
        <p:txBody>
          <a:bodyPr wrap="square" lIns="0" tIns="0" rIns="0" bIns="0" rtlCol="0" anchor="ctr">
            <a:normAutofit/>
          </a:bodyPr>
          <a:lstStyle/>
          <a:p>
            <a:pPr indent="0" marL="0">
              <a:buNone/>
            </a:pPr>
            <a:r>
              <a:rPr lang="en-US" sz="1250" dirty="0">
                <a:solidFill>
                  <a:srgbClr val="CBD5E1"/>
                </a:solidFill>
                <a:latin typeface="Calibri" pitchFamily="34" charset="0"/>
                <a:ea typeface="Calibri" pitchFamily="34" charset="-122"/>
                <a:cs typeface="Calibri" pitchFamily="34" charset="-120"/>
              </a:rPr>
              <a:t>Dùng tập con TripAdvisor tiếng Anh đã gán nhãn làm corpus kiểm định trước khi mở rộng.</a:t>
            </a:r>
            <a:endParaRPr lang="en-US" sz="1250" dirty="0"/>
          </a:p>
        </p:txBody>
      </p:sp>
      <p:sp>
        <p:nvSpPr>
          <p:cNvPr id="8" name="Shape 6"/>
          <p:cNvSpPr/>
          <p:nvPr/>
        </p:nvSpPr>
        <p:spPr>
          <a:xfrm>
            <a:off x="713232" y="3182112"/>
            <a:ext cx="621792" cy="621792"/>
          </a:xfrm>
          <a:prstGeom prst="ellipse">
            <a:avLst/>
          </a:prstGeom>
          <a:solidFill>
            <a:srgbClr val="D97706"/>
          </a:solidFill>
          <a:ln w="19050">
            <a:solidFill>
              <a:srgbClr val="F59E0B"/>
            </a:solidFill>
            <a:prstDash val="solid"/>
          </a:ln>
        </p:spPr>
      </p:sp>
      <p:sp>
        <p:nvSpPr>
          <p:cNvPr id="9" name="Text 7"/>
          <p:cNvSpPr/>
          <p:nvPr/>
        </p:nvSpPr>
        <p:spPr>
          <a:xfrm>
            <a:off x="713232" y="3383280"/>
            <a:ext cx="621792" cy="1828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0" name="Text 8"/>
          <p:cNvSpPr/>
          <p:nvPr/>
        </p:nvSpPr>
        <p:spPr>
          <a:xfrm>
            <a:off x="1600200" y="3200400"/>
            <a:ext cx="1920240" cy="2743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Thiết kế kiểm định</a:t>
            </a:r>
            <a:endParaRPr lang="en-US" sz="1700" dirty="0"/>
          </a:p>
        </p:txBody>
      </p:sp>
      <p:sp>
        <p:nvSpPr>
          <p:cNvPr id="11" name="Text 9"/>
          <p:cNvSpPr/>
          <p:nvPr/>
        </p:nvSpPr>
        <p:spPr>
          <a:xfrm>
            <a:off x="1600200" y="3575304"/>
            <a:ext cx="5715000" cy="420624"/>
          </a:xfrm>
          <a:prstGeom prst="rect">
            <a:avLst/>
          </a:prstGeom>
          <a:noFill/>
          <a:ln/>
        </p:spPr>
        <p:txBody>
          <a:bodyPr wrap="square" lIns="0" tIns="0" rIns="0" bIns="0" rtlCol="0" anchor="ctr">
            <a:normAutofit/>
          </a:bodyPr>
          <a:lstStyle/>
          <a:p>
            <a:pPr indent="0" marL="0">
              <a:buNone/>
            </a:pPr>
            <a:r>
              <a:rPr lang="en-US" sz="1250" dirty="0">
                <a:solidFill>
                  <a:srgbClr val="CBD5E1"/>
                </a:solidFill>
                <a:latin typeface="Calibri" pitchFamily="34" charset="0"/>
                <a:ea typeface="Calibri" pitchFamily="34" charset="-122"/>
                <a:cs typeface="Calibri" pitchFamily="34" charset="-120"/>
              </a:rPr>
              <a:t>Phê duyệt benchmark ba tầng và quy trình hai người gán nhãn.</a:t>
            </a:r>
            <a:endParaRPr lang="en-US" sz="1250" dirty="0"/>
          </a:p>
        </p:txBody>
      </p:sp>
      <p:sp>
        <p:nvSpPr>
          <p:cNvPr id="12" name="Shape 10"/>
          <p:cNvSpPr/>
          <p:nvPr/>
        </p:nvSpPr>
        <p:spPr>
          <a:xfrm>
            <a:off x="713232" y="4352544"/>
            <a:ext cx="621792" cy="621792"/>
          </a:xfrm>
          <a:prstGeom prst="ellipse">
            <a:avLst/>
          </a:prstGeom>
          <a:solidFill>
            <a:srgbClr val="0F766E"/>
          </a:solidFill>
          <a:ln w="19050">
            <a:solidFill>
              <a:srgbClr val="14B8A6"/>
            </a:solidFill>
            <a:prstDash val="solid"/>
          </a:ln>
        </p:spPr>
      </p:sp>
      <p:sp>
        <p:nvSpPr>
          <p:cNvPr id="13" name="Text 11"/>
          <p:cNvSpPr/>
          <p:nvPr/>
        </p:nvSpPr>
        <p:spPr>
          <a:xfrm>
            <a:off x="713232" y="4553712"/>
            <a:ext cx="621792" cy="1828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4" name="Text 12"/>
          <p:cNvSpPr/>
          <p:nvPr/>
        </p:nvSpPr>
        <p:spPr>
          <a:xfrm>
            <a:off x="1600200" y="4370832"/>
            <a:ext cx="1920240" cy="2743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Thuật ngữ</a:t>
            </a:r>
            <a:endParaRPr lang="en-US" sz="1700" dirty="0"/>
          </a:p>
        </p:txBody>
      </p:sp>
      <p:sp>
        <p:nvSpPr>
          <p:cNvPr id="15" name="Text 13"/>
          <p:cNvSpPr/>
          <p:nvPr/>
        </p:nvSpPr>
        <p:spPr>
          <a:xfrm>
            <a:off x="1600200" y="4745736"/>
            <a:ext cx="5715000" cy="420624"/>
          </a:xfrm>
          <a:prstGeom prst="rect">
            <a:avLst/>
          </a:prstGeom>
          <a:noFill/>
          <a:ln/>
        </p:spPr>
        <p:txBody>
          <a:bodyPr wrap="square" lIns="0" tIns="0" rIns="0" bIns="0" rtlCol="0" anchor="ctr">
            <a:normAutofit/>
          </a:bodyPr>
          <a:lstStyle/>
          <a:p>
            <a:pPr indent="0" marL="0">
              <a:buNone/>
            </a:pPr>
            <a:r>
              <a:rPr lang="en-US" sz="1250" dirty="0">
                <a:solidFill>
                  <a:srgbClr val="CBD5E1"/>
                </a:solidFill>
                <a:latin typeface="Calibri" pitchFamily="34" charset="0"/>
                <a:ea typeface="Calibri" pitchFamily="34" charset="-122"/>
                <a:cs typeface="Calibri" pitchFamily="34" charset="-120"/>
              </a:rPr>
              <a:t>Dùng “tấm đệm / trừng phạt” làm nhãn trung tính cho đến khi xác lập construct validity.</a:t>
            </a:r>
            <a:endParaRPr lang="en-US" sz="1250" dirty="0"/>
          </a:p>
        </p:txBody>
      </p:sp>
      <p:sp>
        <p:nvSpPr>
          <p:cNvPr id="16" name="Shape 14"/>
          <p:cNvSpPr/>
          <p:nvPr/>
        </p:nvSpPr>
        <p:spPr>
          <a:xfrm>
            <a:off x="7909560" y="1536192"/>
            <a:ext cx="3383280" cy="4251960"/>
          </a:xfrm>
          <a:prstGeom prst="roundRect">
            <a:avLst>
              <a:gd name="adj" fmla="val 2162"/>
            </a:avLst>
          </a:prstGeom>
          <a:solidFill>
            <a:srgbClr val="111827"/>
          </a:solidFill>
          <a:ln w="12700">
            <a:solidFill>
              <a:srgbClr val="334155"/>
            </a:solidFill>
            <a:prstDash val="solid"/>
          </a:ln>
        </p:spPr>
      </p:sp>
      <p:sp>
        <p:nvSpPr>
          <p:cNvPr id="17" name="Text 15"/>
          <p:cNvSpPr/>
          <p:nvPr/>
        </p:nvSpPr>
        <p:spPr>
          <a:xfrm>
            <a:off x="8247888" y="1901952"/>
            <a:ext cx="2697480" cy="347472"/>
          </a:xfrm>
          <a:prstGeom prst="rect">
            <a:avLst/>
          </a:prstGeom>
          <a:noFill/>
          <a:ln/>
        </p:spPr>
        <p:txBody>
          <a:bodyPr wrap="square" lIns="0" tIns="0" rIns="0" bIns="0" rtlCol="0" anchor="ctr"/>
          <a:lstStyle/>
          <a:p>
            <a:pPr algn="ctr" indent="0" marL="0">
              <a:buNone/>
            </a:pPr>
            <a:r>
              <a:rPr lang="en-US" sz="2100" b="1" dirty="0">
                <a:solidFill>
                  <a:srgbClr val="FEF3C7"/>
                </a:solidFill>
                <a:latin typeface="Cambria" pitchFamily="34" charset="0"/>
                <a:ea typeface="Cambria" pitchFamily="34" charset="-122"/>
                <a:cs typeface="Cambria" pitchFamily="34" charset="-120"/>
              </a:rPr>
              <a:t>Quyết định cần hôm nay</a:t>
            </a:r>
            <a:endParaRPr lang="en-US" sz="2100" dirty="0"/>
          </a:p>
        </p:txBody>
      </p:sp>
      <p:sp>
        <p:nvSpPr>
          <p:cNvPr id="18" name="Text 16"/>
          <p:cNvSpPr/>
          <p:nvPr/>
        </p:nvSpPr>
        <p:spPr>
          <a:xfrm>
            <a:off x="8247888" y="2578608"/>
            <a:ext cx="2697480" cy="960120"/>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Tiến hành kiểm định có mục tiêu trước mọi tuyên bố về mô hình.</a:t>
            </a:r>
            <a:endParaRPr lang="en-US" sz="1800" dirty="0"/>
          </a:p>
        </p:txBody>
      </p:sp>
      <p:sp>
        <p:nvSpPr>
          <p:cNvPr id="19" name="Shape 17"/>
          <p:cNvSpPr/>
          <p:nvPr/>
        </p:nvSpPr>
        <p:spPr>
          <a:xfrm>
            <a:off x="8522208" y="3840480"/>
            <a:ext cx="2148840" cy="0"/>
          </a:xfrm>
          <a:prstGeom prst="line">
            <a:avLst/>
          </a:prstGeom>
          <a:noFill/>
          <a:ln w="25400">
            <a:solidFill>
              <a:srgbClr val="334155"/>
            </a:solidFill>
            <a:prstDash val="solid"/>
          </a:ln>
        </p:spPr>
      </p:sp>
      <p:sp>
        <p:nvSpPr>
          <p:cNvPr id="20" name="Text 18"/>
          <p:cNvSpPr/>
          <p:nvPr/>
        </p:nvSpPr>
        <p:spPr>
          <a:xfrm>
            <a:off x="8247888" y="4187952"/>
            <a:ext cx="2697480" cy="685800"/>
          </a:xfrm>
          <a:prstGeom prst="rect">
            <a:avLst/>
          </a:prstGeom>
          <a:noFill/>
          <a:ln/>
        </p:spPr>
        <p:txBody>
          <a:bodyPr wrap="square" lIns="0" tIns="0" rIns="0" bIns="0" rtlCol="0" anchor="ctr">
            <a:normAutofit/>
          </a:bodyPr>
          <a:lstStyle/>
          <a:p>
            <a:pPr algn="ctr" indent="0" marL="0">
              <a:buNone/>
            </a:pPr>
            <a:r>
              <a:rPr lang="en-US" sz="1250" dirty="0">
                <a:solidFill>
                  <a:srgbClr val="94A3B8"/>
                </a:solidFill>
                <a:latin typeface="Calibri" pitchFamily="34" charset="0"/>
                <a:ea typeface="Calibri" pitchFamily="34" charset="-122"/>
                <a:cs typeface="Calibri" pitchFamily="34" charset="-120"/>
              </a:rPr>
              <a:t>Không mở broad Survey Round 3</a:t>
            </a:r>
            <a:endParaRPr lang="en-US" sz="1250" dirty="0"/>
          </a:p>
          <a:p>
            <a:pPr algn="ctr" indent="0" marL="0">
              <a:buNone/>
            </a:pPr>
            <a:r>
              <a:rPr lang="en-US" sz="1250" dirty="0">
                <a:solidFill>
                  <a:srgbClr val="94A3B8"/>
                </a:solidFill>
                <a:latin typeface="Calibri" pitchFamily="34" charset="0"/>
                <a:ea typeface="Calibri" pitchFamily="34" charset="-122"/>
                <a:cs typeface="Calibri" pitchFamily="34" charset="-120"/>
              </a:rPr>
              <a:t>trừ khi validation phát hiện một khoảng trống cụ thể.</a:t>
            </a:r>
            <a:endParaRPr lang="en-US" sz="1250" dirty="0"/>
          </a:p>
        </p:txBody>
      </p:sp>
      <p:sp>
        <p:nvSpPr>
          <p:cNvPr id="21" name="Text 19"/>
          <p:cNvSpPr/>
          <p:nvPr/>
        </p:nvSpPr>
        <p:spPr>
          <a:xfrm>
            <a:off x="8247888" y="5138928"/>
            <a:ext cx="2697480" cy="384048"/>
          </a:xfrm>
          <a:prstGeom prst="rect">
            <a:avLst/>
          </a:prstGeom>
          <a:noFill/>
          <a:ln/>
        </p:spPr>
        <p:txBody>
          <a:bodyPr wrap="square" lIns="0" tIns="0" rIns="0" bIns="0" rtlCol="0" anchor="ctr"/>
          <a:lstStyle/>
          <a:p>
            <a:pPr algn="ctr" indent="0" marL="0">
              <a:buNone/>
            </a:pPr>
            <a:r>
              <a:rPr lang="en-US" sz="2400" b="1" dirty="0">
                <a:solidFill>
                  <a:srgbClr val="CCFBF1"/>
                </a:solidFill>
                <a:latin typeface="Cambria" pitchFamily="34" charset="0"/>
                <a:ea typeface="Cambria" pitchFamily="34" charset="-122"/>
                <a:cs typeface="Cambria" pitchFamily="34" charset="-120"/>
              </a:rPr>
              <a:t>HỎI &amp; ĐÁP</a:t>
            </a:r>
            <a:endParaRPr lang="en-US" sz="240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4A3B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indent="0" marL="0">
              <a:buNone/>
            </a:pPr>
            <a:r>
              <a:rPr lang="en-US" sz="1000" b="1" spc="120" kern="0" dirty="0">
                <a:solidFill>
                  <a:srgbClr val="0F766E"/>
                </a:solidFill>
                <a:latin typeface="Calibri" pitchFamily="34" charset="0"/>
                <a:ea typeface="Calibri" pitchFamily="34" charset="-122"/>
                <a:cs typeface="Calibri" pitchFamily="34" charset="-120"/>
              </a:rPr>
              <a:t>PHỤ LỤC</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indent="0" marL="0">
              <a:buNone/>
            </a:pPr>
            <a:r>
              <a:rPr lang="en-US" sz="2900" b="1" dirty="0">
                <a:solidFill>
                  <a:srgbClr val="172033"/>
                </a:solidFill>
                <a:latin typeface="Cambria" pitchFamily="34" charset="0"/>
                <a:ea typeface="Cambria" pitchFamily="34" charset="-122"/>
                <a:cs typeface="Cambria" pitchFamily="34" charset="-120"/>
              </a:rPr>
              <a:t>Tài liệu tham khảo chọn lọc</a:t>
            </a:r>
            <a:endParaRPr lang="en-US" sz="2900" dirty="0"/>
          </a:p>
        </p:txBody>
      </p:sp>
      <p:sp>
        <p:nvSpPr>
          <p:cNvPr id="4" name="Text 2"/>
          <p:cNvSpPr/>
          <p:nvPr/>
        </p:nvSpPr>
        <p:spPr>
          <a:xfrm>
            <a:off x="658368" y="1325880"/>
            <a:ext cx="384048" cy="256032"/>
          </a:xfrm>
          <a:prstGeom prst="rect">
            <a:avLst/>
          </a:prstGeom>
          <a:noFill/>
          <a:ln/>
        </p:spPr>
        <p:txBody>
          <a:bodyPr wrap="square" lIns="0" tIns="0" rIns="0" bIns="0" rtlCol="0" anchor="ctr"/>
          <a:lstStyle/>
          <a:p>
            <a:pPr indent="0" marL="0">
              <a:buNone/>
            </a:pPr>
            <a:r>
              <a:rPr lang="en-US" sz="1300" b="1" dirty="0">
                <a:solidFill>
                  <a:srgbClr val="0F766E"/>
                </a:solidFill>
                <a:latin typeface="Cambria" pitchFamily="34" charset="0"/>
                <a:ea typeface="Cambria" pitchFamily="34" charset="-122"/>
                <a:cs typeface="Cambria" pitchFamily="34" charset="-120"/>
              </a:rPr>
              <a:t>01</a:t>
            </a:r>
            <a:endParaRPr lang="en-US" sz="1300" dirty="0"/>
          </a:p>
        </p:txBody>
      </p:sp>
      <p:sp>
        <p:nvSpPr>
          <p:cNvPr id="5" name="Text 3"/>
          <p:cNvSpPr/>
          <p:nvPr/>
        </p:nvSpPr>
        <p:spPr>
          <a:xfrm>
            <a:off x="1161288" y="1325880"/>
            <a:ext cx="4709160" cy="658368"/>
          </a:xfrm>
          <a:prstGeom prst="rect">
            <a:avLst/>
          </a:prstGeom>
          <a:noFill/>
          <a:ln/>
        </p:spPr>
        <p:txBody>
          <a:bodyPr wrap="square" lIns="0" tIns="0" rIns="0" bIns="0" rtlCol="0" anchor="ctr">
            <a:normAutofit/>
          </a:bodyPr>
          <a:lstStyle/>
          <a:p>
            <a:pPr indent="0" marL="0">
              <a:buNone/>
            </a:pPr>
            <a:r>
              <a:rPr lang="en-US" sz="1050" dirty="0">
                <a:solidFill>
                  <a:srgbClr val="172033"/>
                </a:solidFill>
                <a:latin typeface="Calibri" pitchFamily="34" charset="0"/>
                <a:ea typeface="Calibri" pitchFamily="34" charset="-122"/>
                <a:cs typeface="Calibri" pitchFamily="34" charset="-120"/>
              </a:rPr>
              <a:t>Le, H. T. M., Nguyen, T. Q., &amp; Nguyen, B. T. (2026). Unlocking insights into customer sentiment analysis: Impact of loyalty on online hotel ratings. IJHM, 134, 104574.</a:t>
            </a:r>
            <a:endParaRPr lang="en-US" sz="1050" dirty="0"/>
          </a:p>
        </p:txBody>
      </p:sp>
      <p:sp>
        <p:nvSpPr>
          <p:cNvPr id="6" name="Text 4"/>
          <p:cNvSpPr/>
          <p:nvPr/>
        </p:nvSpPr>
        <p:spPr>
          <a:xfrm>
            <a:off x="658368" y="2258568"/>
            <a:ext cx="384048" cy="256032"/>
          </a:xfrm>
          <a:prstGeom prst="rect">
            <a:avLst/>
          </a:prstGeom>
          <a:noFill/>
          <a:ln/>
        </p:spPr>
        <p:txBody>
          <a:bodyPr wrap="square" lIns="0" tIns="0" rIns="0" bIns="0" rtlCol="0" anchor="ctr"/>
          <a:lstStyle/>
          <a:p>
            <a:pPr indent="0" marL="0">
              <a:buNone/>
            </a:pPr>
            <a:r>
              <a:rPr lang="en-US" sz="1300" b="1" dirty="0">
                <a:solidFill>
                  <a:srgbClr val="0F766E"/>
                </a:solidFill>
                <a:latin typeface="Cambria" pitchFamily="34" charset="0"/>
                <a:ea typeface="Cambria" pitchFamily="34" charset="-122"/>
                <a:cs typeface="Cambria" pitchFamily="34" charset="-120"/>
              </a:rPr>
              <a:t>02</a:t>
            </a:r>
            <a:endParaRPr lang="en-US" sz="1300" dirty="0"/>
          </a:p>
        </p:txBody>
      </p:sp>
      <p:sp>
        <p:nvSpPr>
          <p:cNvPr id="7" name="Text 5"/>
          <p:cNvSpPr/>
          <p:nvPr/>
        </p:nvSpPr>
        <p:spPr>
          <a:xfrm>
            <a:off x="1161288" y="2258568"/>
            <a:ext cx="4709160" cy="658368"/>
          </a:xfrm>
          <a:prstGeom prst="rect">
            <a:avLst/>
          </a:prstGeom>
          <a:noFill/>
          <a:ln/>
        </p:spPr>
        <p:txBody>
          <a:bodyPr wrap="square" lIns="0" tIns="0" rIns="0" bIns="0" rtlCol="0" anchor="ctr">
            <a:normAutofit/>
          </a:bodyPr>
          <a:lstStyle/>
          <a:p>
            <a:pPr indent="0" marL="0">
              <a:buNone/>
            </a:pPr>
            <a:r>
              <a:rPr lang="en-US" sz="1050" dirty="0">
                <a:solidFill>
                  <a:srgbClr val="172033"/>
                </a:solidFill>
                <a:latin typeface="Calibri" pitchFamily="34" charset="0"/>
                <a:ea typeface="Calibri" pitchFamily="34" charset="-122"/>
                <a:cs typeface="Calibri" pitchFamily="34" charset="-120"/>
              </a:rPr>
              <a:t>Almansour, A., Alotaibi, R., &amp; Alharbi, H. (2022). Text-rating review discrepancy (TRRD). Future Business Journal, 8, 3.</a:t>
            </a:r>
            <a:endParaRPr lang="en-US" sz="1050" dirty="0"/>
          </a:p>
        </p:txBody>
      </p:sp>
      <p:sp>
        <p:nvSpPr>
          <p:cNvPr id="8" name="Text 6"/>
          <p:cNvSpPr/>
          <p:nvPr/>
        </p:nvSpPr>
        <p:spPr>
          <a:xfrm>
            <a:off x="658368" y="3191256"/>
            <a:ext cx="384048" cy="256032"/>
          </a:xfrm>
          <a:prstGeom prst="rect">
            <a:avLst/>
          </a:prstGeom>
          <a:noFill/>
          <a:ln/>
        </p:spPr>
        <p:txBody>
          <a:bodyPr wrap="square" lIns="0" tIns="0" rIns="0" bIns="0" rtlCol="0" anchor="ctr"/>
          <a:lstStyle/>
          <a:p>
            <a:pPr indent="0" marL="0">
              <a:buNone/>
            </a:pPr>
            <a:r>
              <a:rPr lang="en-US" sz="1300" b="1" dirty="0">
                <a:solidFill>
                  <a:srgbClr val="0F766E"/>
                </a:solidFill>
                <a:latin typeface="Cambria" pitchFamily="34" charset="0"/>
                <a:ea typeface="Cambria" pitchFamily="34" charset="-122"/>
                <a:cs typeface="Cambria" pitchFamily="34" charset="-120"/>
              </a:rPr>
              <a:t>03</a:t>
            </a:r>
            <a:endParaRPr lang="en-US" sz="1300" dirty="0"/>
          </a:p>
        </p:txBody>
      </p:sp>
      <p:sp>
        <p:nvSpPr>
          <p:cNvPr id="9" name="Text 7"/>
          <p:cNvSpPr/>
          <p:nvPr/>
        </p:nvSpPr>
        <p:spPr>
          <a:xfrm>
            <a:off x="1161288" y="3191256"/>
            <a:ext cx="4709160" cy="658368"/>
          </a:xfrm>
          <a:prstGeom prst="rect">
            <a:avLst/>
          </a:prstGeom>
          <a:noFill/>
          <a:ln/>
        </p:spPr>
        <p:txBody>
          <a:bodyPr wrap="square" lIns="0" tIns="0" rIns="0" bIns="0" rtlCol="0" anchor="ctr">
            <a:normAutofit/>
          </a:bodyPr>
          <a:lstStyle/>
          <a:p>
            <a:pPr indent="0" marL="0">
              <a:buNone/>
            </a:pPr>
            <a:r>
              <a:rPr lang="en-US" sz="1050" dirty="0">
                <a:solidFill>
                  <a:srgbClr val="172033"/>
                </a:solidFill>
                <a:latin typeface="Calibri" pitchFamily="34" charset="0"/>
                <a:ea typeface="Calibri" pitchFamily="34" charset="-122"/>
                <a:cs typeface="Calibri" pitchFamily="34" charset="-120"/>
              </a:rPr>
              <a:t>Bigne, E., Ruiz, C., Perez-Cabañero, C., &amp; Cuenca, A. (2023). Are customer star ratings and sentiments aligned? Service Business, 17, 281–314.</a:t>
            </a:r>
            <a:endParaRPr lang="en-US" sz="1050" dirty="0"/>
          </a:p>
        </p:txBody>
      </p:sp>
      <p:sp>
        <p:nvSpPr>
          <p:cNvPr id="10" name="Text 8"/>
          <p:cNvSpPr/>
          <p:nvPr/>
        </p:nvSpPr>
        <p:spPr>
          <a:xfrm>
            <a:off x="658368" y="4123944"/>
            <a:ext cx="384048" cy="256032"/>
          </a:xfrm>
          <a:prstGeom prst="rect">
            <a:avLst/>
          </a:prstGeom>
          <a:noFill/>
          <a:ln/>
        </p:spPr>
        <p:txBody>
          <a:bodyPr wrap="square" lIns="0" tIns="0" rIns="0" bIns="0" rtlCol="0" anchor="ctr"/>
          <a:lstStyle/>
          <a:p>
            <a:pPr indent="0" marL="0">
              <a:buNone/>
            </a:pPr>
            <a:r>
              <a:rPr lang="en-US" sz="1300" b="1" dirty="0">
                <a:solidFill>
                  <a:srgbClr val="0F766E"/>
                </a:solidFill>
                <a:latin typeface="Cambria" pitchFamily="34" charset="0"/>
                <a:ea typeface="Cambria" pitchFamily="34" charset="-122"/>
                <a:cs typeface="Cambria" pitchFamily="34" charset="-120"/>
              </a:rPr>
              <a:t>04</a:t>
            </a:r>
            <a:endParaRPr lang="en-US" sz="1300" dirty="0"/>
          </a:p>
        </p:txBody>
      </p:sp>
      <p:sp>
        <p:nvSpPr>
          <p:cNvPr id="11" name="Text 9"/>
          <p:cNvSpPr/>
          <p:nvPr/>
        </p:nvSpPr>
        <p:spPr>
          <a:xfrm>
            <a:off x="1161288" y="4123944"/>
            <a:ext cx="4709160" cy="658368"/>
          </a:xfrm>
          <a:prstGeom prst="rect">
            <a:avLst/>
          </a:prstGeom>
          <a:noFill/>
          <a:ln/>
        </p:spPr>
        <p:txBody>
          <a:bodyPr wrap="square" lIns="0" tIns="0" rIns="0" bIns="0" rtlCol="0" anchor="ctr">
            <a:normAutofit/>
          </a:bodyPr>
          <a:lstStyle/>
          <a:p>
            <a:pPr indent="0" marL="0">
              <a:buNone/>
            </a:pPr>
            <a:r>
              <a:rPr lang="en-US" sz="1050" dirty="0">
                <a:solidFill>
                  <a:srgbClr val="172033"/>
                </a:solidFill>
                <a:latin typeface="Calibri" pitchFamily="34" charset="0"/>
                <a:ea typeface="Calibri" pitchFamily="34" charset="-122"/>
                <a:cs typeface="Calibri" pitchFamily="34" charset="-120"/>
              </a:rPr>
              <a:t>Kwon, B., Lee, J., Min, J., Kwak, C., &amp; Choi, H. S. (2025). Beyond the stars: rating-text inconsistency and review usefulness. APJIS, 35(1), 49–72.</a:t>
            </a:r>
            <a:endParaRPr lang="en-US" sz="1050" dirty="0"/>
          </a:p>
        </p:txBody>
      </p:sp>
      <p:sp>
        <p:nvSpPr>
          <p:cNvPr id="12" name="Text 10"/>
          <p:cNvSpPr/>
          <p:nvPr/>
        </p:nvSpPr>
        <p:spPr>
          <a:xfrm>
            <a:off x="658368" y="5056632"/>
            <a:ext cx="384048" cy="256032"/>
          </a:xfrm>
          <a:prstGeom prst="rect">
            <a:avLst/>
          </a:prstGeom>
          <a:noFill/>
          <a:ln/>
        </p:spPr>
        <p:txBody>
          <a:bodyPr wrap="square" lIns="0" tIns="0" rIns="0" bIns="0" rtlCol="0" anchor="ctr"/>
          <a:lstStyle/>
          <a:p>
            <a:pPr indent="0" marL="0">
              <a:buNone/>
            </a:pPr>
            <a:r>
              <a:rPr lang="en-US" sz="1300" b="1" dirty="0">
                <a:solidFill>
                  <a:srgbClr val="0F766E"/>
                </a:solidFill>
                <a:latin typeface="Cambria" pitchFamily="34" charset="0"/>
                <a:ea typeface="Cambria" pitchFamily="34" charset="-122"/>
                <a:cs typeface="Cambria" pitchFamily="34" charset="-120"/>
              </a:rPr>
              <a:t>05</a:t>
            </a:r>
            <a:endParaRPr lang="en-US" sz="1300" dirty="0"/>
          </a:p>
        </p:txBody>
      </p:sp>
      <p:sp>
        <p:nvSpPr>
          <p:cNvPr id="13" name="Text 11"/>
          <p:cNvSpPr/>
          <p:nvPr/>
        </p:nvSpPr>
        <p:spPr>
          <a:xfrm>
            <a:off x="1161288" y="5056632"/>
            <a:ext cx="4709160" cy="658368"/>
          </a:xfrm>
          <a:prstGeom prst="rect">
            <a:avLst/>
          </a:prstGeom>
          <a:noFill/>
          <a:ln/>
        </p:spPr>
        <p:txBody>
          <a:bodyPr wrap="square" lIns="0" tIns="0" rIns="0" bIns="0" rtlCol="0" anchor="ctr">
            <a:normAutofit/>
          </a:bodyPr>
          <a:lstStyle/>
          <a:p>
            <a:pPr indent="0" marL="0">
              <a:buNone/>
            </a:pPr>
            <a:r>
              <a:rPr lang="en-US" sz="1050" dirty="0">
                <a:solidFill>
                  <a:srgbClr val="172033"/>
                </a:solidFill>
                <a:latin typeface="Calibri" pitchFamily="34" charset="0"/>
                <a:ea typeface="Calibri" pitchFamily="34" charset="-122"/>
                <a:cs typeface="Calibri" pitchFamily="34" charset="-120"/>
              </a:rPr>
              <a:t>Wang, P., Zhang, H., Yuan, X., &amp; Zhang, X. (2025). Score-textual inconsistency and hotel performance. IJHM, 130, 104271.</a:t>
            </a:r>
            <a:endParaRPr lang="en-US" sz="1050" dirty="0"/>
          </a:p>
        </p:txBody>
      </p:sp>
      <p:sp>
        <p:nvSpPr>
          <p:cNvPr id="14" name="Text 12"/>
          <p:cNvSpPr/>
          <p:nvPr/>
        </p:nvSpPr>
        <p:spPr>
          <a:xfrm>
            <a:off x="6217920" y="1325880"/>
            <a:ext cx="384048" cy="256032"/>
          </a:xfrm>
          <a:prstGeom prst="rect">
            <a:avLst/>
          </a:prstGeom>
          <a:noFill/>
          <a:ln/>
        </p:spPr>
        <p:txBody>
          <a:bodyPr wrap="square" lIns="0" tIns="0" rIns="0" bIns="0" rtlCol="0" anchor="ctr"/>
          <a:lstStyle/>
          <a:p>
            <a:pPr indent="0" marL="0">
              <a:buNone/>
            </a:pPr>
            <a:r>
              <a:rPr lang="en-US" sz="1300" b="1" dirty="0">
                <a:solidFill>
                  <a:srgbClr val="0F766E"/>
                </a:solidFill>
                <a:latin typeface="Cambria" pitchFamily="34" charset="0"/>
                <a:ea typeface="Cambria" pitchFamily="34" charset="-122"/>
                <a:cs typeface="Cambria" pitchFamily="34" charset="-120"/>
              </a:rPr>
              <a:t>06</a:t>
            </a:r>
            <a:endParaRPr lang="en-US" sz="1300" dirty="0"/>
          </a:p>
        </p:txBody>
      </p:sp>
      <p:sp>
        <p:nvSpPr>
          <p:cNvPr id="15" name="Text 13"/>
          <p:cNvSpPr/>
          <p:nvPr/>
        </p:nvSpPr>
        <p:spPr>
          <a:xfrm>
            <a:off x="6720840" y="1325880"/>
            <a:ext cx="4709160" cy="658368"/>
          </a:xfrm>
          <a:prstGeom prst="rect">
            <a:avLst/>
          </a:prstGeom>
          <a:noFill/>
          <a:ln/>
        </p:spPr>
        <p:txBody>
          <a:bodyPr wrap="square" lIns="0" tIns="0" rIns="0" bIns="0" rtlCol="0" anchor="ctr">
            <a:normAutofit/>
          </a:bodyPr>
          <a:lstStyle/>
          <a:p>
            <a:pPr indent="0" marL="0">
              <a:buNone/>
            </a:pPr>
            <a:r>
              <a:rPr lang="en-US" sz="1050" dirty="0">
                <a:solidFill>
                  <a:srgbClr val="172033"/>
                </a:solidFill>
                <a:latin typeface="Calibri" pitchFamily="34" charset="0"/>
                <a:ea typeface="Calibri" pitchFamily="34" charset="-122"/>
                <a:cs typeface="Calibri" pitchFamily="34" charset="-120"/>
              </a:rPr>
              <a:t>Huang, Z., &amp; Lo, A. (2025). Human vs. robot service providers in service failures: forgiveness and recovery expectation. Information Technology &amp; Tourism, 27, 417–448.</a:t>
            </a:r>
            <a:endParaRPr lang="en-US" sz="1050" dirty="0"/>
          </a:p>
        </p:txBody>
      </p:sp>
      <p:sp>
        <p:nvSpPr>
          <p:cNvPr id="16" name="Text 14"/>
          <p:cNvSpPr/>
          <p:nvPr/>
        </p:nvSpPr>
        <p:spPr>
          <a:xfrm>
            <a:off x="6217920" y="2258568"/>
            <a:ext cx="384048" cy="256032"/>
          </a:xfrm>
          <a:prstGeom prst="rect">
            <a:avLst/>
          </a:prstGeom>
          <a:noFill/>
          <a:ln/>
        </p:spPr>
        <p:txBody>
          <a:bodyPr wrap="square" lIns="0" tIns="0" rIns="0" bIns="0" rtlCol="0" anchor="ctr"/>
          <a:lstStyle/>
          <a:p>
            <a:pPr indent="0" marL="0">
              <a:buNone/>
            </a:pPr>
            <a:r>
              <a:rPr lang="en-US" sz="1300" b="1" dirty="0">
                <a:solidFill>
                  <a:srgbClr val="0F766E"/>
                </a:solidFill>
                <a:latin typeface="Cambria" pitchFamily="34" charset="0"/>
                <a:ea typeface="Cambria" pitchFamily="34" charset="-122"/>
                <a:cs typeface="Cambria" pitchFamily="34" charset="-120"/>
              </a:rPr>
              <a:t>07</a:t>
            </a:r>
            <a:endParaRPr lang="en-US" sz="1300" dirty="0"/>
          </a:p>
        </p:txBody>
      </p:sp>
      <p:sp>
        <p:nvSpPr>
          <p:cNvPr id="17" name="Text 15"/>
          <p:cNvSpPr/>
          <p:nvPr/>
        </p:nvSpPr>
        <p:spPr>
          <a:xfrm>
            <a:off x="6720840" y="2258568"/>
            <a:ext cx="4709160" cy="658368"/>
          </a:xfrm>
          <a:prstGeom prst="rect">
            <a:avLst/>
          </a:prstGeom>
          <a:noFill/>
          <a:ln/>
        </p:spPr>
        <p:txBody>
          <a:bodyPr wrap="square" lIns="0" tIns="0" rIns="0" bIns="0" rtlCol="0" anchor="ctr">
            <a:normAutofit/>
          </a:bodyPr>
          <a:lstStyle/>
          <a:p>
            <a:pPr indent="0" marL="0">
              <a:buNone/>
            </a:pPr>
            <a:r>
              <a:rPr lang="en-US" sz="1050" dirty="0">
                <a:solidFill>
                  <a:srgbClr val="172033"/>
                </a:solidFill>
                <a:latin typeface="Calibri" pitchFamily="34" charset="0"/>
                <a:ea typeface="Calibri" pitchFamily="34" charset="-122"/>
                <a:cs typeface="Calibri" pitchFamily="34" charset="-120"/>
              </a:rPr>
              <a:t>Wei, J., et al. (2025). Consumer forgiveness in online travel agency service recovery. International Journal of Tourism Research, 27(6).</a:t>
            </a:r>
            <a:endParaRPr lang="en-US" sz="1050" dirty="0"/>
          </a:p>
        </p:txBody>
      </p:sp>
      <p:sp>
        <p:nvSpPr>
          <p:cNvPr id="18" name="Text 16"/>
          <p:cNvSpPr/>
          <p:nvPr/>
        </p:nvSpPr>
        <p:spPr>
          <a:xfrm>
            <a:off x="6217920" y="3191256"/>
            <a:ext cx="384048" cy="256032"/>
          </a:xfrm>
          <a:prstGeom prst="rect">
            <a:avLst/>
          </a:prstGeom>
          <a:noFill/>
          <a:ln/>
        </p:spPr>
        <p:txBody>
          <a:bodyPr wrap="square" lIns="0" tIns="0" rIns="0" bIns="0" rtlCol="0" anchor="ctr"/>
          <a:lstStyle/>
          <a:p>
            <a:pPr indent="0" marL="0">
              <a:buNone/>
            </a:pPr>
            <a:r>
              <a:rPr lang="en-US" sz="1300" b="1" dirty="0">
                <a:solidFill>
                  <a:srgbClr val="0F766E"/>
                </a:solidFill>
                <a:latin typeface="Cambria" pitchFamily="34" charset="0"/>
                <a:ea typeface="Cambria" pitchFamily="34" charset="-122"/>
                <a:cs typeface="Cambria" pitchFamily="34" charset="-120"/>
              </a:rPr>
              <a:t>08</a:t>
            </a:r>
            <a:endParaRPr lang="en-US" sz="1300" dirty="0"/>
          </a:p>
        </p:txBody>
      </p:sp>
      <p:sp>
        <p:nvSpPr>
          <p:cNvPr id="19" name="Text 17"/>
          <p:cNvSpPr/>
          <p:nvPr/>
        </p:nvSpPr>
        <p:spPr>
          <a:xfrm>
            <a:off x="6720840" y="3191256"/>
            <a:ext cx="4709160" cy="658368"/>
          </a:xfrm>
          <a:prstGeom prst="rect">
            <a:avLst/>
          </a:prstGeom>
          <a:noFill/>
          <a:ln/>
        </p:spPr>
        <p:txBody>
          <a:bodyPr wrap="square" lIns="0" tIns="0" rIns="0" bIns="0" rtlCol="0" anchor="ctr">
            <a:normAutofit/>
          </a:bodyPr>
          <a:lstStyle/>
          <a:p>
            <a:pPr indent="0" marL="0">
              <a:buNone/>
            </a:pPr>
            <a:r>
              <a:rPr lang="en-US" sz="1050" dirty="0">
                <a:solidFill>
                  <a:srgbClr val="172033"/>
                </a:solidFill>
                <a:latin typeface="Calibri" pitchFamily="34" charset="0"/>
                <a:ea typeface="Calibri" pitchFamily="34" charset="-122"/>
                <a:cs typeface="Calibri" pitchFamily="34" charset="-120"/>
              </a:rPr>
              <a:t>Öztürk, A. C. (2026). Aspect–sentiment drivers of hotel review ratings with interpretable high-utility rules. IEEE Access, 14, 39496–39511.</a:t>
            </a:r>
            <a:endParaRPr lang="en-US" sz="1050" dirty="0"/>
          </a:p>
        </p:txBody>
      </p:sp>
      <p:sp>
        <p:nvSpPr>
          <p:cNvPr id="20" name="Text 18"/>
          <p:cNvSpPr/>
          <p:nvPr/>
        </p:nvSpPr>
        <p:spPr>
          <a:xfrm>
            <a:off x="6217920" y="4123944"/>
            <a:ext cx="384048" cy="256032"/>
          </a:xfrm>
          <a:prstGeom prst="rect">
            <a:avLst/>
          </a:prstGeom>
          <a:noFill/>
          <a:ln/>
        </p:spPr>
        <p:txBody>
          <a:bodyPr wrap="square" lIns="0" tIns="0" rIns="0" bIns="0" rtlCol="0" anchor="ctr"/>
          <a:lstStyle/>
          <a:p>
            <a:pPr indent="0" marL="0">
              <a:buNone/>
            </a:pPr>
            <a:r>
              <a:rPr lang="en-US" sz="1300" b="1" dirty="0">
                <a:solidFill>
                  <a:srgbClr val="0F766E"/>
                </a:solidFill>
                <a:latin typeface="Cambria" pitchFamily="34" charset="0"/>
                <a:ea typeface="Cambria" pitchFamily="34" charset="-122"/>
                <a:cs typeface="Cambria" pitchFamily="34" charset="-120"/>
              </a:rPr>
              <a:t>09</a:t>
            </a:r>
            <a:endParaRPr lang="en-US" sz="1300" dirty="0"/>
          </a:p>
        </p:txBody>
      </p:sp>
      <p:sp>
        <p:nvSpPr>
          <p:cNvPr id="21" name="Text 19"/>
          <p:cNvSpPr/>
          <p:nvPr/>
        </p:nvSpPr>
        <p:spPr>
          <a:xfrm>
            <a:off x="6720840" y="4123944"/>
            <a:ext cx="4709160" cy="658368"/>
          </a:xfrm>
          <a:prstGeom prst="rect">
            <a:avLst/>
          </a:prstGeom>
          <a:noFill/>
          <a:ln/>
        </p:spPr>
        <p:txBody>
          <a:bodyPr wrap="square" lIns="0" tIns="0" rIns="0" bIns="0" rtlCol="0" anchor="ctr">
            <a:normAutofit/>
          </a:bodyPr>
          <a:lstStyle/>
          <a:p>
            <a:pPr indent="0" marL="0">
              <a:buNone/>
            </a:pPr>
            <a:r>
              <a:rPr lang="en-US" sz="1050" dirty="0">
                <a:solidFill>
                  <a:srgbClr val="172033"/>
                </a:solidFill>
                <a:latin typeface="Calibri" pitchFamily="34" charset="0"/>
                <a:ea typeface="Calibri" pitchFamily="34" charset="-122"/>
                <a:cs typeface="Calibri" pitchFamily="34" charset="-120"/>
              </a:rPr>
              <a:t>Abaiyan, R., et al. (2026). Fault of our stars: Behavioral drivers of rating–sentiment incongruence. arXiv preprint 2606.25518.</a:t>
            </a:r>
            <a:endParaRPr lang="en-US" sz="1050" dirty="0"/>
          </a:p>
        </p:txBody>
      </p:sp>
      <p:sp>
        <p:nvSpPr>
          <p:cNvPr id="22" name="Text 20"/>
          <p:cNvSpPr/>
          <p:nvPr/>
        </p:nvSpPr>
        <p:spPr>
          <a:xfrm>
            <a:off x="6217920" y="5056632"/>
            <a:ext cx="384048" cy="256032"/>
          </a:xfrm>
          <a:prstGeom prst="rect">
            <a:avLst/>
          </a:prstGeom>
          <a:noFill/>
          <a:ln/>
        </p:spPr>
        <p:txBody>
          <a:bodyPr wrap="square" lIns="0" tIns="0" rIns="0" bIns="0" rtlCol="0" anchor="ctr"/>
          <a:lstStyle/>
          <a:p>
            <a:pPr indent="0" marL="0">
              <a:buNone/>
            </a:pPr>
            <a:r>
              <a:rPr lang="en-US" sz="1300" b="1" dirty="0">
                <a:solidFill>
                  <a:srgbClr val="0F766E"/>
                </a:solidFill>
                <a:latin typeface="Cambria" pitchFamily="34" charset="0"/>
                <a:ea typeface="Cambria" pitchFamily="34" charset="-122"/>
                <a:cs typeface="Cambria" pitchFamily="34" charset="-120"/>
              </a:rPr>
              <a:t>10</a:t>
            </a:r>
            <a:endParaRPr lang="en-US" sz="1300" dirty="0"/>
          </a:p>
        </p:txBody>
      </p:sp>
      <p:sp>
        <p:nvSpPr>
          <p:cNvPr id="23" name="Text 21"/>
          <p:cNvSpPr/>
          <p:nvPr/>
        </p:nvSpPr>
        <p:spPr>
          <a:xfrm>
            <a:off x="6720840" y="5056632"/>
            <a:ext cx="4709160" cy="658368"/>
          </a:xfrm>
          <a:prstGeom prst="rect">
            <a:avLst/>
          </a:prstGeom>
          <a:noFill/>
          <a:ln/>
        </p:spPr>
        <p:txBody>
          <a:bodyPr wrap="square" lIns="0" tIns="0" rIns="0" bIns="0" rtlCol="0" anchor="ctr">
            <a:normAutofit/>
          </a:bodyPr>
          <a:lstStyle/>
          <a:p>
            <a:pPr indent="0" marL="0">
              <a:buNone/>
            </a:pPr>
            <a:r>
              <a:rPr lang="en-US" sz="1050" dirty="0">
                <a:solidFill>
                  <a:srgbClr val="172033"/>
                </a:solidFill>
                <a:latin typeface="Calibri" pitchFamily="34" charset="0"/>
                <a:ea typeface="Calibri" pitchFamily="34" charset="-122"/>
                <a:cs typeface="Calibri" pitchFamily="34" charset="-120"/>
              </a:rPr>
              <a:t>Jayakody, D., Thenahandi, P., &amp; Jayarathna, S. (2026). SentimentLens: Reconciling sentiment and ratings in hospitality. arXiv preprint 2606.00084.</a:t>
            </a:r>
            <a:endParaRPr lang="en-US" sz="1050" dirty="0"/>
          </a:p>
        </p:txBody>
      </p:sp>
      <p:sp>
        <p:nvSpPr>
          <p:cNvPr id="24" name="Shape 22"/>
          <p:cNvSpPr/>
          <p:nvPr/>
        </p:nvSpPr>
        <p:spPr>
          <a:xfrm>
            <a:off x="1051560" y="5907024"/>
            <a:ext cx="10058400" cy="329184"/>
          </a:xfrm>
          <a:prstGeom prst="roundRect">
            <a:avLst>
              <a:gd name="adj" fmla="val 22222"/>
            </a:avLst>
          </a:prstGeom>
          <a:solidFill>
            <a:srgbClr val="F1F5F9"/>
          </a:solidFill>
          <a:ln w="12700">
            <a:solidFill>
              <a:srgbClr val="F1F5F9"/>
            </a:solidFill>
            <a:prstDash val="solid"/>
          </a:ln>
        </p:spPr>
      </p:sp>
      <p:sp>
        <p:nvSpPr>
          <p:cNvPr id="25" name="Text 23"/>
          <p:cNvSpPr/>
          <p:nvPr/>
        </p:nvSpPr>
        <p:spPr>
          <a:xfrm>
            <a:off x="1261872" y="5989320"/>
            <a:ext cx="9646920" cy="146304"/>
          </a:xfrm>
          <a:prstGeom prst="rect">
            <a:avLst/>
          </a:prstGeom>
          <a:noFill/>
          <a:ln/>
        </p:spPr>
        <p:txBody>
          <a:bodyPr wrap="square" lIns="0" tIns="0" rIns="0" bIns="0" rtlCol="0" anchor="ctr">
            <a:normAutofit/>
          </a:bodyPr>
          <a:lstStyle/>
          <a:p>
            <a:pPr algn="ctr" indent="0" marL="0">
              <a:buNone/>
            </a:pPr>
            <a:r>
              <a:rPr lang="en-US" sz="950" dirty="0">
                <a:solidFill>
                  <a:srgbClr val="64748B"/>
                </a:solidFill>
                <a:latin typeface="Calibri" pitchFamily="34" charset="0"/>
                <a:ea typeface="Calibri" pitchFamily="34" charset="-122"/>
                <a:cs typeface="Calibri" pitchFamily="34" charset="-120"/>
              </a:rPr>
              <a:t>Ma trận khảo sát đầy đủ, DOI, trạng thái truy cập và giới hạn bằng chứng được ghi tại refs/INDEX.md và docs/logs/literature-survey/.</a:t>
            </a:r>
            <a:endParaRPr lang="en-US" sz="9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FPT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Khi lời nhận xét và điểm số mâu thuẫn</dc:title>
  <dc:subject>Tổng quan dự án và kết quả khảo sát văn hiến</dc:subject>
  <dc:creator>SRIPRJ Research Team</dc:creator>
  <cp:lastModifiedBy>SRIPRJ Research Team</cp:lastModifiedBy>
  <cp:revision>1</cp:revision>
  <dcterms:created xsi:type="dcterms:W3CDTF">2026-09-21T08:37:13Z</dcterms:created>
  <dcterms:modified xsi:type="dcterms:W3CDTF">2026-09-21T08:37:13Z</dcterms:modified>
</cp:coreProperties>
</file>