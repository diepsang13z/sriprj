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3" r:id="rId9"/>
    <p:sldId id="278" r:id="rId10"/>
    <p:sldId id="270" r:id="rId11"/>
    <p:sldId id="280" r:id="rId23"/>
    <p:sldId id="271" r:id="rId12"/>
    <p:sldId id="262" r:id="rId13"/>
    <p:sldId id="264" r:id="rId14"/>
    <p:sldId id="265" r:id="rId15"/>
    <p:sldId id="266" r:id="rId16"/>
    <p:sldId id="272" r:id="rId17"/>
    <p:sldId id="279" r:id="rId18"/>
    <p:sldId id="267" r:id="rId19"/>
    <p:sldId id="268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28431" y="0"/>
            <a:ext cx="4160520" cy="6858000"/>
          </a:xfrm>
          <a:prstGeom prst="rect">
            <a:avLst/>
          </a:prstGeom>
          <a:solidFill>
            <a:srgbClr val="0D2942"/>
          </a:solidFill>
          <a:ln>
            <a:solidFill>
              <a:srgbClr val="0D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914400"/>
            <a:ext cx="475488" cy="47548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0" y="1645920"/>
            <a:ext cx="228600" cy="22860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4114800"/>
            <a:ext cx="329184" cy="329184"/>
          </a:xfrm>
          <a:prstGeom prst="ellipse">
            <a:avLst/>
          </a:prstGeom>
          <a:solidFill>
            <a:srgbClr val="2D6CD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0" y="4754880"/>
            <a:ext cx="429768" cy="42976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822960"/>
            <a:ext cx="6583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7EE5DC"/>
                </a:solidFill>
                <a:latin typeface="Arial"/>
              </a:defRPr>
            </a:pPr>
            <a:r>
              <a:t>BÁO CÁO TIẾN ĐỘ DỰ 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89888"/>
            <a:ext cx="6784848" cy="10095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rPr dirty="0" err="1">
                <a:latin typeface="+mj-lt"/>
              </a:rPr>
              <a:t>Bất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nhất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cảm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xúc</a:t>
            </a:r>
            <a:r>
              <a:rPr dirty="0">
                <a:latin typeface="+mj-lt"/>
              </a:rPr>
              <a:t> – </a:t>
            </a:r>
            <a:r>
              <a:rPr dirty="0" err="1">
                <a:latin typeface="+mj-lt"/>
              </a:rPr>
              <a:t>điểm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số</a:t>
            </a:r>
            <a:endParaRPr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+mj-lt"/>
              </a:rPr>
              <a:t>ở </a:t>
            </a:r>
            <a:r>
              <a:rPr dirty="0" err="1">
                <a:latin typeface="+mj-lt"/>
              </a:rPr>
              <a:t>cấp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khía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cạnh</a:t>
            </a:r>
            <a:endParaRPr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6537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C7D5E0"/>
                </a:solidFill>
                <a:latin typeface="Arial"/>
              </a:defRPr>
            </a:pPr>
            <a:r>
              <a:rPr dirty="0"/>
              <a:t>Aspect-Level Sentiment–Rating Discrepancy in Online Hotel Reviews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913632"/>
            <a:ext cx="5532120" cy="0"/>
          </a:xfrm>
          <a:prstGeom prst="line">
            <a:avLst/>
          </a:prstGeom>
          <a:ln w="10160">
            <a:solidFill>
              <a:srgbClr val="4F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187952"/>
            <a:ext cx="6035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7D5E0"/>
                </a:solidFill>
                <a:latin typeface="Arial"/>
              </a:defRPr>
            </a:pPr>
            <a:r>
              <a:rPr dirty="0" err="1"/>
              <a:t>Nhóm: 9  ·  Môn DAP391m  ·  24/9/2026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Lộ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trình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báo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cáo</a:t>
            </a:r>
            <a:endParaRPr dirty="0">
              <a:latin typeface="+mj-lt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9164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7B7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Đề tài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834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Hiện tượng và dữ liệu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9164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2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7B7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3113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Khảo sát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24328"/>
            <a:ext cx="2834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rPr dirty="0" err="1"/>
              <a:t>Cách đọc và kết quả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69164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6" y="1856232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7B7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23113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Khoảng trống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624328"/>
            <a:ext cx="2834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Những vấn đề còn mở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52044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685032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7B7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5993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>
                <a:latin typeface="+mj-lt"/>
              </a:rPr>
              <a:t>Câu hỏi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3128"/>
            <a:ext cx="2834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Ba câu hỏi nghiên cứu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52044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0288" y="3685032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7B7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05993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Phương pháp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4453128"/>
            <a:ext cx="2834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Ba tầng liên kết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8" y="352044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66176" y="3685032"/>
            <a:ext cx="457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7B7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05993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Tiếp theo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453128"/>
            <a:ext cx="28346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Kiểm chứng và đề cương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01 ·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Điểm sao và nội dung đánh giá có thể không khớp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67665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71A2D"/>
                </a:solidFill>
                <a:latin typeface="Arial"/>
              </a:defRPr>
            </a:pPr>
            <a:r>
              <a:rPr sz="2000" dirty="0" err="1">
                <a:latin typeface="+mj-lt"/>
              </a:rPr>
              <a:t>Khách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hàng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để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lại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hai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tín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hiệu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cùng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lúc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khi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đánh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giá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khách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sạn</a:t>
            </a:r>
            <a:r>
              <a:rPr sz="2000" dirty="0">
                <a:latin typeface="+mj-l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12848"/>
            <a:ext cx="290779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257860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Văn </a:t>
            </a:r>
            <a:r>
              <a:rPr dirty="0" err="1">
                <a:latin typeface="+mj-lt"/>
              </a:rPr>
              <a:t>bản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tự</a:t>
            </a:r>
            <a:r>
              <a:rPr dirty="0">
                <a:latin typeface="+mj-lt"/>
              </a:rPr>
              <a:t>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34056"/>
            <a:ext cx="2560320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 i="0">
                <a:solidFill>
                  <a:srgbClr val="102A43"/>
                </a:solidFill>
                <a:latin typeface="Arial"/>
              </a:defRPr>
            </a:pPr>
            <a:r>
              <a:rPr dirty="0" err="1"/>
              <a:t>Kể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trải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nhiên</a:t>
            </a:r>
            <a:r>
              <a:rPr dirty="0"/>
              <a:t>: </a:t>
            </a:r>
            <a:r>
              <a:rPr dirty="0" err="1"/>
              <a:t>phòng</a:t>
            </a:r>
            <a:r>
              <a:rPr dirty="0"/>
              <a:t>, </a:t>
            </a:r>
            <a:r>
              <a:rPr dirty="0" err="1"/>
              <a:t>dịch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, </a:t>
            </a:r>
            <a:r>
              <a:rPr dirty="0" err="1"/>
              <a:t>tiện</a:t>
            </a:r>
            <a:r>
              <a:rPr dirty="0"/>
              <a:t> </a:t>
            </a:r>
            <a:r>
              <a:rPr dirty="0" err="1"/>
              <a:t>ích</a:t>
            </a:r>
            <a:r>
              <a:rPr dirty="0"/>
              <a:t>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212848"/>
            <a:ext cx="290779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33087" y="2359152"/>
            <a:ext cx="257860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02A43"/>
                </a:solidFill>
                <a:latin typeface="Arial"/>
              </a:defRPr>
            </a:pPr>
            <a:r>
              <a:rPr dirty="0" err="1">
                <a:latin typeface="+mj-lt"/>
              </a:rPr>
              <a:t>Điểm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sao</a:t>
            </a:r>
            <a:endParaRPr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33087" y="2734056"/>
            <a:ext cx="2560320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 i="0">
                <a:solidFill>
                  <a:srgbClr val="102A43"/>
                </a:solidFill>
                <a:latin typeface="Arial"/>
              </a:defRPr>
            </a:pPr>
            <a:r>
              <a:t>Chấm một đánh giá tổng thể từ 1 đến 5 sao.</a:t>
            </a:r>
          </a:p>
        </p:txBody>
      </p:sp>
      <p:sp>
        <p:nvSpPr>
          <p:cNvPr id="18" name="Chevron 17"/>
          <p:cNvSpPr/>
          <p:nvPr/>
        </p:nvSpPr>
        <p:spPr>
          <a:xfrm>
            <a:off x="7178040" y="2633472"/>
            <a:ext cx="585216" cy="566928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28431" y="1591056"/>
            <a:ext cx="3401568" cy="2834640"/>
          </a:xfrm>
          <a:prstGeom prst="round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920240"/>
            <a:ext cx="28346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7EE5DC"/>
                </a:solidFill>
                <a:latin typeface="Arial"/>
              </a:defRPr>
            </a:pPr>
            <a:r>
              <a:t>ĐIỂM XUẤT PHÁT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40864"/>
            <a:ext cx="2907792" cy="11172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FFFF"/>
                </a:solidFill>
                <a:latin typeface="Arial"/>
              </a:defRPr>
            </a:pPr>
            <a:r>
              <a:rPr dirty="0" err="1">
                <a:latin typeface="+mj-lt"/>
              </a:rPr>
              <a:t>Viết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một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đằng</a:t>
            </a:r>
            <a:endParaRPr dirty="0"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FFFF"/>
                </a:solidFill>
                <a:latin typeface="Arial"/>
              </a:defRPr>
            </a:pPr>
            <a:r>
              <a:rPr dirty="0" err="1">
                <a:latin typeface="+mj-lt"/>
              </a:rPr>
              <a:t>nhưng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chấm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sao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một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nẻo</a:t>
            </a:r>
            <a:endParaRPr dirty="0"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3749040"/>
            <a:ext cx="265176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C7D5E0"/>
                </a:solidFill>
                <a:latin typeface="Arial"/>
              </a:defRPr>
            </a:pPr>
            <a:r>
              <a:t>Nhóm xem đây là những trường hợp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C7D5E0"/>
                </a:solidFill>
                <a:latin typeface="Arial"/>
              </a:defRPr>
            </a:pPr>
            <a:r>
              <a:t>cần kiểm tra và giải thích thêm.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01 · VÍ DỤ MINH HỌA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>
                <a:latin typeface="+mj-lt"/>
              </a:rPr>
              <a:t>Hai tình huống cần kiểm tra sự không khớp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528523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3840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4B942"/>
                </a:solidFill>
                <a:latin typeface="Arial"/>
              </a:defRPr>
            </a:pPr>
            <a: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103120"/>
            <a:ext cx="4370832" cy="1554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102A43"/>
                </a:solidFill>
                <a:latin typeface="Arial"/>
              </a:defRPr>
            </a:pPr>
            <a:r>
              <a:t>Phòng sạch, nhân viên thân thiện, nhưng điều hoà kêu rất to và wifi yếu. Nhìn chung vẫn là chỗ ổn.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758952" cy="310896"/>
          </a:xfrm>
          <a:prstGeom prst="round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6"/>
            <a:ext cx="7589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71A2D"/>
                </a:solidFill>
                <a:latin typeface="Arial"/>
              </a:defRPr>
            </a:pPr>
            <a:r>
              <a:t>5 SAO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849624"/>
            <a:ext cx="3913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4B942"/>
                </a:solidFill>
                <a:latin typeface="Arial"/>
              </a:defRPr>
            </a:pPr>
            <a:r>
              <a:t>Chê một số điểm · vẫn chấm cao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37360"/>
            <a:ext cx="5285232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38404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D55454"/>
                </a:solidFill>
                <a:latin typeface="Arial"/>
              </a:defRPr>
            </a:pPr>
            <a:r>
              <a:t>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103120"/>
            <a:ext cx="4370832" cy="1554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102A43"/>
                </a:solidFill>
                <a:latin typeface="Arial"/>
              </a:defRPr>
            </a:pPr>
            <a:r>
              <a:t>Vị trí tuyệt vời, phòng đẹp, ăn sáng ngon. Nhưng tiếng ồn buổi tối khiến tôi không ngủ được.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794760"/>
            <a:ext cx="758952" cy="310896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831336"/>
            <a:ext cx="75895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71A2D"/>
                </a:solidFill>
                <a:latin typeface="Arial"/>
              </a:defRPr>
            </a:pPr>
            <a:r>
              <a:t>2 SAO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849624"/>
            <a:ext cx="3913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D55454"/>
                </a:solidFill>
                <a:latin typeface="Arial"/>
              </a:defRPr>
            </a:pPr>
            <a:r>
              <a:t>Khen nhiều điểm · vẫn chấm thấp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800600"/>
            <a:ext cx="9994392" cy="694944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25880" y="4983480"/>
            <a:ext cx="953719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50" b="1" i="0">
                <a:solidFill>
                  <a:srgbClr val="071A2D"/>
                </a:solidFill>
                <a:latin typeface="Arial"/>
              </a:defRPr>
            </a:pPr>
            <a:r>
              <a:rPr lang="en-US" dirty="0" err="1">
                <a:latin typeface="+mj-lt"/>
              </a:rPr>
              <a:t>Có lời khen hoặc chê chưa đủ để kết luận điểm sao không phù hợp.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01 · BỐI CẢNH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Vì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sao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hiện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tượng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này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quan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trọng</a:t>
            </a:r>
            <a:r>
              <a:rPr dirty="0">
                <a:latin typeface="+mj-lt"/>
              </a:rPr>
              <a:t>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99616"/>
            <a:ext cx="5330952" cy="3639312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45919"/>
            <a:ext cx="500176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02A43"/>
                </a:solidFill>
                <a:latin typeface="Arial"/>
              </a:defRPr>
            </a:pPr>
            <a:r>
              <a:rPr lang="en-US" dirty="0">
                <a:latin typeface="+mj-lt"/>
              </a:rPr>
              <a:t>  </a:t>
            </a:r>
            <a:r>
              <a:rPr dirty="0" err="1">
                <a:latin typeface="+mj-lt"/>
              </a:rPr>
              <a:t>Đối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với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nghiên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cứu</a:t>
            </a:r>
            <a:endParaRPr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2148840"/>
            <a:ext cx="4983480" cy="2423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• Điểm sao được dùng làm nhãn thay thế cho cảm xúc.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endParaRPr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• Nhãn có thể không phản ánh đầy đủ nội dung review.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endParaRPr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• Loại ca không khớp có thể bỏ mất thông tin cần nghiên cứu.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99616"/>
            <a:ext cx="5330952" cy="3639312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645919"/>
            <a:ext cx="500176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02A43"/>
                </a:solidFill>
                <a:latin typeface="Arial"/>
              </a:defRPr>
            </a:pPr>
            <a:r>
              <a:rPr lang="en-US" dirty="0">
                <a:latin typeface="+mj-lt"/>
              </a:rPr>
              <a:t>  </a:t>
            </a:r>
            <a:r>
              <a:rPr dirty="0" err="1">
                <a:latin typeface="+mj-lt"/>
              </a:rPr>
              <a:t>Đối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với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quản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trị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khách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sạn</a:t>
            </a:r>
            <a:endParaRPr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3368" y="2148840"/>
            <a:ext cx="4983480" cy="2423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• Xác định khía cạnh gắn với điểm cao hoặc thấp.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endParaRPr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• Kiểm tra khi nào một hạn chế chi phối đánh giá.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endParaRPr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• Cung cấp cơ sở để ưu tiên cải thiện dịch vụ.</a:t>
            </a:r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080760"/>
            <a:ext cx="10744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Tham khảo: Kwon B. et al. (2025); Hu et al. (2024).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01 · BỐI CẢNH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Dữ liệu ban đầu: những review cần kiểm tra thêm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1078992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sz="2000" dirty="0">
                <a:latin typeface="+mj-lt"/>
              </a:rPr>
              <a:t>TripAdvisor</a:t>
            </a:r>
            <a:r>
              <a:rPr lang="en-US" sz="2000" dirty="0">
                <a:latin typeface="+mj-lt"/>
              </a:rPr>
              <a:t> </a:t>
            </a:r>
            <a:r>
              <a:rPr sz="2000" dirty="0">
                <a:latin typeface="+mj-lt"/>
              </a:rPr>
              <a:t>· 2015</a:t>
            </a:r>
            <a:r>
              <a:rPr lang="en-US" sz="2000" dirty="0">
                <a:latin typeface="+mj-lt"/>
              </a:rPr>
              <a:t>-</a:t>
            </a:r>
            <a:r>
              <a:rPr sz="2000" dirty="0">
                <a:latin typeface="+mj-lt"/>
              </a:rPr>
              <a:t>2023 · 9.990 review · 2.622 </a:t>
            </a:r>
            <a:r>
              <a:rPr sz="2000" dirty="0" err="1">
                <a:latin typeface="+mj-lt"/>
              </a:rPr>
              <a:t>khách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sạn</a:t>
            </a:r>
            <a:endParaRPr sz="2000" dirty="0">
              <a:latin typeface="+mj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3232" y="1965960"/>
            <a:ext cx="2514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84831"/>
            <a:ext cx="224028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4B942"/>
                </a:solidFill>
                <a:latin typeface="Arial"/>
              </a:defRPr>
            </a:pPr>
            <a:r>
              <a:rPr dirty="0"/>
              <a:t>394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651760"/>
            <a:ext cx="224028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02A43"/>
                </a:solidFill>
                <a:latin typeface="Arial"/>
              </a:defRPr>
            </a:pPr>
            <a:r>
              <a:rPr dirty="0"/>
              <a:t>Review 5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phàn</a:t>
            </a:r>
            <a:r>
              <a:rPr dirty="0"/>
              <a:t> </a:t>
            </a:r>
            <a:r>
              <a:rPr dirty="0" err="1"/>
              <a:t>nàn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cực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410712" y="1965960"/>
            <a:ext cx="2514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2084831"/>
            <a:ext cx="224028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D55454"/>
                </a:solidFill>
                <a:latin typeface="Arial"/>
              </a:defRPr>
            </a:pPr>
            <a:r>
              <a:t>199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51760"/>
            <a:ext cx="224028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02A43"/>
                </a:solidFill>
                <a:latin typeface="Arial"/>
              </a:defRPr>
            </a:pPr>
            <a:r>
              <a:rPr dirty="0"/>
              <a:t>Review 1–2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chứa</a:t>
            </a:r>
            <a:r>
              <a:rPr dirty="0"/>
              <a:t> </a:t>
            </a: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khen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108192" y="1965960"/>
            <a:ext cx="2514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084831"/>
            <a:ext cx="224028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00A6A6"/>
                </a:solidFill>
                <a:latin typeface="Arial"/>
              </a:defRPr>
            </a:pPr>
            <a:r>
              <a:t>593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651760"/>
            <a:ext cx="224028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02A43"/>
                </a:solidFill>
                <a:latin typeface="Arial"/>
              </a:defRPr>
            </a:pPr>
            <a:r>
              <a:t>Review cần kiểm tra thêm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1965960"/>
            <a:ext cx="25146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42832" y="2084831"/>
            <a:ext cx="224028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2D6CDF"/>
                </a:solidFill>
                <a:latin typeface="Arial"/>
              </a:defRPr>
            </a:pPr>
            <a:r>
              <a:t>461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651760"/>
            <a:ext cx="2240280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02A43"/>
                </a:solidFill>
                <a:latin typeface="Arial"/>
              </a:defRPr>
            </a:pPr>
            <a:r>
              <a:t>Khách sạn có review cần kiểm tra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520440"/>
            <a:ext cx="10607040" cy="740664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3730752"/>
            <a:ext cx="1010412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71A2D"/>
                </a:solidFill>
                <a:latin typeface="Arial"/>
              </a:defRPr>
            </a:pPr>
            <a:r>
              <a:rPr lang="en-US" sz="1700" b="1" dirty="0">
                <a:solidFill>
                  <a:srgbClr val="071A2D"/>
                </a:solidFill>
                <a:latin typeface="+mj-lt"/>
              </a:rPr>
              <a:t>593 review có dấu hiệu cần kiểm tra thêm giữa nội dung và điểm sao.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38928"/>
            <a:ext cx="105156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Nguồn: TripAdvisor_EN.json; RDR-0006 (23/09/2026). 394/7.148 review 5 sao; 199/465 review 1–2 sao.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02 · KHẢO SÁT TÀI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Cách nhóm tìm và đối chiếu tài liệu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1328"/>
            <a:ext cx="52852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27632"/>
            <a:ext cx="4956048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Tiêu chí dừng khảo sát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02536"/>
            <a:ext cx="493776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Đủ cơ sở viết đề cương và chọn mốc đối chiếu; tài liệu mới không làm thay đổi thiết kế.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62072"/>
            <a:ext cx="52852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08376"/>
            <a:ext cx="4956048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Ưu tiên tài liệu trong 36 tháng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83279"/>
            <a:ext cx="493776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>
                <a:latin typeface="+mj-lt"/>
              </a:rPr>
              <a:t>Nguồn cũ được giữ khi cần giải thích khái niệm nền tảng, kèm lý do lựa chọn.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481328"/>
            <a:ext cx="5285232" cy="3502152"/>
          </a:xfrm>
          <a:prstGeom prst="round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1737360"/>
            <a:ext cx="475488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7EE5DC"/>
                </a:solidFill>
                <a:latin typeface="Arial"/>
              </a:defRPr>
            </a:pPr>
            <a:r>
              <a:rPr lang="en-US" sz="1700" dirty="0">
                <a:latin typeface="+mj-lt"/>
              </a:rPr>
              <a:t>Bốn nguyên tắc khi đọc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240280"/>
            <a:ext cx="461772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FFFFFF"/>
                </a:solidFill>
                <a:latin typeface="Arial"/>
              </a:defRPr>
            </a:pPr>
            <a:r>
              <a:rPr lang="en-US" sz="1500" dirty="0">
                <a:latin typeface="+mj-lt"/>
              </a:rPr>
              <a:t>1. Ưu tiên bài tạp chí; phân biệt bản chưa bình duyệt.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907792"/>
            <a:ext cx="461772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FFFFFF"/>
                </a:solidFill>
                <a:latin typeface="Arial"/>
              </a:defRPr>
            </a:pPr>
            <a:r>
              <a:rPr lang="en-US" sz="1500" dirty="0">
                <a:latin typeface="+mj-lt"/>
              </a:rPr>
              <a:t>2. Đối chiếu DOI qua Crossref và OpenAlex.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575304"/>
            <a:ext cx="461772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FFFFFF"/>
                </a:solidFill>
                <a:latin typeface="Arial"/>
              </a:defRPr>
            </a:pPr>
            <a:r>
              <a:rPr lang="en-US" sz="1500" dirty="0">
                <a:latin typeface="+mj-lt"/>
              </a:rPr>
              <a:t>3. Ghi mức bằng chứng I–VII cho từng nguồn.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242816"/>
            <a:ext cx="461772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FFFFFF"/>
                </a:solidFill>
                <a:latin typeface="Arial"/>
              </a:defRPr>
            </a:pPr>
            <a:r>
              <a:rPr lang="en-US" sz="1500" dirty="0">
                <a:latin typeface="+mj-lt"/>
              </a:rPr>
              <a:t>4. Chủ động tìm bằng chứng phản biện giả thuyết.</a:t>
            </a:r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080760"/>
            <a:ext cx="10744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Căn cứ: RDR-0002 và RDR-0005; khảo sát qua bốn vòng, đến 23/09/2026.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02 · KHẢO SÁT TÀI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Bài gốc: những gì kế thừa và hướng mở rộng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417320"/>
            <a:ext cx="1083564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71A2D"/>
                </a:solidFill>
                <a:latin typeface="Arial"/>
              </a:defRPr>
            </a:pPr>
            <a:r>
              <a:rPr sz="2000" dirty="0">
                <a:latin typeface="+mj-lt"/>
              </a:rPr>
              <a:t>Le et al. (2026) · International Journal of Hospitality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47088"/>
            <a:ext cx="5916168" cy="310896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83664"/>
            <a:ext cx="5916168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007B7B"/>
                </a:solidFill>
                <a:latin typeface="Arial"/>
              </a:defRPr>
            </a:pPr>
            <a:r>
              <a:rPr dirty="0" err="1">
                <a:latin typeface="+mj-lt"/>
              </a:rPr>
              <a:t>Kế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thừa</a:t>
            </a:r>
            <a:r>
              <a:rPr dirty="0">
                <a:latin typeface="+mj-lt"/>
              </a:rPr>
              <a:t>: S-O-R · </a:t>
            </a:r>
            <a:r>
              <a:rPr dirty="0" err="1">
                <a:latin typeface="+mj-lt"/>
              </a:rPr>
              <a:t>bối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cảnh</a:t>
            </a:r>
            <a:r>
              <a:rPr dirty="0">
                <a:latin typeface="+mj-lt"/>
              </a:rPr>
              <a:t> review </a:t>
            </a:r>
            <a:r>
              <a:rPr dirty="0" err="1">
                <a:latin typeface="+mj-lt"/>
              </a:rPr>
              <a:t>khách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sạn</a:t>
            </a:r>
            <a:r>
              <a:rPr dirty="0">
                <a:latin typeface="+mj-lt"/>
              </a:rPr>
              <a:t> · </a:t>
            </a:r>
            <a:r>
              <a:rPr dirty="0" err="1">
                <a:latin typeface="+mj-lt"/>
              </a:rPr>
              <a:t>tách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khía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cạnh</a:t>
            </a:r>
            <a:r>
              <a:rPr dirty="0">
                <a:latin typeface="+mj-lt"/>
              </a:rPr>
              <a:t> · </a:t>
            </a:r>
            <a:r>
              <a:rPr dirty="0" err="1">
                <a:latin typeface="+mj-lt"/>
              </a:rPr>
              <a:t>dữ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liệu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đối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chuẩn</a:t>
            </a:r>
            <a:endParaRPr dirty="0">
              <a:latin typeface="+mj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232" y="2432304"/>
            <a:ext cx="3364992" cy="241401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3035808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Mục tiêu đo lường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2"/>
            <a:ext cx="3017520" cy="12435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Bài gốc giải thích điểm số từ cảm xúc. Nhóm tập trung đo độ lệch giữa hai tín hiệu này.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34256"/>
            <a:ext cx="457200" cy="310896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2677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432304"/>
            <a:ext cx="3364992" cy="241401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2578608"/>
            <a:ext cx="3035808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Cách dùng Loyalty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953512"/>
            <a:ext cx="3017520" cy="12435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Ý định quay lại hoặc giới thiệu gắn với đánh giá tổng thể. Nhóm cần kiểm tra tính độc lập khi đo.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9432" y="4334256"/>
            <a:ext cx="457200" cy="310896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4370832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2677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2432304"/>
            <a:ext cx="3364992" cy="241401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4" y="2578608"/>
            <a:ext cx="3035808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Đơn vị phân tích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953512"/>
            <a:ext cx="3017520" cy="12435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60" b="0" i="0">
                <a:solidFill>
                  <a:srgbClr val="102A43"/>
                </a:solidFill>
                <a:latin typeface="Arial"/>
              </a:defRPr>
            </a:pPr>
            <a:r>
              <a:rPr sz="1500" dirty="0">
                <a:latin typeface="+mj-lt"/>
              </a:rPr>
              <a:t>Kế thừa cách tách khía cạnh; dùng nhãn đoạn văn để đo cảm xúc và độ lệch theo từng khía cạnh.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4464" y="4334256"/>
            <a:ext cx="457200" cy="310896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4" y="4370832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2677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080760"/>
            <a:ext cx="10744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Nguồn: Le et al. (2026), phần phương pháp. Các hướng mở rộng là nhận định của nhóm.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02 · KHẢO SÁT TÀI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Bốn nghiên cứu tiêu biểu và phần nhóm kế thừa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00" name="Review shape 100"/>
          <p:cNvSpPr/>
          <p:nvPr/>
        </p:nvSpPr>
        <p:spPr>
          <a:xfrm>
            <a:off x="713232" y="1481328"/>
            <a:ext cx="10762488" cy="548640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view shape 110"/>
          <p:cNvSpPr txBox="1"/>
          <p:nvPr/>
        </p:nvSpPr>
        <p:spPr>
          <a:xfrm>
            <a:off x="822960" y="1609344"/>
            <a:ext cx="1975104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Nghiên cứu</a:t>
            </a:r>
          </a:p>
        </p:txBody>
      </p:sp>
      <p:sp>
        <p:nvSpPr>
          <p:cNvPr id="111" name="Review shape 111"/>
          <p:cNvSpPr txBox="1"/>
          <p:nvPr/>
        </p:nvSpPr>
        <p:spPr>
          <a:xfrm>
            <a:off x="3017520" y="1609344"/>
            <a:ext cx="2523744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Phát hiện chính</a:t>
            </a:r>
          </a:p>
        </p:txBody>
      </p:sp>
      <p:sp>
        <p:nvSpPr>
          <p:cNvPr id="112" name="Review shape 112"/>
          <p:cNvSpPr txBox="1"/>
          <p:nvPr/>
        </p:nvSpPr>
        <p:spPr>
          <a:xfrm>
            <a:off x="5760720" y="1609344"/>
            <a:ext cx="2569464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Giới hạn với đề tài</a:t>
            </a:r>
          </a:p>
        </p:txBody>
      </p:sp>
      <p:sp>
        <p:nvSpPr>
          <p:cNvPr id="113" name="Review shape 113"/>
          <p:cNvSpPr txBox="1"/>
          <p:nvPr/>
        </p:nvSpPr>
        <p:spPr>
          <a:xfrm>
            <a:off x="8549640" y="1609344"/>
            <a:ext cx="281635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Nhóm kế thừa</a:t>
            </a:r>
          </a:p>
        </p:txBody>
      </p:sp>
      <p:sp>
        <p:nvSpPr>
          <p:cNvPr id="120" name="Review shape 120"/>
          <p:cNvSpPr/>
          <p:nvPr/>
        </p:nvSpPr>
        <p:spPr>
          <a:xfrm>
            <a:off x="713232" y="2157984"/>
            <a:ext cx="10762488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view shape 130"/>
          <p:cNvSpPr txBox="1"/>
          <p:nvPr/>
        </p:nvSpPr>
        <p:spPr>
          <a:xfrm>
            <a:off x="822960" y="2249424"/>
            <a:ext cx="197510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Wang P. et al. (2025)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So điểm và cảm xúc</a:t>
            </a:r>
          </a:p>
        </p:txBody>
      </p:sp>
      <p:sp>
        <p:nvSpPr>
          <p:cNvPr id="131" name="Review shape 131"/>
          <p:cNvSpPr txBox="1"/>
          <p:nvPr/>
        </p:nvSpPr>
        <p:spPr>
          <a:xfrm>
            <a:off x="3017520" y="2249424"/>
            <a:ext cx="252374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Điểm cao có thể đi cùng cảm xúc thấp.</a:t>
            </a:r>
          </a:p>
        </p:txBody>
      </p:sp>
      <p:sp>
        <p:nvSpPr>
          <p:cNvPr id="132" name="Review shape 132"/>
          <p:cNvSpPr txBox="1"/>
          <p:nvPr/>
        </p:nvSpPr>
        <p:spPr>
          <a:xfrm>
            <a:off x="5760720" y="2249424"/>
            <a:ext cx="256946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Tập trung vào hiệu quả kinh doanh khách sạn.</a:t>
            </a:r>
          </a:p>
        </p:txBody>
      </p:sp>
      <p:sp>
        <p:nvSpPr>
          <p:cNvPr id="133" name="Review shape 133"/>
          <p:cNvSpPr txBox="1"/>
          <p:nvPr/>
        </p:nvSpPr>
        <p:spPr>
          <a:xfrm>
            <a:off x="8549640" y="2249424"/>
            <a:ext cx="2816352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Phân biệt điểm sao với cảm xúc văn bản.</a:t>
            </a:r>
          </a:p>
        </p:txBody>
      </p:sp>
      <p:sp>
        <p:nvSpPr>
          <p:cNvPr id="121" name="Review shape 121"/>
          <p:cNvSpPr/>
          <p:nvPr/>
        </p:nvSpPr>
        <p:spPr>
          <a:xfrm>
            <a:off x="713232" y="3127248"/>
            <a:ext cx="10762488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view shape 134"/>
          <p:cNvSpPr txBox="1"/>
          <p:nvPr/>
        </p:nvSpPr>
        <p:spPr>
          <a:xfrm>
            <a:off x="822960" y="3218688"/>
            <a:ext cx="197510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Kwon B. et al. (2025)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Khoảng cách chuẩn hóa</a:t>
            </a:r>
          </a:p>
        </p:txBody>
      </p:sp>
      <p:sp>
        <p:nvSpPr>
          <p:cNvPr id="135" name="Review shape 135"/>
          <p:cNvSpPr txBox="1"/>
          <p:nvPr/>
        </p:nvSpPr>
        <p:spPr>
          <a:xfrm>
            <a:off x="3017520" y="3218688"/>
            <a:ext cx="252374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Tách độ lớn và chiều không khớp.</a:t>
            </a:r>
          </a:p>
        </p:txBody>
      </p:sp>
      <p:sp>
        <p:nvSpPr>
          <p:cNvPr id="136" name="Review shape 136"/>
          <p:cNvSpPr txBox="1"/>
          <p:nvPr/>
        </p:nvSpPr>
        <p:spPr>
          <a:xfrm>
            <a:off x="5760720" y="3218688"/>
            <a:ext cx="256946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Cấp toàn review; nghiên cứu tính hữu ích.</a:t>
            </a:r>
          </a:p>
        </p:txBody>
      </p:sp>
      <p:sp>
        <p:nvSpPr>
          <p:cNvPr id="137" name="Review shape 137"/>
          <p:cNvSpPr txBox="1"/>
          <p:nvPr/>
        </p:nvSpPr>
        <p:spPr>
          <a:xfrm>
            <a:off x="8549640" y="3218688"/>
            <a:ext cx="2816352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Giữ cả độ lớn lẫn chiều khi xây phép đo.</a:t>
            </a:r>
          </a:p>
        </p:txBody>
      </p:sp>
      <p:sp>
        <p:nvSpPr>
          <p:cNvPr id="122" name="Review shape 122"/>
          <p:cNvSpPr/>
          <p:nvPr/>
        </p:nvSpPr>
        <p:spPr>
          <a:xfrm>
            <a:off x="713232" y="4096512"/>
            <a:ext cx="10762488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view shape 138"/>
          <p:cNvSpPr txBox="1"/>
          <p:nvPr/>
        </p:nvSpPr>
        <p:spPr>
          <a:xfrm>
            <a:off x="822960" y="4187952"/>
            <a:ext cx="197510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Regitz et al. (2026)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Topic và hồi quy</a:t>
            </a:r>
          </a:p>
        </p:txBody>
      </p:sp>
      <p:sp>
        <p:nvSpPr>
          <p:cNvPr id="139" name="Review shape 139"/>
          <p:cNvSpPr txBox="1"/>
          <p:nvPr/>
        </p:nvSpPr>
        <p:spPr>
          <a:xfrm>
            <a:off x="3017520" y="4187952"/>
            <a:ext cx="252374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Các thuộc tính có vai trò Kano khác nhau.</a:t>
            </a:r>
          </a:p>
        </p:txBody>
      </p:sp>
      <p:sp>
        <p:nvSpPr>
          <p:cNvPr id="140" name="Review shape 140"/>
          <p:cNvSpPr txBox="1"/>
          <p:nvPr/>
        </p:nvSpPr>
        <p:spPr>
          <a:xfrm>
            <a:off x="5760720" y="4187952"/>
            <a:ext cx="256946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Phân tích theo topic; chưa đo độ lệch theo từng khía cạnh.</a:t>
            </a:r>
          </a:p>
        </p:txBody>
      </p:sp>
      <p:sp>
        <p:nvSpPr>
          <p:cNvPr id="141" name="Review shape 141"/>
          <p:cNvSpPr txBox="1"/>
          <p:nvPr/>
        </p:nvSpPr>
        <p:spPr>
          <a:xfrm>
            <a:off x="8549640" y="4187952"/>
            <a:ext cx="2816352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Kiểm tra tác động bất đối xứng của khía cạnh.</a:t>
            </a:r>
          </a:p>
        </p:txBody>
      </p:sp>
      <p:sp>
        <p:nvSpPr>
          <p:cNvPr id="123" name="Review shape 123"/>
          <p:cNvSpPr/>
          <p:nvPr/>
        </p:nvSpPr>
        <p:spPr>
          <a:xfrm>
            <a:off x="713232" y="5065776"/>
            <a:ext cx="10762488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view shape 142"/>
          <p:cNvSpPr txBox="1"/>
          <p:nvPr/>
        </p:nvSpPr>
        <p:spPr>
          <a:xfrm>
            <a:off x="822960" y="5157216"/>
            <a:ext cx="197510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Hu et al. (2024)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Phân tích cảm xúc</a:t>
            </a:r>
          </a:p>
        </p:txBody>
      </p:sp>
      <p:sp>
        <p:nvSpPr>
          <p:cNvPr id="143" name="Review shape 143"/>
          <p:cNvSpPr txBox="1"/>
          <p:nvPr/>
        </p:nvSpPr>
        <p:spPr>
          <a:xfrm>
            <a:off x="3017520" y="5157216"/>
            <a:ext cx="252374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694/4.004 review có cảm xúc không khớp sao.</a:t>
            </a:r>
          </a:p>
        </p:txBody>
      </p:sp>
      <p:sp>
        <p:nvSpPr>
          <p:cNvPr id="144" name="Review shape 144"/>
          <p:cNvSpPr txBox="1"/>
          <p:nvPr/>
        </p:nvSpPr>
        <p:spPr>
          <a:xfrm>
            <a:off x="5760720" y="5157216"/>
            <a:ext cx="2569464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Mẫu Beppu; loại ca lệch khi phân tích tiếp.</a:t>
            </a:r>
          </a:p>
        </p:txBody>
      </p:sp>
      <p:sp>
        <p:nvSpPr>
          <p:cNvPr id="145" name="Review shape 145"/>
          <p:cNvSpPr txBox="1"/>
          <p:nvPr/>
        </p:nvSpPr>
        <p:spPr>
          <a:xfrm>
            <a:off x="8549640" y="5157216"/>
            <a:ext cx="2816352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Mốc tham khảo cho hiện tượng; không sao chép tỷ lệ.</a:t>
            </a:r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190488"/>
            <a:ext cx="10744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Nguồn: toàn văn bốn nghiên cứu trong thư viện refs/; bảng tóm tắt theo câu hỏi nghiên cứu của nhóm.</a:t>
            </a:r>
          </a:p>
        </p:txBody>
      </p:sp>
    </p:spTree>
    <p:extLst>
      <p:ext uri="{BB962C8B-B14F-4D97-AF65-F5344CB8AC3E}">
        <p14:creationId xmlns:p14="http://schemas.microsoft.com/office/powerpoint/2010/main" val="389013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02 · KHẢO SÁT TÀI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Kết quả khảo sát: hai hướng tác động cần kiểm định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490472"/>
            <a:ext cx="5285232" cy="2267712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28216"/>
            <a:ext cx="48006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D55454"/>
                </a:solidFill>
                <a:latin typeface="Arial"/>
              </a:defRPr>
            </a:pPr>
            <a:r>
              <a:t>NHÁNH CHI PHỐI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681728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71A2D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Một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lỗi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cơ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bản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và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nghiêm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trọng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có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thể</a:t>
            </a:r>
            <a:r>
              <a:rPr sz="1700" dirty="0">
                <a:latin typeface="+mj-lt"/>
              </a:rPr>
              <a:t> chi </a:t>
            </a:r>
            <a:r>
              <a:rPr sz="1700" dirty="0" err="1">
                <a:latin typeface="+mj-lt"/>
              </a:rPr>
              <a:t>phối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cả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đánh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giá</a:t>
            </a:r>
            <a:r>
              <a:rPr sz="1700" dirty="0">
                <a:latin typeface="+mj-lt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4645152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52677D"/>
                </a:solidFill>
                <a:latin typeface="Arial"/>
              </a:defRPr>
            </a:pPr>
            <a:r>
              <a:rPr sz="1500" dirty="0">
                <a:latin typeface="+mj-lt"/>
              </a:rPr>
              <a:t>Xem xét mức nghiêm trọng và việc khắc phục.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52677D"/>
                </a:solidFill>
                <a:latin typeface="Arial"/>
              </a:defRPr>
            </a:pPr>
            <a:r>
              <a:rPr sz="1500" dirty="0">
                <a:latin typeface="+mj-lt"/>
              </a:rPr>
              <a:t>Nguồn: Tengilimoglu &amp; Öztürk (2024).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90472"/>
            <a:ext cx="5285232" cy="2267712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1728216"/>
            <a:ext cx="48006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7B7B"/>
                </a:solidFill>
                <a:latin typeface="Arial"/>
              </a:defRPr>
            </a:pPr>
            <a:r>
              <a:t>NHÁNH BÙ TRỪ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121408"/>
            <a:ext cx="4681728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71A2D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Khi lỗi nhẹ hoặc được khắc phục, các điểm tích cực có thể bù đắp một phần đánh giá.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907792"/>
            <a:ext cx="4645152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Không mặc định mọi khía cạnh bù trừ tuyến tính.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Nguồn: Li et al. (2024); Regitz et al. (2026).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59936"/>
            <a:ext cx="3346704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30175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Park et al.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54296"/>
            <a:ext cx="2999232" cy="8046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88.309 review ứng dụng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khách sạn · phân tích IAA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Đối chiếu ở mức tóm tắt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4059936"/>
            <a:ext cx="3346704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224528"/>
            <a:ext cx="30175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Zhang et al. (2025)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54296"/>
            <a:ext cx="2999232" cy="8046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543.213 review Booking.com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Các yếu tố môi trường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trong nhà có tác động khác nhau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4059936"/>
            <a:ext cx="3346704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224528"/>
            <a:ext cx="30175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2A43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Hu et al. (2024)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54296"/>
            <a:ext cx="2999232" cy="8046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694/4.004 review không khớp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Tỷ lệ 17,3% tại Beppu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Không suy rộng sang mẫu nhóm</a:t>
            </a:r>
          </a:p>
        </p:txBody>
      </p:sp>
      <p:sp>
        <p:nvSpPr>
          <p:cNvPr id="91" name="Review shape 91"/>
          <p:cNvSpPr txBox="1"/>
          <p:nvPr/>
        </p:nvSpPr>
        <p:spPr>
          <a:xfrm>
            <a:off x="777240" y="5833872"/>
            <a:ext cx="10652760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02A43"/>
                </a:solidFill>
                <a:latin typeface="Arial"/>
              </a:defRPr>
            </a:pPr>
            <a:r>
              <a:rPr sz="1500" dirty="0">
                <a:latin typeface="+mj-lt"/>
              </a:rPr>
              <a:t>Giới hạn: không suy ra nhân quả hoặc kết luận khách “tha thứ” từ review công khai.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02 · KHẢO SÁT TÀI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Kết quả khảo sát và những việc còn lại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17904"/>
            <a:ext cx="3977640" cy="4251960"/>
          </a:xfrm>
          <a:prstGeom prst="round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35204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7EE5DC"/>
                </a:solidFill>
                <a:latin typeface="Arial"/>
              </a:defRPr>
            </a:pPr>
            <a:r>
              <a:t>ĐÃ CÓ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2644"/>
            <a:ext cx="3383280" cy="10095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rPr sz="3100" dirty="0">
                <a:latin typeface="+mj-lt"/>
              </a:rPr>
              <a:t>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rPr sz="3100" dirty="0" err="1">
                <a:latin typeface="+mj-lt"/>
              </a:rPr>
              <a:t>tệp</a:t>
            </a:r>
            <a:r>
              <a:rPr sz="3100" dirty="0">
                <a:latin typeface="+mj-lt"/>
              </a:rPr>
              <a:t> </a:t>
            </a:r>
            <a:r>
              <a:rPr sz="3100" dirty="0" err="1">
                <a:latin typeface="+mj-lt"/>
              </a:rPr>
              <a:t>toàn</a:t>
            </a:r>
            <a:r>
              <a:rPr sz="3100" dirty="0">
                <a:latin typeface="+mj-lt"/>
              </a:rPr>
              <a:t> </a:t>
            </a:r>
            <a:r>
              <a:rPr sz="3100" dirty="0" err="1">
                <a:latin typeface="+mj-lt"/>
              </a:rPr>
              <a:t>văn</a:t>
            </a:r>
            <a:endParaRPr sz="3100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3410712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C7D5E0"/>
                </a:solidFill>
                <a:latin typeface="Arial"/>
              </a:defRPr>
            </a:pPr>
            <a:r>
              <a:rPr sz="1500" dirty="0">
                <a:latin typeface="+mj-lt"/>
              </a:rPr>
              <a:t>8 cụm tài liệu · 31 nguồn cốt lõi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C7D5E0"/>
                </a:solidFill>
                <a:latin typeface="Arial"/>
              </a:defRPr>
            </a:pPr>
            <a:r>
              <a:rPr sz="1500" dirty="0">
                <a:latin typeface="+mj-lt"/>
              </a:rPr>
              <a:t>Khung lý thuyết và phạm vi dữ liệu đã chốt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9472" y="1517904"/>
            <a:ext cx="6583680" cy="1005840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93792" y="1746504"/>
            <a:ext cx="603504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071A2D"/>
                </a:solidFill>
                <a:latin typeface="Arial"/>
              </a:defRPr>
            </a:pP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Đã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đủ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tài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liệu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để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viết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đề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cương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;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chỉ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tiếp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tục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bổ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sung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những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bài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quan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trọng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còn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 </a:t>
            </a: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thiếu</a:t>
            </a:r>
            <a:r>
              <a:rPr lang="en-US" sz="1500" b="1" dirty="0">
                <a:solidFill>
                  <a:srgbClr val="071A2D"/>
                </a:solidFill>
                <a:latin typeface="+mj-lt"/>
              </a:rPr>
              <a:t>.</a:t>
            </a:r>
            <a:endParaRPr sz="1500" dirty="0"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19472" y="2770632"/>
            <a:ext cx="312724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2916936"/>
            <a:ext cx="2798064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16 bài thiếu toàn văn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2779776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14 bài cần thư viện hỗ trợ;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2 bài truy cập mở cần tải.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Ưu tiên: Kwon, Han, Slevitch.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770632"/>
            <a:ext cx="3127248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76488" y="2916936"/>
            <a:ext cx="2798064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Công </a:t>
            </a:r>
            <a:r>
              <a:rPr sz="1700" dirty="0" err="1">
                <a:latin typeface="+mj-lt"/>
              </a:rPr>
              <a:t>thức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đo</a:t>
            </a:r>
            <a:r>
              <a:rPr sz="1700" dirty="0">
                <a:latin typeface="+mj-lt"/>
              </a:rPr>
              <a:t>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3337560"/>
            <a:ext cx="2779776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Chưa chốt — chờ kiểm chứng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trên dữ liệu của nhóm.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4535424"/>
            <a:ext cx="312724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4681728"/>
            <a:ext cx="2798064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02A43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Bộ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ước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lượng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cảm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xúc</a:t>
            </a:r>
            <a:endParaRPr sz="1700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0" y="5166360"/>
            <a:ext cx="277977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Chọn qua cùng đợt kiểm chứng.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4535424"/>
            <a:ext cx="312724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4681728"/>
            <a:ext cx="2798064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02A43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Nguồn và giấy phép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5166360"/>
            <a:ext cx="277977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Cần bổ sung thông tin dữ liệu.</a:t>
            </a:r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080760"/>
            <a:ext cx="10744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Trạng thái theo RDR-0005 (23/09/2026): 35 tệp toàn văn; 31 nguồn cốt lõi và 4 nguồn lưu đối chiếu.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03 · KHOẢNG TRỐNG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Ba lưu ý rút ra từ các cách đo hiện có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56231"/>
            <a:ext cx="2971800" cy="2084831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2057400"/>
            <a:ext cx="347472" cy="347472"/>
          </a:xfrm>
          <a:prstGeom prst="ellipse">
            <a:avLst/>
          </a:prstGeom>
          <a:solidFill>
            <a:srgbClr val="2D6CD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125980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75688"/>
            <a:ext cx="19202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Nhãn cảm xúc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679192"/>
            <a:ext cx="2404872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Điểm sao không phản ánh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đầy đủ cảm xúc văn bản</a:t>
            </a:r>
          </a:p>
        </p:txBody>
      </p:sp>
      <p:sp>
        <p:nvSpPr>
          <p:cNvPr id="14" name="Chevron 13"/>
          <p:cNvSpPr/>
          <p:nvPr/>
        </p:nvSpPr>
        <p:spPr>
          <a:xfrm>
            <a:off x="3858768" y="2532888"/>
            <a:ext cx="384048" cy="475488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4840" y="1856231"/>
            <a:ext cx="2971800" cy="2084831"/>
          </a:xfrm>
          <a:prstGeom prst="round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36007" y="2057400"/>
            <a:ext cx="347472" cy="347472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2125980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75688"/>
            <a:ext cx="19202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Chọn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79192"/>
            <a:ext cx="2404872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Loại ca không khớp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có thể mất thông tin</a:t>
            </a:r>
          </a:p>
        </p:txBody>
      </p:sp>
      <p:sp>
        <p:nvSpPr>
          <p:cNvPr id="20" name="Chevron 19"/>
          <p:cNvSpPr/>
          <p:nvPr/>
        </p:nvSpPr>
        <p:spPr>
          <a:xfrm>
            <a:off x="7562088" y="2532888"/>
            <a:ext cx="384048" cy="475488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38160" y="1856231"/>
            <a:ext cx="2971800" cy="2084831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39328" y="2057400"/>
            <a:ext cx="347472" cy="347472"/>
          </a:xfrm>
          <a:prstGeom prst="ellipse">
            <a:avLst/>
          </a:prstGeom>
          <a:solidFill>
            <a:srgbClr val="D55454"/>
          </a:solidFill>
          <a:ln>
            <a:solidFill>
              <a:srgbClr val="D5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8" y="2125980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075688"/>
            <a:ext cx="19202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Độ lớn và chiều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679192"/>
            <a:ext cx="2404872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Khoảng cách tuyệt đối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không giữ chiều lệch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72768" y="4617720"/>
            <a:ext cx="9015984" cy="749808"/>
          </a:xfrm>
          <a:prstGeom prst="round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83080" y="4754880"/>
            <a:ext cx="8595360" cy="5212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Cần phân biệt mức lệch với chiều lệch giữa điểm sao và cảm xúc văn bản.</a:t>
            </a:r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080760"/>
            <a:ext cx="10744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Nguồn: Hu et al. (2024), phần chọn mẫu; Kwon B. et al. (2025), độ lớn và chiều bất nhất.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03 · KHOẢNG TRỐNG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Khoảng trống nghiên cứu và giới hạn của đề tài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90472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636775"/>
            <a:ext cx="497433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02A43"/>
                </a:solidFill>
                <a:latin typeface="Arial"/>
              </a:defRPr>
            </a:pPr>
            <a:r>
              <a:rPr sz="2000" dirty="0" err="1">
                <a:latin typeface="+mj-lt"/>
              </a:rPr>
              <a:t>Khoảng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trống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đo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lường</a:t>
            </a:r>
            <a:endParaRPr sz="2000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2011680"/>
            <a:ext cx="4956048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 err="1">
                <a:latin typeface="+mj-lt"/>
              </a:rPr>
              <a:t>Trong phạm vi khảo sát, nhóm chưa tìm thấy phép đo đồng thời giữ độ lớn và chiều ở cấp khía cạnh.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90472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36775"/>
            <a:ext cx="4974336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02A43"/>
                </a:solidFill>
                <a:latin typeface="Arial"/>
              </a:defRPr>
            </a:pPr>
            <a:r>
              <a:rPr sz="2000" dirty="0" err="1">
                <a:latin typeface="+mj-lt"/>
              </a:rPr>
              <a:t>Khoảng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trống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hành</a:t>
            </a:r>
            <a:r>
              <a:rPr sz="2000" dirty="0">
                <a:latin typeface="+mj-lt"/>
              </a:rPr>
              <a:t> 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4956048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dirty="0" err="1">
                <a:latin typeface="+mj-lt"/>
              </a:rPr>
              <a:t>Nhóm sẽ kiểm định cách các khía cạnh kết hợp bất đối xứng và liên hệ với độ lệch điểm sao.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85032"/>
            <a:ext cx="10817352" cy="1691640"/>
          </a:xfrm>
          <a:prstGeom prst="round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33272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71A2D"/>
                </a:solidFill>
                <a:latin typeface="Arial"/>
              </a:defRPr>
            </a:pPr>
            <a:r>
              <a:rPr sz="1700" dirty="0">
                <a:latin typeface="+mj-lt"/>
              </a:rPr>
              <a:t>Hai giới hạn cần nêu rõ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101498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02A43"/>
                </a:solidFill>
                <a:latin typeface="Arial"/>
              </a:defRPr>
            </a:pPr>
            <a:r>
              <a:rPr sz="1500" dirty="0">
                <a:latin typeface="+mj-lt"/>
              </a:rPr>
              <a:t>• Tuyên bố tính mới chỉ trong phạm vi tìm kiếm tiêu đề và tóm tắt; cần tiếp tục đối chiếu toàn văn.</a:t>
            </a:r>
          </a:p>
          <a:p>
            <a:pPr>
              <a:spcAft>
                <a:spcPts val="300"/>
              </a:spcAft>
              <a:defRPr sz="1250">
                <a:solidFill>
                  <a:srgbClr val="102A43"/>
                </a:solidFill>
                <a:latin typeface="Arial"/>
              </a:defRPr>
            </a:pPr>
            <a:r>
              <a:rPr sz="1500" dirty="0">
                <a:latin typeface="+mj-lt"/>
              </a:rPr>
              <a:t>• Không suy ra nhân quả hoặc trạng thái tâm lý của khách từ review công khai.</a:t>
            </a:r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080760"/>
            <a:ext cx="10744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Căn cứ: khảo sát vòng 4; Regitz et al. (2026) là nghiên cứu gần với hướng của nhóm.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04 · CÂU HỎI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>
                <a:latin typeface="+mj-lt"/>
              </a:rPr>
              <a:t>Ba câu hỏi nghiên cứu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3337560" cy="195681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773936"/>
            <a:ext cx="621792" cy="310896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62179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A6A6"/>
                </a:solidFill>
                <a:latin typeface="Arial"/>
              </a:defRPr>
            </a:pPr>
            <a: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19656"/>
            <a:ext cx="2011680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52677D"/>
                </a:solidFill>
                <a:latin typeface="Arial"/>
              </a:defRPr>
            </a:pPr>
            <a:r>
              <a:rPr sz="1150" dirty="0" err="1">
                <a:latin typeface="+mj-lt"/>
              </a:rPr>
              <a:t>Khám</a:t>
            </a:r>
            <a:r>
              <a:rPr sz="1150" dirty="0">
                <a:latin typeface="+mj-lt"/>
              </a:rPr>
              <a:t> </a:t>
            </a:r>
            <a:r>
              <a:rPr sz="1150" dirty="0" err="1">
                <a:latin typeface="+mj-lt"/>
              </a:rPr>
              <a:t>phá</a:t>
            </a:r>
            <a:endParaRPr sz="115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2304288"/>
            <a:ext cx="2788920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Tần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suất</a:t>
            </a:r>
            <a:r>
              <a:rPr sz="1500" dirty="0">
                <a:latin typeface="+mj-lt"/>
              </a:rPr>
              <a:t> bao </a:t>
            </a:r>
            <a:r>
              <a:rPr sz="1500" dirty="0" err="1">
                <a:latin typeface="+mj-lt"/>
              </a:rPr>
              <a:t>nhiêu</a:t>
            </a:r>
            <a:r>
              <a:rPr sz="1500" dirty="0">
                <a:latin typeface="+mj-lt"/>
              </a:rPr>
              <a:t>?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Có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những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dạng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có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hướng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nào</a:t>
            </a:r>
            <a:r>
              <a:rPr sz="1500" dirty="0">
                <a:latin typeface="+mj-lt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572768"/>
            <a:ext cx="3337560" cy="195681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0" y="1773936"/>
            <a:ext cx="621792" cy="310896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810512"/>
            <a:ext cx="62179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D6CDF"/>
                </a:solidFill>
                <a:latin typeface="Arial"/>
              </a:defRPr>
            </a:pPr>
            <a: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19656"/>
            <a:ext cx="2011680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52677D"/>
                </a:solidFill>
                <a:latin typeface="Arial"/>
              </a:defRPr>
            </a:pPr>
            <a:r>
              <a:rPr dirty="0">
                <a:latin typeface="+mj-lt"/>
              </a:rPr>
              <a:t>Phương </a:t>
            </a:r>
            <a:r>
              <a:rPr dirty="0" err="1">
                <a:latin typeface="+mj-lt"/>
              </a:rPr>
              <a:t>pháp</a:t>
            </a:r>
            <a:endParaRPr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90288" y="2304288"/>
            <a:ext cx="2788920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Lượng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hóa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theo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từng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khía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cạnh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thế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nào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để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giữ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độ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lớn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lẫn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chiều</a:t>
            </a:r>
            <a:r>
              <a:rPr sz="1500" dirty="0">
                <a:latin typeface="+mj-lt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572768"/>
            <a:ext cx="3337560" cy="195681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0" y="1773936"/>
            <a:ext cx="621792" cy="310896"/>
          </a:xfrm>
          <a:prstGeom prst="round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810512"/>
            <a:ext cx="621792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71A2D"/>
                </a:solidFill>
                <a:latin typeface="Arial"/>
              </a:defRPr>
            </a:pPr>
            <a:r>
              <a:t>RQ3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819656"/>
            <a:ext cx="2011680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52677D"/>
                </a:solidFill>
                <a:latin typeface="Arial"/>
              </a:defRPr>
            </a:pPr>
            <a:r>
              <a:rPr dirty="0" err="1">
                <a:latin typeface="+mj-lt"/>
              </a:rPr>
              <a:t>Cơ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chế</a:t>
            </a:r>
            <a:endParaRPr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47888" y="2304288"/>
            <a:ext cx="2788920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Cảm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xúc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tích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cực</a:t>
            </a:r>
            <a:r>
              <a:rPr sz="1500" dirty="0">
                <a:latin typeface="+mj-lt"/>
              </a:rPr>
              <a:t> / </a:t>
            </a:r>
            <a:r>
              <a:rPr sz="1500" dirty="0" err="1">
                <a:latin typeface="+mj-lt"/>
              </a:rPr>
              <a:t>tiêu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cực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trên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nhiều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khía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cạnh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kết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hợp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bất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đối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xứng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thế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nào</a:t>
            </a:r>
            <a:r>
              <a:rPr sz="1500" dirty="0">
                <a:latin typeface="+mj-lt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977639"/>
            <a:ext cx="10652760" cy="1353312"/>
          </a:xfrm>
          <a:prstGeom prst="round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4169664"/>
            <a:ext cx="50292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7EE5DC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Nhánh kỹ thuật bổ trợ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572000"/>
            <a:ext cx="9829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FFFFFF"/>
                </a:solidFill>
                <a:latin typeface="Arial"/>
              </a:defRPr>
            </a:pPr>
            <a:r>
              <a:rPr sz="1500" dirty="0">
                <a:latin typeface="+mj-lt"/>
              </a:rPr>
              <a:t>So sánh mô hình dự đoán điểm, phân tích phần dư và nhận diện review có điểm thấp hơn dự báo.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05 · PHƯƠNG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>
                <a:latin typeface="+mj-lt"/>
              </a:rPr>
              <a:t>Phương </a:t>
            </a:r>
            <a:r>
              <a:rPr dirty="0" err="1">
                <a:latin typeface="+mj-lt"/>
              </a:rPr>
              <a:t>pháp</a:t>
            </a:r>
            <a:r>
              <a:rPr dirty="0">
                <a:latin typeface="+mj-lt"/>
              </a:rPr>
              <a:t>: </a:t>
            </a:r>
            <a:r>
              <a:rPr dirty="0" err="1">
                <a:latin typeface="+mj-lt"/>
              </a:rPr>
              <a:t>ba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tầng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liên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kết</a:t>
            </a:r>
            <a:endParaRPr dirty="0">
              <a:latin typeface="+mj-lt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2461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71A2D"/>
                </a:solidFill>
                <a:latin typeface="Arial"/>
              </a:defRPr>
            </a:pPr>
            <a:r>
              <a:rPr sz="1500" dirty="0"/>
              <a:t>Văn </a:t>
            </a:r>
            <a:r>
              <a:rPr sz="1500" dirty="0" err="1"/>
              <a:t>bản</a:t>
            </a:r>
            <a:r>
              <a:rPr sz="1500" dirty="0"/>
              <a:t>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2313432"/>
            <a:ext cx="475488" cy="47548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7548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26664"/>
            <a:ext cx="2788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02A43"/>
                </a:solidFill>
                <a:latin typeface="Arial"/>
              </a:defRPr>
            </a:pPr>
            <a:r>
              <a:rPr sz="2000" dirty="0" err="1">
                <a:latin typeface="+mj-lt"/>
              </a:rPr>
              <a:t>Xử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lý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ngôn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ngữ</a:t>
            </a:r>
            <a:endParaRPr sz="2000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3675888"/>
            <a:ext cx="2788920" cy="11521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Trích tín hiệu cảm xúc theo từng khía cạnh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(từ đoạn văn do nhóm gán nhãn độc lập).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912" y="2395728"/>
            <a:ext cx="987552" cy="310896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24912" y="2432304"/>
            <a:ext cx="98755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2677D"/>
                </a:solidFill>
                <a:latin typeface="Arial"/>
              </a:defRPr>
            </a:pPr>
            <a:r>
              <a:t>TẦNG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205740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709160" y="2313432"/>
            <a:ext cx="475488" cy="475488"/>
          </a:xfrm>
          <a:prstGeom prst="ellipse">
            <a:avLst/>
          </a:prstGeom>
          <a:solidFill>
            <a:srgbClr val="2D6CD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2423160"/>
            <a:ext cx="47548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026664"/>
            <a:ext cx="2788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02A43"/>
                </a:solidFill>
                <a:latin typeface="Arial"/>
              </a:defRPr>
            </a:pPr>
            <a:r>
              <a:rPr sz="2000" dirty="0" err="1">
                <a:latin typeface="+mj-lt"/>
              </a:rPr>
              <a:t>Đo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lường</a:t>
            </a:r>
            <a:endParaRPr sz="2000" dirty="0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09160" y="3675888"/>
            <a:ext cx="2788920" cy="11521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sz="1500" dirty="0">
                <a:latin typeface="+mj-lt"/>
              </a:rPr>
              <a:t>So điểm sao với cảm xúc văn bản để có D theo khía cạnh — giữ cả độ lớn và chiều.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2395728"/>
            <a:ext cx="987552" cy="310896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2432304"/>
            <a:ext cx="98755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2677D"/>
                </a:solidFill>
                <a:latin typeface="Arial"/>
              </a:defRPr>
            </a:pPr>
            <a:r>
              <a:t>TẦNG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05740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58200" y="2313432"/>
            <a:ext cx="475488" cy="475488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2423160"/>
            <a:ext cx="47548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026664"/>
            <a:ext cx="2788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02A43"/>
                </a:solidFill>
                <a:latin typeface="Arial"/>
              </a:defRPr>
            </a:pPr>
            <a:r>
              <a:rPr sz="2000" dirty="0">
                <a:latin typeface="+mj-lt"/>
              </a:rPr>
              <a:t>Kinh </a:t>
            </a:r>
            <a:r>
              <a:rPr sz="2000" dirty="0" err="1">
                <a:latin typeface="+mj-lt"/>
              </a:rPr>
              <a:t>tế</a:t>
            </a:r>
            <a:r>
              <a:rPr sz="2000" dirty="0">
                <a:latin typeface="+mj-lt"/>
              </a:rPr>
              <a:t> </a:t>
            </a:r>
            <a:r>
              <a:rPr sz="2000" dirty="0" err="1">
                <a:latin typeface="+mj-lt"/>
              </a:rPr>
              <a:t>lượng</a:t>
            </a:r>
            <a:endParaRPr sz="20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58200" y="3675888"/>
            <a:ext cx="2788920" cy="11521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Xác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định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khía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cạnh</a:t>
            </a:r>
            <a:r>
              <a:rPr sz="1500" dirty="0">
                <a:latin typeface="+mj-lt"/>
              </a:rPr>
              <a:t> chi </a:t>
            </a:r>
            <a:r>
              <a:rPr sz="1500" dirty="0" err="1">
                <a:latin typeface="+mj-lt"/>
              </a:rPr>
              <a:t>phối</a:t>
            </a:r>
            <a:r>
              <a:rPr sz="1500" dirty="0">
                <a:latin typeface="+mj-lt"/>
              </a:rPr>
              <a:t>, </a:t>
            </a:r>
            <a:r>
              <a:rPr sz="1500" dirty="0" err="1">
                <a:latin typeface="+mj-lt"/>
              </a:rPr>
              <a:t>khía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cạnh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bù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trừ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và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điều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kiện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biên</a:t>
            </a:r>
            <a:r>
              <a:rPr sz="1500" dirty="0"/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22992" y="2395728"/>
            <a:ext cx="987552" cy="310896"/>
          </a:xfrm>
          <a:prstGeom prst="round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22992" y="2432304"/>
            <a:ext cx="98755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52677D"/>
                </a:solidFill>
                <a:latin typeface="Arial"/>
              </a:defRPr>
            </a:pPr>
            <a:r>
              <a:t>TẦNG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596128"/>
            <a:ext cx="10744200" cy="530352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715000"/>
            <a:ext cx="10378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7B7B"/>
                </a:solidFill>
                <a:latin typeface="Arial"/>
              </a:defRPr>
            </a:pPr>
            <a:r>
              <a:rPr sz="1400" dirty="0" err="1">
                <a:latin typeface="+mj-lt"/>
              </a:rPr>
              <a:t>Đầu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ra</a:t>
            </a:r>
            <a:r>
              <a:rPr sz="1400" dirty="0">
                <a:latin typeface="+mj-lt"/>
              </a:rPr>
              <a:t>: </a:t>
            </a:r>
            <a:r>
              <a:rPr sz="1400" dirty="0" err="1">
                <a:latin typeface="+mj-lt"/>
              </a:rPr>
              <a:t>một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phép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đo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được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kiểm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chứng</a:t>
            </a:r>
            <a:r>
              <a:rPr sz="1400" dirty="0">
                <a:latin typeface="+mj-lt"/>
              </a:rPr>
              <a:t> + </a:t>
            </a:r>
            <a:r>
              <a:rPr sz="1400" dirty="0" err="1">
                <a:latin typeface="+mj-lt"/>
              </a:rPr>
              <a:t>mô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hình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giải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thích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mẫu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chấm</a:t>
            </a:r>
            <a:r>
              <a:rPr sz="1400" dirty="0">
                <a:latin typeface="+mj-lt"/>
              </a:rPr>
              <a:t> </a:t>
            </a:r>
            <a:r>
              <a:rPr sz="1400" dirty="0" err="1">
                <a:latin typeface="+mj-lt"/>
              </a:rPr>
              <a:t>điểm</a:t>
            </a:r>
            <a:endParaRPr sz="1400" dirty="0">
              <a:latin typeface="+mj-lt"/>
            </a:endParaRPr>
          </a:p>
        </p:txBody>
      </p:sp>
      <p:sp>
        <p:nvSpPr>
          <p:cNvPr id="50" name="Flow arrow 1"/>
          <p:cNvSpPr/>
          <p:nvPr/>
        </p:nvSpPr>
        <p:spPr>
          <a:xfrm>
            <a:off x="4114800" y="3383280"/>
            <a:ext cx="228600" cy="347472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low arrow 2"/>
          <p:cNvSpPr/>
          <p:nvPr/>
        </p:nvSpPr>
        <p:spPr>
          <a:xfrm>
            <a:off x="7863840" y="3383280"/>
            <a:ext cx="228600" cy="347472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06 · KẾ HOẠCH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Việc tiếp theo: kiểm chứng phép đo và hoàn thiện đề cương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6304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618488"/>
            <a:ext cx="347472" cy="34747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87068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27632"/>
            <a:ext cx="16916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071A2D"/>
                </a:solidFill>
                <a:latin typeface="Arial"/>
              </a:defRPr>
            </a:pPr>
            <a:r>
              <a:rPr sz="1700" dirty="0">
                <a:latin typeface="+mj-lt"/>
              </a:rPr>
              <a:t>Kiểm chứng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627632"/>
            <a:ext cx="4334256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Tập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đánh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giá</a:t>
            </a:r>
            <a:r>
              <a:rPr sz="1500" dirty="0">
                <a:latin typeface="+mj-lt"/>
              </a:rPr>
              <a:t> · 2 </a:t>
            </a:r>
            <a:r>
              <a:rPr sz="1500" dirty="0" err="1">
                <a:latin typeface="+mj-lt"/>
              </a:rPr>
              <a:t>người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gán</a:t>
            </a:r>
            <a:r>
              <a:rPr sz="1500" dirty="0">
                <a:latin typeface="+mj-lt"/>
              </a:rPr>
              <a:t> · so 3 </a:t>
            </a:r>
            <a:r>
              <a:rPr sz="1500" dirty="0" err="1">
                <a:latin typeface="+mj-lt"/>
              </a:rPr>
              <a:t>công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thức</a:t>
            </a:r>
            <a:endParaRPr sz="1500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0" y="1627632"/>
            <a:ext cx="32004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A6A6"/>
                </a:solidFill>
                <a:latin typeface="Arial"/>
              </a:defRPr>
            </a:pPr>
            <a:r>
              <a:rPr sz="1500" dirty="0">
                <a:latin typeface="+mj-lt"/>
              </a:rPr>
              <a:t>Chọn phép đo phù hợp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3172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2487168"/>
            <a:ext cx="347472" cy="347472"/>
          </a:xfrm>
          <a:prstGeom prst="ellipse">
            <a:avLst/>
          </a:prstGeom>
          <a:solidFill>
            <a:srgbClr val="2D6CD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555748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496312"/>
            <a:ext cx="16916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071A2D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Toàn văn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2496312"/>
            <a:ext cx="4334256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Bổ sung tài liệu theo danh sách ưu tiên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96312"/>
            <a:ext cx="32004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D6CDF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Toàn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văn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phương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pháp</a:t>
            </a:r>
            <a:endParaRPr sz="1500" dirty="0">
              <a:latin typeface="+mj-l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232" y="320040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3355848"/>
            <a:ext cx="347472" cy="347472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424428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364992"/>
            <a:ext cx="16916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071A2D"/>
                </a:solidFill>
                <a:latin typeface="Arial"/>
              </a:defRPr>
            </a:pPr>
            <a:r>
              <a:rPr sz="1700" dirty="0">
                <a:latin typeface="+mj-lt"/>
              </a:rPr>
              <a:t>Đề cương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3364992"/>
            <a:ext cx="4334256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Cập nhật tổng hợp tài liệu và câu hỏi nghiên cứu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364992"/>
            <a:ext cx="32004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4B942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Bản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đề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cương</a:t>
            </a:r>
            <a:endParaRPr sz="15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13232" y="4069079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4224527"/>
            <a:ext cx="347472" cy="347472"/>
          </a:xfrm>
          <a:prstGeom prst="ellipse">
            <a:avLst/>
          </a:prstGeom>
          <a:solidFill>
            <a:srgbClr val="D55454"/>
          </a:solidFill>
          <a:ln>
            <a:solidFill>
              <a:srgbClr val="D5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293107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233671"/>
            <a:ext cx="16916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071A2D"/>
                </a:solidFill>
                <a:latin typeface="Arial"/>
              </a:defRPr>
            </a:pPr>
            <a:r>
              <a:rPr sz="1700" dirty="0">
                <a:latin typeface="+mj-lt"/>
              </a:rPr>
              <a:t>Kinh </a:t>
            </a:r>
            <a:r>
              <a:rPr sz="1700" dirty="0" err="1">
                <a:latin typeface="+mj-lt"/>
              </a:rPr>
              <a:t>tế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lượng</a:t>
            </a:r>
            <a:endParaRPr sz="17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72968" y="4233671"/>
            <a:ext cx="4334256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Khóa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sau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khi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đã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có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phép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đo</a:t>
            </a:r>
            <a:endParaRPr sz="15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0" y="4233671"/>
            <a:ext cx="32004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D55454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Bảng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kiểm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định</a:t>
            </a:r>
            <a:endParaRPr sz="1500" dirty="0">
              <a:latin typeface="+mj-l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13232" y="4937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14400" y="5093208"/>
            <a:ext cx="347472" cy="34747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161788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102352"/>
            <a:ext cx="169164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071A2D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Dữ liệu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2968" y="5102352"/>
            <a:ext cx="4334256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Bổ sung nguồn gốc và giấy phép sử dụng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102352"/>
            <a:ext cx="32004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A6A6"/>
                </a:solidFill>
                <a:latin typeface="Arial"/>
              </a:defRPr>
            </a:pPr>
            <a:r>
              <a:rPr sz="1500" dirty="0">
                <a:latin typeface="+mj-lt"/>
              </a:rPr>
              <a:t>Thông tin dữ liệu rõ ràng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071616"/>
            <a:ext cx="106984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2677D"/>
                </a:solidFill>
                <a:latin typeface="Arial"/>
              </a:defRPr>
            </a:pPr>
            <a:r>
              <a:t>Kiểm chứng phép đo trước khi dùng để phân tích hành vi; phần ứng dụng triển khai ở giai đoạn sau.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06 · TRAO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Nhóm mong nhận góp ý từ thầy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40" name="Thank you frame"/>
          <p:cNvSpPr/>
          <p:nvPr/>
        </p:nvSpPr>
        <p:spPr>
          <a:xfrm>
            <a:off x="1280160" y="2240280"/>
            <a:ext cx="9628632" cy="1920240"/>
          </a:xfrm>
          <a:prstGeom prst="roundRect">
            <a:avLst/>
          </a:prstGeom>
          <a:solidFill>
            <a:srgbClr val="0D2942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00200" y="2724912"/>
            <a:ext cx="8988552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800" b="1" dirty="0" err="1">
                <a:solidFill>
                  <a:srgbClr val="FFFFFF"/>
                </a:solidFill>
                <a:latin typeface="Arial"/>
              </a:rPr>
              <a:t>Cảm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ơn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thầy</a:t>
            </a:r>
            <a:r>
              <a:rPr lang="en-US"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lang="en-US"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</a:rPr>
              <a:t>các</a:t>
            </a:r>
            <a:r>
              <a:rPr lang="en-US"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/>
              </a:rPr>
              <a:t>bạn</a:t>
            </a:r>
            <a:endParaRPr sz="28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1700" b="0" dirty="0" err="1">
                <a:solidFill>
                  <a:srgbClr val="BCEEEB"/>
                </a:solidFill>
                <a:latin typeface="Arial"/>
              </a:rPr>
              <a:t>Nhóm mong nhận góp ý để hoàn thiện kế hoạch kiểm chứng.</a:t>
            </a:r>
          </a:p>
        </p:txBody>
      </p:sp>
      <p:sp>
        <p:nvSpPr>
          <p:cNvPr id="91" name="Review shape 91"/>
          <p:cNvSpPr txBox="1"/>
          <p:nvPr/>
        </p:nvSpPr>
        <p:spPr>
          <a:xfrm>
            <a:off x="1417320" y="4663440"/>
            <a:ext cx="935431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071A2D"/>
                </a:solidFill>
                <a:latin typeface="Arial"/>
              </a:defRPr>
            </a:pP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Trọng tâm góp ý: tổng hợp tài liệu, khoảng trống nghiên cứu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071A2D"/>
                </a:solidFill>
                <a:latin typeface="Arial"/>
              </a:defRPr>
            </a:pPr>
            <a:r>
              <a:rPr lang="en-US" sz="1500" b="1" dirty="0" err="1">
                <a:solidFill>
                  <a:srgbClr val="071A2D"/>
                </a:solidFill>
                <a:latin typeface="+mj-lt"/>
              </a:rPr>
              <a:t>và kế hoạch kiểm chứng phép đo.</a:t>
            </a:r>
          </a:p>
        </p:txBody>
      </p:sp>
    </p:spTree>
    <p:extLst>
      <p:ext uri="{BB962C8B-B14F-4D97-AF65-F5344CB8AC3E}">
        <p14:creationId xmlns:p14="http://schemas.microsoft.com/office/powerpoint/2010/main" val="2993462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PHỤ LỤC · THAM KHẢO KHI TRAO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>
                <a:latin typeface="+mj-lt"/>
              </a:rPr>
              <a:t>Kiểm chứng trước khi chọn phép đo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72768"/>
            <a:ext cx="1993392" cy="235000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6384" y="1764792"/>
            <a:ext cx="347472" cy="34747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833372"/>
            <a:ext cx="34747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1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04672" y="2258568"/>
            <a:ext cx="1609344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071A2D"/>
                </a:solidFill>
                <a:latin typeface="Arial"/>
              </a:defRPr>
            </a:pPr>
            <a:r>
              <a:rPr sz="1700" dirty="0">
                <a:latin typeface="+mj-lt"/>
              </a:rPr>
              <a:t>Kiểm tra dữ liệu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98648"/>
            <a:ext cx="1609344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Khám phá và kiểm tra lỗi</a:t>
            </a:r>
          </a:p>
        </p:txBody>
      </p:sp>
      <p:sp>
        <p:nvSpPr>
          <p:cNvPr id="14" name="Chevron 13"/>
          <p:cNvSpPr/>
          <p:nvPr/>
        </p:nvSpPr>
        <p:spPr>
          <a:xfrm>
            <a:off x="2660904" y="2331720"/>
            <a:ext cx="201168" cy="310896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1572768"/>
            <a:ext cx="1993392" cy="235000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90672" y="1764792"/>
            <a:ext cx="347472" cy="34747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90672" y="1833372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258568"/>
            <a:ext cx="1609344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071A2D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Tập đánh giá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898648"/>
            <a:ext cx="1609344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600–800 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Có ca lệch và bình thường</a:t>
            </a:r>
          </a:p>
        </p:txBody>
      </p:sp>
      <p:sp>
        <p:nvSpPr>
          <p:cNvPr id="20" name="Chevron 19"/>
          <p:cNvSpPr/>
          <p:nvPr/>
        </p:nvSpPr>
        <p:spPr>
          <a:xfrm>
            <a:off x="4965192" y="2331720"/>
            <a:ext cx="201168" cy="310896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30368" y="1572768"/>
            <a:ext cx="1993392" cy="235000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394959" y="1764792"/>
            <a:ext cx="347472" cy="34747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59" y="1833372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258568"/>
            <a:ext cx="1609344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071A2D"/>
                </a:solidFill>
                <a:latin typeface="Arial"/>
              </a:defRPr>
            </a:pPr>
            <a:r>
              <a:rPr dirty="0">
                <a:latin typeface="+mj-lt"/>
              </a:rPr>
              <a:t>Hai </a:t>
            </a:r>
            <a:r>
              <a:rPr dirty="0" err="1">
                <a:latin typeface="+mj-lt"/>
              </a:rPr>
              <a:t>người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gán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nhãn</a:t>
            </a:r>
            <a:endParaRPr dirty="0"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13248" y="2898648"/>
            <a:ext cx="1609344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2677D"/>
                </a:solidFill>
                <a:latin typeface="Arial"/>
              </a:defRPr>
            </a:pPr>
            <a:r>
              <a:rPr sz="1500" dirty="0"/>
              <a:t>Cohen’s Kappa ≥ 0,70</a:t>
            </a:r>
          </a:p>
        </p:txBody>
      </p:sp>
      <p:sp>
        <p:nvSpPr>
          <p:cNvPr id="26" name="Chevron 25"/>
          <p:cNvSpPr/>
          <p:nvPr/>
        </p:nvSpPr>
        <p:spPr>
          <a:xfrm>
            <a:off x="7269479" y="2331720"/>
            <a:ext cx="201168" cy="310896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34656" y="1572768"/>
            <a:ext cx="1993392" cy="235000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99248" y="1764792"/>
            <a:ext cx="347472" cy="347472"/>
          </a:xfrm>
          <a:prstGeom prst="ellipse">
            <a:avLst/>
          </a:prstGeom>
          <a:solidFill>
            <a:srgbClr val="2D6CDF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9248" y="1833372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2258568"/>
            <a:ext cx="1609344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071A2D"/>
                </a:solidFill>
                <a:latin typeface="Arial"/>
              </a:defRPr>
            </a:pPr>
            <a:r>
              <a:rPr lang="en-US" sz="1700" dirty="0">
                <a:latin typeface="+mj-lt"/>
              </a:rPr>
              <a:t>So </a:t>
            </a:r>
            <a:r>
              <a:rPr sz="1700" dirty="0">
                <a:latin typeface="+mj-lt"/>
              </a:rPr>
              <a:t>3 </a:t>
            </a:r>
            <a:r>
              <a:rPr sz="1700" dirty="0" err="1">
                <a:latin typeface="+mj-lt"/>
              </a:rPr>
              <a:t>công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thức</a:t>
            </a:r>
            <a:endParaRPr sz="17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17536" y="2898648"/>
            <a:ext cx="1609344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Chọn phép đo phù hợp</a:t>
            </a:r>
          </a:p>
        </p:txBody>
      </p:sp>
      <p:sp>
        <p:nvSpPr>
          <p:cNvPr id="32" name="Chevron 31"/>
          <p:cNvSpPr/>
          <p:nvPr/>
        </p:nvSpPr>
        <p:spPr>
          <a:xfrm>
            <a:off x="9573768" y="2331720"/>
            <a:ext cx="201168" cy="310896"/>
          </a:xfrm>
          <a:prstGeom prst="chevron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38944" y="1572768"/>
            <a:ext cx="1993392" cy="2350008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03536" y="1764792"/>
            <a:ext cx="347472" cy="347472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03536" y="1833372"/>
            <a:ext cx="34747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21824" y="2258568"/>
            <a:ext cx="1609344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071A2D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Mô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hình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hành</a:t>
            </a:r>
            <a:r>
              <a:rPr sz="1700" dirty="0">
                <a:latin typeface="+mj-lt"/>
              </a:rPr>
              <a:t> 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1824" y="2898648"/>
            <a:ext cx="1609344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Kết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quả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kiểm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định</a:t>
            </a:r>
            <a:endParaRPr sz="1500" dirty="0">
              <a:latin typeface="+mj-lt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368" y="4251960"/>
            <a:ext cx="5285232" cy="1389888"/>
          </a:xfrm>
          <a:prstGeom prst="round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443984"/>
            <a:ext cx="48006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D55454"/>
                </a:solidFill>
                <a:latin typeface="Arial"/>
              </a:defRPr>
            </a:pPr>
            <a:r>
              <a:rPr sz="1700" dirty="0">
                <a:latin typeface="+mj-lt"/>
              </a:rPr>
              <a:t>Ca </a:t>
            </a:r>
            <a:r>
              <a:rPr sz="1700" dirty="0" err="1">
                <a:latin typeface="+mj-lt"/>
              </a:rPr>
              <a:t>bình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thường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là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bắt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buộc</a:t>
            </a:r>
            <a:endParaRPr sz="17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8680" y="4837176"/>
            <a:ext cx="4773168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Nếu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chỉ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kiểm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thử</a:t>
            </a:r>
            <a:r>
              <a:rPr sz="1500" dirty="0">
                <a:latin typeface="+mj-lt"/>
              </a:rPr>
              <a:t> ca </a:t>
            </a:r>
            <a:r>
              <a:rPr sz="1500" dirty="0" err="1">
                <a:latin typeface="+mj-lt"/>
              </a:rPr>
              <a:t>nghi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ngờ</a:t>
            </a:r>
            <a:r>
              <a:rPr sz="1500" dirty="0">
                <a:latin typeface="+mj-lt"/>
              </a:rPr>
              <a:t>, </a:t>
            </a:r>
            <a:r>
              <a:rPr sz="1500" dirty="0" err="1">
                <a:latin typeface="+mj-lt"/>
              </a:rPr>
              <a:t>phép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đo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quá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nhạy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vẫn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có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thể</a:t>
            </a:r>
            <a:r>
              <a:rPr sz="1500" dirty="0">
                <a:latin typeface="+mj-lt"/>
              </a:rPr>
              <a:t> “</a:t>
            </a:r>
            <a:r>
              <a:rPr sz="1500" dirty="0" err="1">
                <a:latin typeface="+mj-lt"/>
              </a:rPr>
              <a:t>đúng</a:t>
            </a:r>
            <a:r>
              <a:rPr sz="1500" dirty="0">
                <a:latin typeface="+mj-lt"/>
              </a:rPr>
              <a:t>” </a:t>
            </a:r>
            <a:r>
              <a:rPr sz="1500" dirty="0" err="1">
                <a:latin typeface="+mj-lt"/>
              </a:rPr>
              <a:t>nhưng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báo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động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giả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liên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tục</a:t>
            </a:r>
            <a:r>
              <a:rPr sz="1500" dirty="0">
                <a:latin typeface="+mj-lt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4251960"/>
            <a:ext cx="5285232" cy="1389888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443984"/>
            <a:ext cx="48006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7B7B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Tách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hai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họ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mô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hình</a:t>
            </a:r>
            <a:endParaRPr sz="1700" dirty="0">
              <a:latin typeface="+mj-l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0" y="4837176"/>
            <a:ext cx="4773168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Mô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hình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dự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đoán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điểm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học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từ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sao</a:t>
            </a:r>
            <a:r>
              <a:rPr sz="1500" dirty="0">
                <a:latin typeface="+mj-lt"/>
              </a:rPr>
              <a:t>; </a:t>
            </a:r>
            <a:r>
              <a:rPr sz="1500" dirty="0" err="1">
                <a:latin typeface="+mj-lt"/>
              </a:rPr>
              <a:t>bộ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ước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lượng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cảm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xúc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học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từ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nhãn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người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gán</a:t>
            </a:r>
            <a:r>
              <a:rPr sz="1500" dirty="0">
                <a:latin typeface="+mj-lt"/>
              </a:rPr>
              <a:t>. </a:t>
            </a:r>
            <a:r>
              <a:rPr sz="1500" dirty="0" err="1">
                <a:latin typeface="+mj-lt"/>
              </a:rPr>
              <a:t>Không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thay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thế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nhau</a:t>
            </a:r>
            <a:r>
              <a:rPr sz="1500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PHỤ LỤC · THAM KHẢO KHI TRAO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Chọn phép đo bằng nhãn do người gán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335584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783080"/>
            <a:ext cx="914400" cy="310896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19656"/>
            <a:ext cx="914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A6A6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76856"/>
            <a:ext cx="278892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sz="1700" dirty="0">
                <a:latin typeface="+mj-lt"/>
              </a:rPr>
              <a:t>Ma </a:t>
            </a:r>
            <a:r>
              <a:rPr sz="1700" dirty="0" err="1">
                <a:latin typeface="+mj-lt"/>
              </a:rPr>
              <a:t>trận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phân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cực</a:t>
            </a:r>
            <a:endParaRPr sz="1700" dirty="0"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có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hướng</a:t>
            </a:r>
            <a:r>
              <a:rPr sz="1700" dirty="0">
                <a:latin typeface="+mj-lt"/>
              </a:rPr>
              <a:t> 3×3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278892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Nhãn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lớp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dễ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diễn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giải</a:t>
            </a:r>
            <a:endParaRPr sz="1500" dirty="0">
              <a:latin typeface="+mj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9120" y="1572768"/>
            <a:ext cx="335584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0288" y="1783080"/>
            <a:ext cx="914400" cy="310896"/>
          </a:xfrm>
          <a:prstGeom prst="roundRect">
            <a:avLst/>
          </a:prstGeom>
          <a:solidFill>
            <a:srgbClr val="EBF2FF"/>
          </a:solidFill>
          <a:ln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819656"/>
            <a:ext cx="914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D6CDF"/>
                </a:solidFill>
                <a:latin typeface="Arial"/>
              </a:defRPr>
            </a:pPr>
            <a:r>
              <a:t>Ứng viên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76856"/>
            <a:ext cx="278892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Khoảng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cách</a:t>
            </a:r>
            <a:endParaRPr dirty="0"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chuẩn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hóa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có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dấu</a:t>
            </a:r>
            <a:endParaRPr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90288" y="3017520"/>
            <a:ext cx="278892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Một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số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kèm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dấu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cho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cả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bài</a:t>
            </a:r>
            <a:endParaRPr sz="1500" dirty="0">
              <a:latin typeface="+mj-l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65007" y="1572768"/>
            <a:ext cx="335584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66175" y="1783080"/>
            <a:ext cx="914400" cy="310896"/>
          </a:xfrm>
          <a:prstGeom prst="round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5" y="1819656"/>
            <a:ext cx="914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71A2D"/>
                </a:solidFill>
                <a:latin typeface="Arial"/>
              </a:defRPr>
            </a:pPr>
            <a:r>
              <a:t>Ứng viên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276856"/>
            <a:ext cx="278892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Khoảng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cách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cấp</a:t>
            </a:r>
            <a:endParaRPr dirty="0">
              <a:latin typeface="+mj-l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khía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cạnh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có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dấu</a:t>
            </a:r>
            <a:endParaRPr dirty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66175" y="3017520"/>
            <a:ext cx="278892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rPr sz="1500" dirty="0">
                <a:latin typeface="+mj-lt"/>
              </a:rPr>
              <a:t>Vector </a:t>
            </a:r>
            <a:r>
              <a:rPr sz="1500" dirty="0" err="1">
                <a:latin typeface="+mj-lt"/>
              </a:rPr>
              <a:t>theo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từng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khía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cạnh</a:t>
            </a:r>
            <a:endParaRPr sz="1500" dirty="0">
              <a:latin typeface="+mj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33856" y="4096512"/>
            <a:ext cx="9930384" cy="1353312"/>
          </a:xfrm>
          <a:prstGeom prst="round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89888" y="4279392"/>
            <a:ext cx="9400032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7EE5DC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Tiêu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chí</a:t>
            </a:r>
            <a:r>
              <a:rPr sz="1700" dirty="0">
                <a:latin typeface="+mj-lt"/>
              </a:rPr>
              <a:t> </a:t>
            </a:r>
            <a:r>
              <a:rPr sz="1700" dirty="0" err="1">
                <a:latin typeface="+mj-lt"/>
              </a:rPr>
              <a:t>chọn</a:t>
            </a:r>
            <a:endParaRPr sz="1700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44168" y="4645152"/>
            <a:ext cx="9491472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Khớp nhãn người · giữ chiều lệch · ổn định ở hai nhóm điểm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Giải thích theo khía cạnh · cảm xúc được đánh giá độc lập với sao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504688"/>
            <a:ext cx="98755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2677D"/>
                </a:solidFill>
                <a:latin typeface="Arial"/>
              </a:defRPr>
            </a:pPr>
            <a:r>
              <a:rPr dirty="0" err="1"/>
              <a:t>Nếu chưa đạt yêu cầu, giữ ma trận phân cực làm mốc đối chiếu và nêu rõ hạn chế.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PHỤ LỤC · THAM KHẢO KHI TRAO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Phụ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lục</a:t>
            </a:r>
            <a:r>
              <a:rPr dirty="0">
                <a:latin typeface="+mj-lt"/>
              </a:rPr>
              <a:t>: </a:t>
            </a:r>
            <a:r>
              <a:rPr dirty="0" err="1">
                <a:latin typeface="+mj-lt"/>
              </a:rPr>
              <a:t>câu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hỏi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dự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kiến</a:t>
            </a:r>
            <a:r>
              <a:rPr dirty="0">
                <a:latin typeface="+mj-lt"/>
              </a:rPr>
              <a:t> (1/2)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17320"/>
            <a:ext cx="10744200" cy="1197864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" y="1618488"/>
            <a:ext cx="475488" cy="310896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55064"/>
            <a:ext cx="47548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1572768"/>
            <a:ext cx="9235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 i="0">
                <a:solidFill>
                  <a:srgbClr val="071A2D"/>
                </a:solidFill>
                <a:latin typeface="Arial"/>
              </a:defRPr>
            </a:pPr>
            <a:r>
              <a:t>Vì sao không dùng điểm sao làm nhãn cảm xúc?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6776" y="2002536"/>
            <a:ext cx="9144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02A43"/>
                </a:solidFill>
                <a:latin typeface="Arial"/>
              </a:defRPr>
            </a:pPr>
            <a:r>
              <a:t>394 review 5 sao vẫn có phàn nàn. Vì vậy, điểm sao không đủ thay thế nhãn cảm xúc ở từng khía cạnh.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898648"/>
            <a:ext cx="10744200" cy="1197864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9264" y="3099816"/>
            <a:ext cx="475488" cy="310896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136392"/>
            <a:ext cx="47548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76" y="3054096"/>
            <a:ext cx="9235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 i="0">
                <a:solidFill>
                  <a:srgbClr val="071A2D"/>
                </a:solidFill>
                <a:latin typeface="Arial"/>
              </a:defRPr>
            </a:pPr>
            <a:r>
              <a:t>Vì sao cần hai người gán nhãn?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6776" y="3483864"/>
            <a:ext cx="9144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02A43"/>
                </a:solidFill>
                <a:latin typeface="Arial"/>
              </a:defRPr>
            </a:pPr>
            <a:r>
              <a:t>Hai người đánh giá độc lập để kiểm tra mức đồng thuận bằng Cohen’s Kappa và thống nhất các trường hợp bất đồng.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379976"/>
            <a:ext cx="10744200" cy="1197864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9264" y="4581144"/>
            <a:ext cx="475488" cy="310896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617720"/>
            <a:ext cx="47548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6776" y="4535424"/>
            <a:ext cx="9235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 i="0">
                <a:solidFill>
                  <a:srgbClr val="071A2D"/>
                </a:solidFill>
                <a:latin typeface="Arial"/>
              </a:defRPr>
            </a:pPr>
            <a:r>
              <a:t>Sao không dùng LLM cho nhanh?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6776" y="4965192"/>
            <a:ext cx="9144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02A43"/>
                </a:solidFill>
                <a:latin typeface="Arial"/>
              </a:defRPr>
            </a:pPr>
            <a:r>
              <a:t>Có thể dùng, nhưng vẫn phải đánh giá trên tập do người gán. Bộ đo cảm xúc không được huấn luyện từ điểm sao.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PHỤ LỤC · THAM KHẢO KHI TRAO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Phụ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lục</a:t>
            </a:r>
            <a:r>
              <a:rPr dirty="0">
                <a:latin typeface="+mj-lt"/>
              </a:rPr>
              <a:t>: </a:t>
            </a:r>
            <a:r>
              <a:rPr dirty="0" err="1">
                <a:latin typeface="+mj-lt"/>
              </a:rPr>
              <a:t>câu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hỏi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dự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kiến</a:t>
            </a:r>
            <a:r>
              <a:rPr dirty="0">
                <a:latin typeface="+mj-lt"/>
              </a:rPr>
              <a:t> (2/2)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44752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591056"/>
            <a:ext cx="4837176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02A43"/>
                </a:solidFill>
                <a:latin typeface="Arial"/>
              </a:defRPr>
            </a:pPr>
            <a:r>
              <a:rPr dirty="0">
                <a:latin typeface="+mj-lt"/>
              </a:rPr>
              <a:t>Sao </a:t>
            </a:r>
            <a:r>
              <a:rPr dirty="0" err="1">
                <a:latin typeface="+mj-lt"/>
              </a:rPr>
              <a:t>chỉ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có</a:t>
            </a:r>
            <a:r>
              <a:rPr dirty="0">
                <a:latin typeface="+mj-lt"/>
              </a:rPr>
              <a:t> 9.990 review?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1965960"/>
            <a:ext cx="4818888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Nhóm giới hạn ở 9.990 review có dữ liệu gán nhãn đoạn văn để kiểm chứng phép đo. Mở rộng corpus cần bổ sung nhãn và đánh giá chất lượng.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44752"/>
            <a:ext cx="51663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591056"/>
            <a:ext cx="4837176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02A43"/>
                </a:solidFill>
                <a:latin typeface="Arial"/>
              </a:defRPr>
            </a:pPr>
            <a:r>
              <a:rPr dirty="0" err="1">
                <a:latin typeface="+mj-lt"/>
              </a:rPr>
              <a:t>Có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chắc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là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khách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tha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thứ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không</a:t>
            </a:r>
            <a:r>
              <a:rPr dirty="0">
                <a:latin typeface="+mj-lt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965960"/>
            <a:ext cx="4818888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Không</a:t>
            </a:r>
            <a:r>
              <a:rPr sz="1500" dirty="0">
                <a:latin typeface="+mj-lt"/>
              </a:rPr>
              <a:t>. </a:t>
            </a:r>
            <a:r>
              <a:rPr sz="1500" dirty="0" err="1">
                <a:latin typeface="+mj-lt"/>
              </a:rPr>
              <a:t>Dữ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liệu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công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khai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không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đủ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để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suy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ra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trạng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thái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tâm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lý</a:t>
            </a:r>
            <a:r>
              <a:rPr sz="1500" dirty="0">
                <a:latin typeface="+mj-lt"/>
              </a:rPr>
              <a:t>. </a:t>
            </a:r>
            <a:r>
              <a:rPr sz="1500" dirty="0" err="1">
                <a:latin typeface="+mj-lt"/>
              </a:rPr>
              <a:t>Nhóm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chỉ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phát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biểu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về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mẫu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hành</a:t>
            </a:r>
            <a:r>
              <a:rPr sz="1500" dirty="0">
                <a:latin typeface="+mj-lt"/>
              </a:rPr>
              <a:t> vi </a:t>
            </a:r>
            <a:r>
              <a:rPr sz="1500" dirty="0" err="1">
                <a:latin typeface="+mj-lt"/>
              </a:rPr>
              <a:t>chấm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điểm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quan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sát</a:t>
            </a:r>
            <a:r>
              <a:rPr sz="1500" dirty="0">
                <a:latin typeface="+mj-lt"/>
              </a:rPr>
              <a:t> </a:t>
            </a:r>
            <a:r>
              <a:rPr sz="1500" dirty="0" err="1">
                <a:latin typeface="+mj-lt"/>
              </a:rPr>
              <a:t>được</a:t>
            </a:r>
            <a:r>
              <a:rPr dirty="0"/>
              <a:t>.</a:t>
            </a:r>
          </a:p>
        </p:txBody>
      </p:sp>
      <p:sp>
        <p:nvSpPr>
          <p:cNvPr id="100" name="Review shape 100"/>
          <p:cNvSpPr/>
          <p:nvPr/>
        </p:nvSpPr>
        <p:spPr>
          <a:xfrm>
            <a:off x="749808" y="3767328"/>
            <a:ext cx="10680192" cy="1353312"/>
          </a:xfrm>
          <a:prstGeom prst="roundRect">
            <a:avLst/>
          </a:prstGeom>
          <a:solidFill>
            <a:srgbClr val="071A2D"/>
          </a:solidFill>
          <a:ln>
            <a:solidFill>
              <a:srgbClr val="071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view shape 101"/>
          <p:cNvSpPr txBox="1"/>
          <p:nvPr/>
        </p:nvSpPr>
        <p:spPr>
          <a:xfrm>
            <a:off x="1005840" y="3959352"/>
            <a:ext cx="99669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7EE5DC"/>
                </a:solidFill>
                <a:latin typeface="Arial"/>
              </a:defRPr>
            </a:pPr>
            <a:r>
              <a:rPr sz="1700" dirty="0" err="1">
                <a:latin typeface="+mj-lt"/>
              </a:rPr>
              <a:t>Nhánh kỹ thuật của môn học</a:t>
            </a:r>
          </a:p>
        </p:txBody>
      </p:sp>
      <p:sp>
        <p:nvSpPr>
          <p:cNvPr id="102" name="Review shape 102"/>
          <p:cNvSpPr txBox="1"/>
          <p:nvPr/>
        </p:nvSpPr>
        <p:spPr>
          <a:xfrm>
            <a:off x="1005840" y="4407408"/>
            <a:ext cx="9966960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FFFFFF"/>
                </a:solidFill>
                <a:latin typeface="Arial"/>
              </a:defRPr>
            </a:pPr>
            <a:r>
              <a:rPr sz="1500" dirty="0">
                <a:latin typeface="+mj-lt"/>
              </a:rPr>
              <a:t>So sánh 5 mô hình dự đoán điểm · phân tích phần dư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FFFFFF"/>
                </a:solidFill>
                <a:latin typeface="Arial"/>
              </a:defRPr>
            </a:pPr>
            <a:r>
              <a:rPr sz="1500" dirty="0">
                <a:latin typeface="+mj-lt"/>
              </a:rPr>
              <a:t>Nhận diện review có điểm thấp hơn dự báo từ văn bản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solidFill>
              <a:srgbClr val="F5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8328"/>
            <a:ext cx="40233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007B7B"/>
                </a:solidFill>
                <a:latin typeface="Arial"/>
              </a:defRPr>
            </a:pPr>
            <a:r>
              <a:t>02 · KHẢO SÁT TÀI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"/>
            <a:ext cx="107899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071A2D"/>
                </a:solidFill>
                <a:latin typeface="Arial"/>
              </a:defRPr>
            </a:pPr>
            <a:r>
              <a:rPr dirty="0" err="1">
                <a:latin typeface="+mj-lt"/>
              </a:rPr>
              <a:t>Khung lý thuyết đã chốt và cách nhóm vận dụng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70432"/>
            <a:ext cx="11091672" cy="0"/>
          </a:xfrm>
          <a:prstGeom prst="line">
            <a:avLst/>
          </a:prstGeom>
          <a:ln w="10160">
            <a:solidFill>
              <a:srgbClr val="D9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621792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2677D"/>
                </a:solidFill>
                <a:latin typeface="Arial"/>
              </a:defRPr>
            </a:pPr>
            <a:r>
              <a:t>DAP391m · Báo cáo tiến độ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02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2677D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0" name="Review shape 100"/>
          <p:cNvSpPr/>
          <p:nvPr/>
        </p:nvSpPr>
        <p:spPr>
          <a:xfrm>
            <a:off x="713232" y="1481328"/>
            <a:ext cx="10762488" cy="548640"/>
          </a:xfrm>
          <a:prstGeom prst="roundRect">
            <a:avLst/>
          </a:prstGeom>
          <a:solidFill>
            <a:srgbClr val="E6F7F6"/>
          </a:solidFill>
          <a:ln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view shape 110"/>
          <p:cNvSpPr txBox="1"/>
          <p:nvPr/>
        </p:nvSpPr>
        <p:spPr>
          <a:xfrm>
            <a:off x="822960" y="1609344"/>
            <a:ext cx="2505456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Lý thuyết / công cụ</a:t>
            </a:r>
          </a:p>
        </p:txBody>
      </p:sp>
      <p:sp>
        <p:nvSpPr>
          <p:cNvPr id="111" name="Review shape 111"/>
          <p:cNvSpPr txBox="1"/>
          <p:nvPr/>
        </p:nvSpPr>
        <p:spPr>
          <a:xfrm>
            <a:off x="3547872" y="1609344"/>
            <a:ext cx="3666744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Giải thích điều gì?</a:t>
            </a:r>
          </a:p>
        </p:txBody>
      </p:sp>
      <p:sp>
        <p:nvSpPr>
          <p:cNvPr id="112" name="Review shape 112"/>
          <p:cNvSpPr txBox="1"/>
          <p:nvPr/>
        </p:nvSpPr>
        <p:spPr>
          <a:xfrm>
            <a:off x="7434072" y="1609344"/>
            <a:ext cx="3931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02A43"/>
                </a:solidFill>
                <a:latin typeface="Arial"/>
              </a:defRPr>
            </a:pPr>
            <a:r>
              <a:rPr sz="1700" dirty="0">
                <a:latin typeface="+mj-lt"/>
              </a:rPr>
              <a:t>Nhóm vận dụng thế nào?</a:t>
            </a:r>
          </a:p>
        </p:txBody>
      </p:sp>
      <p:sp>
        <p:nvSpPr>
          <p:cNvPr id="120" name="Review shape 120"/>
          <p:cNvSpPr/>
          <p:nvPr/>
        </p:nvSpPr>
        <p:spPr>
          <a:xfrm>
            <a:off x="713232" y="2121408"/>
            <a:ext cx="1076248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view shape 121"/>
          <p:cNvSpPr/>
          <p:nvPr/>
        </p:nvSpPr>
        <p:spPr>
          <a:xfrm>
            <a:off x="713232" y="3054096"/>
            <a:ext cx="1076248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view shape 122"/>
          <p:cNvSpPr/>
          <p:nvPr/>
        </p:nvSpPr>
        <p:spPr>
          <a:xfrm>
            <a:off x="713232" y="3986784"/>
            <a:ext cx="1076248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view shape 123"/>
          <p:cNvSpPr/>
          <p:nvPr/>
        </p:nvSpPr>
        <p:spPr>
          <a:xfrm>
            <a:off x="713232" y="4919472"/>
            <a:ext cx="1076248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view shape 90"/>
          <p:cNvSpPr txBox="1"/>
          <p:nvPr/>
        </p:nvSpPr>
        <p:spPr>
          <a:xfrm>
            <a:off x="731520" y="6291072"/>
            <a:ext cx="107442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2677D"/>
                </a:solidFill>
                <a:latin typeface="Arial"/>
              </a:defRPr>
            </a:pPr>
            <a:r>
              <a:t>Căn cứ: RDR-0005; Le (2026), Regitz (2026), Sharma (2025), Li S. (2024, dữ liệu sản phẩm).</a:t>
            </a:r>
          </a:p>
        </p:txBody>
      </p:sp>
      <p:sp>
        <p:nvSpPr>
          <p:cNvPr id="150" name="Theory 1 cell 1"/>
          <p:cNvSpPr txBox="1"/>
          <p:nvPr/>
        </p:nvSpPr>
        <p:spPr>
          <a:xfrm>
            <a:off x="822960" y="2203704"/>
            <a:ext cx="2505456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S-O-R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Kích thích – trạng thái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– phản ứng</a:t>
            </a:r>
          </a:p>
        </p:txBody>
      </p:sp>
      <p:sp>
        <p:nvSpPr>
          <p:cNvPr id="151" name="Theory 1 cell 2"/>
          <p:cNvSpPr txBox="1"/>
          <p:nvPr/>
        </p:nvSpPr>
        <p:spPr>
          <a:xfrm>
            <a:off x="3547872" y="2203704"/>
            <a:ext cx="3666744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Trải nghiệm dịch vụ (S) → cảm nhận của khách (O) → điểm sao (R).</a:t>
            </a:r>
          </a:p>
        </p:txBody>
      </p:sp>
      <p:sp>
        <p:nvSpPr>
          <p:cNvPr id="152" name="Theory 1 cell 3"/>
          <p:cNvSpPr txBox="1"/>
          <p:nvPr/>
        </p:nvSpPr>
        <p:spPr>
          <a:xfrm>
            <a:off x="7434072" y="2203704"/>
            <a:ext cx="3931920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Tách cảm xúc văn bản khỏi điểm sao để xem xét sự không khớp.</a:t>
            </a:r>
          </a:p>
        </p:txBody>
      </p:sp>
      <p:sp>
        <p:nvSpPr>
          <p:cNvPr id="153" name="Theory 2 cell 1"/>
          <p:cNvSpPr txBox="1"/>
          <p:nvPr/>
        </p:nvSpPr>
        <p:spPr>
          <a:xfrm>
            <a:off x="822960" y="3136392"/>
            <a:ext cx="2505456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Kano / ba nhân tố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IAA: phân tích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bất đối xứng tác động</a:t>
            </a:r>
          </a:p>
        </p:txBody>
      </p:sp>
      <p:sp>
        <p:nvSpPr>
          <p:cNvPr id="154" name="Theory 2 cell 2"/>
          <p:cNvSpPr txBox="1"/>
          <p:nvPr/>
        </p:nvSpPr>
        <p:spPr>
          <a:xfrm>
            <a:off x="3547872" y="3136392"/>
            <a:ext cx="3666744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Kano phân loại thuộc tính; IAA so sánh tác động làm tăng và giảm điểm.</a:t>
            </a:r>
          </a:p>
        </p:txBody>
      </p:sp>
      <p:sp>
        <p:nvSpPr>
          <p:cNvPr id="155" name="Theory 2 cell 3"/>
          <p:cNvSpPr txBox="1"/>
          <p:nvPr/>
        </p:nvSpPr>
        <p:spPr>
          <a:xfrm>
            <a:off x="7434072" y="3136392"/>
            <a:ext cx="3931920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Khám phá khía cạnh nào có tác động tiêu cực hoặc tích cực nổi trội.</a:t>
            </a:r>
          </a:p>
        </p:txBody>
      </p:sp>
      <p:sp>
        <p:nvSpPr>
          <p:cNvPr id="156" name="Theory 3 cell 1"/>
          <p:cNvSpPr txBox="1"/>
          <p:nvPr/>
        </p:nvSpPr>
        <p:spPr>
          <a:xfrm>
            <a:off x="822960" y="4069080"/>
            <a:ext cx="2505456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Prospect Theory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Lý thuyết triển vọng</a:t>
            </a:r>
          </a:p>
        </p:txBody>
      </p:sp>
      <p:sp>
        <p:nvSpPr>
          <p:cNvPr id="157" name="Theory 3 cell 2"/>
          <p:cNvSpPr txBox="1"/>
          <p:nvPr/>
        </p:nvSpPr>
        <p:spPr>
          <a:xfrm>
            <a:off x="3547872" y="4069080"/>
            <a:ext cx="3666744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So với mốc tham chiếu, mất mát có thể nặng hơn lợi ích tương đương.</a:t>
            </a:r>
          </a:p>
        </p:txBody>
      </p:sp>
      <p:sp>
        <p:nvSpPr>
          <p:cNvPr id="158" name="Theory 3 cell 3"/>
          <p:cNvSpPr txBox="1"/>
          <p:nvPr/>
        </p:nvSpPr>
        <p:spPr>
          <a:xfrm>
            <a:off x="7434072" y="4069080"/>
            <a:ext cx="3931920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Làm cơ sở cho giả thuyết tác động tích cực và tiêu cực không đối xứng.</a:t>
            </a:r>
          </a:p>
        </p:txBody>
      </p:sp>
      <p:sp>
        <p:nvSpPr>
          <p:cNvPr id="159" name="Theory 4 cell 1"/>
          <p:cNvSpPr txBox="1"/>
          <p:nvPr/>
        </p:nvSpPr>
        <p:spPr>
          <a:xfrm>
            <a:off x="822960" y="5001768"/>
            <a:ext cx="2505456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Cấu trúc hai giai đoạn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Không bù trừ → bù trừ</a:t>
            </a:r>
          </a:p>
        </p:txBody>
      </p:sp>
      <p:sp>
        <p:nvSpPr>
          <p:cNvPr id="160" name="Theory 4 cell 2"/>
          <p:cNvSpPr txBox="1"/>
          <p:nvPr/>
        </p:nvSpPr>
        <p:spPr>
          <a:xfrm>
            <a:off x="3547872" y="5001768"/>
            <a:ext cx="3666744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Xét điều kiện cơ bản trước, rồi tổng hợp đóng góp của các thuộc tính khác.</a:t>
            </a:r>
          </a:p>
        </p:txBody>
      </p:sp>
      <p:sp>
        <p:nvSpPr>
          <p:cNvPr id="161" name="Theory 4 cell 3"/>
          <p:cNvSpPr txBox="1"/>
          <p:nvPr/>
        </p:nvSpPr>
        <p:spPr>
          <a:xfrm>
            <a:off x="7434072" y="5001768"/>
            <a:ext cx="3931920" cy="704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Kiểm định hai nhánh chi phối và bù trừ; xét mức nghiêm trọng và khắc phục.</a:t>
            </a:r>
          </a:p>
        </p:txBody>
      </p:sp>
      <p:sp>
        <p:nvSpPr>
          <p:cNvPr id="180" name="Review shape 130"/>
          <p:cNvSpPr txBox="1"/>
          <p:nvPr/>
        </p:nvSpPr>
        <p:spPr>
          <a:xfrm>
            <a:off x="822960" y="5925312"/>
            <a:ext cx="106070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02A43"/>
                </a:solidFill>
                <a:latin typeface="Arial"/>
              </a:defRPr>
            </a:pPr>
            <a:r>
              <a:rPr sz="1500" dirty="0" err="1">
                <a:latin typeface="+mj-lt"/>
              </a:rPr>
              <a:t>Khung đã chốt; cách đo còn chờ kiểm chứng. Không suy ra tâm lý khách từ review.</a:t>
            </a:r>
          </a:p>
        </p:txBody>
      </p:sp>
    </p:spTree>
    <p:extLst>
      <p:ext uri="{BB962C8B-B14F-4D97-AF65-F5344CB8AC3E}">
        <p14:creationId xmlns:p14="http://schemas.microsoft.com/office/powerpoint/2010/main" val="31421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2900</Words>
  <Application>Microsoft Office PowerPoint</Application>
  <PresentationFormat>Widescreen</PresentationFormat>
  <Paragraphs>387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dự án — Bất nhất cảm xúc–điểm số ở cấp khía cạnh</dc:title>
  <dc:subject>DAP391m progress report</dc:subject>
  <dc:creator>Nhóm dự án</dc:creator>
  <cp:keywords>hotel review, sentiment-rating discrepancy, DAP391m</cp:keywords>
  <dc:description>generated using python-pptx</dc:description>
  <cp:lastModifiedBy>namnguyen5406gl@gmail.com</cp:lastModifiedBy>
  <cp:revision>5</cp:revision>
  <dcterms:created xsi:type="dcterms:W3CDTF">2013-01-27T09:14:16Z</dcterms:created>
  <dcterms:modified xsi:type="dcterms:W3CDTF">2026-09-23T18:41:44Z</dcterms:modified>
  <cp:category/>
</cp:coreProperties>
</file>