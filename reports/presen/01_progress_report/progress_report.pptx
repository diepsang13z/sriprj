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A2D"/>
          </a:solidFill>
          <a:ln>
            <a:solidFill>
              <a:srgbClr val="071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28431" y="0"/>
            <a:ext cx="4160520" cy="6858000"/>
          </a:xfrm>
          <a:prstGeom prst="rect">
            <a:avLst/>
          </a:prstGeom>
          <a:solidFill>
            <a:srgbClr val="0D2942"/>
          </a:solidFill>
          <a:ln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0" y="914400"/>
            <a:ext cx="475488" cy="475488"/>
          </a:xfrm>
          <a:prstGeom prst="ellipse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1645920"/>
            <a:ext cx="228600" cy="228600"/>
          </a:xfrm>
          <a:prstGeom prst="ellipse">
            <a:avLst/>
          </a:prstGeom>
          <a:solidFill>
            <a:srgbClr val="F4B942"/>
          </a:solidFill>
          <a:ln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0" y="4114800"/>
            <a:ext cx="329184" cy="329184"/>
          </a:xfrm>
          <a:prstGeom prst="ellipse">
            <a:avLst/>
          </a:prstGeom>
          <a:solidFill>
            <a:srgbClr val="2D6CDF"/>
          </a:solidFill>
          <a:ln>
            <a:solidFill>
              <a:srgbClr val="2D6C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0" y="4754880"/>
            <a:ext cx="429768" cy="429768"/>
          </a:xfrm>
          <a:prstGeom prst="ellipse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822960"/>
            <a:ext cx="65836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7EE5DC"/>
                </a:solidFill>
                <a:latin typeface="Arial"/>
              </a:defRPr>
            </a:pPr>
            <a:r>
              <a:t>BÁO CÁO TIẾN ĐỘ DỰ ÁN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89888"/>
            <a:ext cx="6784848" cy="1325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100" b="1" i="0">
                <a:solidFill>
                  <a:srgbClr val="FFFFFF"/>
                </a:solidFill>
                <a:latin typeface="Arial"/>
              </a:defRPr>
            </a:pPr>
            <a:r>
              <a:t>Bất nhất cảm xúc – điểm số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3100" b="1" i="0">
                <a:solidFill>
                  <a:srgbClr val="FFFFFF"/>
                </a:solidFill>
                <a:latin typeface="Arial"/>
              </a:defRPr>
            </a:pPr>
            <a:r>
              <a:t>ở cấp khía cạnh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71800"/>
            <a:ext cx="653796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 i="1">
                <a:solidFill>
                  <a:srgbClr val="C7D5E0"/>
                </a:solidFill>
                <a:latin typeface="Arial"/>
              </a:defRPr>
            </a:pPr>
            <a:r>
              <a:t>Aspect-Level Sentiment–Rating Discrepancy in Online Hotel Reviews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913632"/>
            <a:ext cx="5532120" cy="0"/>
          </a:xfrm>
          <a:prstGeom prst="line">
            <a:avLst/>
          </a:prstGeom>
          <a:ln w="10160">
            <a:solidFill>
              <a:srgbClr val="4F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187952"/>
            <a:ext cx="60350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0">
                <a:solidFill>
                  <a:srgbClr val="C7D5E0"/>
                </a:solidFill>
                <a:latin typeface="Arial"/>
              </a:defRPr>
            </a:pPr>
            <a:r>
              <a:t>Nhóm: [điền]  ·  Môn DAP391m  ·  [ngày báo cáo]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2423160"/>
            <a:ext cx="27432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B8D9D9"/>
                </a:solidFill>
                <a:latin typeface="Arial"/>
              </a:defRPr>
            </a:pPr>
            <a:r>
              <a:t>KHÁCH VIẾT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2871216"/>
            <a:ext cx="2743200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700" b="1" i="0">
                <a:solidFill>
                  <a:srgbClr val="FFFFFF"/>
                </a:solidFill>
                <a:latin typeface="Arial"/>
              </a:defRPr>
            </a:pPr>
            <a:r>
              <a:t>một đằng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979408" y="3685032"/>
            <a:ext cx="1901952" cy="0"/>
          </a:xfrm>
          <a:prstGeom prst="line">
            <a:avLst/>
          </a:prstGeom>
          <a:ln w="10160">
            <a:solidFill>
              <a:srgbClr val="4F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549640" y="3858768"/>
            <a:ext cx="27432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B8D9D9"/>
                </a:solidFill>
                <a:latin typeface="Arial"/>
              </a:defRPr>
            </a:pPr>
            <a:r>
              <a:t>NHƯNG CHẤM SAO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4288536"/>
            <a:ext cx="2743200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700" b="1" i="0">
                <a:solidFill>
                  <a:srgbClr val="7EE5DC"/>
                </a:solidFill>
                <a:latin typeface="Arial"/>
              </a:defRPr>
            </a:pPr>
            <a:r>
              <a:t>một nẻo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TỔNG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t>Lộ trình báo cáo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572768"/>
            <a:ext cx="246888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28216"/>
            <a:ext cx="41148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007B7B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57400"/>
            <a:ext cx="19659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t>Đề tài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432304"/>
            <a:ext cx="201168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52677D"/>
                </a:solidFill>
                <a:latin typeface="Arial"/>
              </a:defRPr>
            </a:pPr>
            <a:r>
              <a:t>Hiện tượng cần giải thích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1488" y="1755648"/>
            <a:ext cx="91440" cy="1005840"/>
          </a:xfrm>
          <a:prstGeom prst="round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01568" y="1572768"/>
            <a:ext cx="246888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1728216"/>
            <a:ext cx="41148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007B7B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2057400"/>
            <a:ext cx="19659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t>Khoảng trống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432304"/>
            <a:ext cx="201168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52677D"/>
                </a:solidFill>
                <a:latin typeface="Arial"/>
              </a:defRPr>
            </a:pPr>
            <a:r>
              <a:t>Vì sao không thể coi là nhiễu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68696" y="1755648"/>
            <a:ext cx="91440" cy="1005840"/>
          </a:xfrm>
          <a:prstGeom prst="round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08776" y="1572768"/>
            <a:ext cx="246888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6" y="1728216"/>
            <a:ext cx="41148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007B7B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2057400"/>
            <a:ext cx="19659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t>Câu hỏi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1656" y="2432304"/>
            <a:ext cx="201168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52677D"/>
                </a:solidFill>
                <a:latin typeface="Arial"/>
              </a:defRPr>
            </a:pPr>
            <a:r>
              <a:t>Ba RQ và nhánh kỹ thuật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75904" y="1755648"/>
            <a:ext cx="91440" cy="1005840"/>
          </a:xfrm>
          <a:prstGeom prst="round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015984" y="1572768"/>
            <a:ext cx="246888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98863" y="1728216"/>
            <a:ext cx="41148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007B7B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98863" y="2057400"/>
            <a:ext cx="19659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t>Phương pháp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3" y="2432304"/>
            <a:ext cx="201168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52677D"/>
                </a:solidFill>
                <a:latin typeface="Arial"/>
              </a:defRPr>
            </a:pPr>
            <a:r>
              <a:t>Ba tầng · năm bước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183112" y="1755648"/>
            <a:ext cx="91440" cy="1005840"/>
          </a:xfrm>
          <a:prstGeom prst="round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94360" y="3493008"/>
            <a:ext cx="246888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648456"/>
            <a:ext cx="41148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007B7B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977640"/>
            <a:ext cx="19659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t>Khảo sát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352544"/>
            <a:ext cx="201168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52677D"/>
                </a:solidFill>
                <a:latin typeface="Arial"/>
              </a:defRPr>
            </a:pPr>
            <a:r>
              <a:t>Kết quả và điểm dừng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61488" y="3675888"/>
            <a:ext cx="91440" cy="1005840"/>
          </a:xfrm>
          <a:prstGeom prst="round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401568" y="3493008"/>
            <a:ext cx="246888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84448" y="3648456"/>
            <a:ext cx="41148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007B7B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84448" y="3977640"/>
            <a:ext cx="19659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t>Tiếp theo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84448" y="4352544"/>
            <a:ext cx="201168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52677D"/>
                </a:solidFill>
                <a:latin typeface="Arial"/>
              </a:defRPr>
            </a:pPr>
            <a:r>
              <a:t>Việc mở và góp ý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568696" y="3675888"/>
            <a:ext cx="91440" cy="1005840"/>
          </a:xfrm>
          <a:prstGeom prst="round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208776" y="3493008"/>
            <a:ext cx="246888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91656" y="3648456"/>
            <a:ext cx="41148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007B7B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91656" y="3977640"/>
            <a:ext cx="19659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t>Ứng dụng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91656" y="4352544"/>
            <a:ext cx="201168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52677D"/>
                </a:solidFill>
                <a:latin typeface="Arial"/>
              </a:defRPr>
            </a:pPr>
            <a:r>
              <a:t>Bảng soát điểm sao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75904" y="3675888"/>
            <a:ext cx="91440" cy="1005840"/>
          </a:xfrm>
          <a:prstGeom prst="round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006840" y="3611880"/>
            <a:ext cx="2514600" cy="1005840"/>
          </a:xfrm>
          <a:prstGeom prst="roundRect">
            <a:avLst/>
          </a:prstGeom>
          <a:solidFill>
            <a:srgbClr val="E6F7F6"/>
          </a:solidFill>
          <a:ln>
            <a:solidFill>
              <a:srgbClr val="E6F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9720" y="3803904"/>
            <a:ext cx="2148840" cy="2103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Thông điệp xuyên suốt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89720" y="4133087"/>
            <a:ext cx="21488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50" b="1" i="0">
                <a:solidFill>
                  <a:srgbClr val="071A2D"/>
                </a:solidFill>
                <a:latin typeface="Arial"/>
              </a:defRPr>
            </a:pPr>
            <a:r>
              <a:t>Lệch pha là tín hiệu, không phải lỗi.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01 · ĐỀ TÀI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t>Đề tài: không khớp là một tín hiệu hành vi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481328"/>
            <a:ext cx="676656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 i="0">
                <a:solidFill>
                  <a:srgbClr val="071A2D"/>
                </a:solidFill>
                <a:latin typeface="Arial"/>
              </a:defRPr>
            </a:pPr>
            <a:r>
              <a:t>Khách hàng để lại hai tín hiệu cùng lúc khi đánh giá khách sạn.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12848"/>
            <a:ext cx="2907792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3232" y="2212848"/>
            <a:ext cx="64008" cy="1554480"/>
          </a:xfrm>
          <a:prstGeom prst="round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359152"/>
            <a:ext cx="2578608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 i="0">
                <a:solidFill>
                  <a:srgbClr val="102A43"/>
                </a:solidFill>
                <a:latin typeface="Arial"/>
              </a:defRPr>
            </a:pPr>
            <a:r>
              <a:t>Văn bản tự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734056"/>
            <a:ext cx="2560320" cy="9326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30" b="0" i="0">
                <a:solidFill>
                  <a:srgbClr val="102A43"/>
                </a:solidFill>
                <a:latin typeface="Arial"/>
              </a:defRPr>
            </a:pPr>
            <a:r>
              <a:t>Kể lại trải nghiệm bằng ngôn ngữ tự nhiên: phòng, dịch vụ, tiện ích…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31920" y="2212848"/>
            <a:ext cx="2907792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931920" y="2212848"/>
            <a:ext cx="64008" cy="1554480"/>
          </a:xfrm>
          <a:prstGeom prst="roundRect">
            <a:avLst/>
          </a:prstGeom>
          <a:solidFill>
            <a:srgbClr val="F4B942"/>
          </a:solidFill>
          <a:ln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33087" y="2359152"/>
            <a:ext cx="2578608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 i="0">
                <a:solidFill>
                  <a:srgbClr val="102A43"/>
                </a:solidFill>
                <a:latin typeface="Arial"/>
              </a:defRPr>
            </a:pPr>
            <a:r>
              <a:t>Điểm sao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2734056"/>
            <a:ext cx="2560320" cy="9326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30" b="0" i="0">
                <a:solidFill>
                  <a:srgbClr val="102A43"/>
                </a:solidFill>
                <a:latin typeface="Arial"/>
              </a:defRPr>
            </a:pPr>
            <a:r>
              <a:t>Chấm một đánh giá tổng thể từ 1 đến 5 sao.</a:t>
            </a:r>
          </a:p>
        </p:txBody>
      </p:sp>
      <p:sp>
        <p:nvSpPr>
          <p:cNvPr id="18" name="Chevron 17"/>
          <p:cNvSpPr/>
          <p:nvPr/>
        </p:nvSpPr>
        <p:spPr>
          <a:xfrm>
            <a:off x="7178040" y="2633472"/>
            <a:ext cx="585216" cy="566928"/>
          </a:xfrm>
          <a:prstGeom prst="chevron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28431" y="1591056"/>
            <a:ext cx="3401568" cy="2834640"/>
          </a:xfrm>
          <a:prstGeom prst="roundRect">
            <a:avLst/>
          </a:prstGeom>
          <a:solidFill>
            <a:srgbClr val="071A2D"/>
          </a:solidFill>
          <a:ln>
            <a:solidFill>
              <a:srgbClr val="071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2752" y="1920240"/>
            <a:ext cx="283464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7EE5DC"/>
                </a:solidFill>
                <a:latin typeface="Arial"/>
              </a:defRPr>
            </a:pPr>
            <a:r>
              <a:t>ĐIỂM XUẤT PHÁT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2340864"/>
            <a:ext cx="2907792" cy="10515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300" b="1" i="0">
                <a:solidFill>
                  <a:srgbClr val="FFFFFF"/>
                </a:solidFill>
                <a:latin typeface="Arial"/>
              </a:defRPr>
            </a:pPr>
            <a:r>
              <a:t>Viết một đằng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2300" b="1" i="0">
                <a:solidFill>
                  <a:srgbClr val="FFFFFF"/>
                </a:solidFill>
                <a:latin typeface="Arial"/>
              </a:defRPr>
            </a:pPr>
            <a:r>
              <a:t>nhưng chấm sao một nẻo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749039"/>
            <a:ext cx="265176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C7D5E0"/>
                </a:solidFill>
                <a:latin typeface="Arial"/>
              </a:defRPr>
            </a:pPr>
            <a:r>
              <a:t>Nhóm nghiên cứu chính những ca này,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C7D5E0"/>
                </a:solidFill>
                <a:latin typeface="Arial"/>
              </a:defRPr>
            </a:pPr>
            <a:r>
              <a:t>thay vì coi chúng là lỗi dữ liệu.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4736592"/>
            <a:ext cx="4754880" cy="310896"/>
          </a:xfrm>
          <a:prstGeom prst="roundRect">
            <a:avLst/>
          </a:prstGeom>
          <a:solidFill>
            <a:srgbClr val="EBF2FF"/>
          </a:solidFill>
          <a:ln>
            <a:solidFill>
              <a:srgbClr val="EB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4773168"/>
            <a:ext cx="47548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2D6CDF"/>
                </a:solidFill>
                <a:latin typeface="Arial"/>
              </a:defRPr>
            </a:pPr>
            <a:r>
              <a:t>Không phải mọi tín hiệu văn bản và điểm sao đều ăn khớp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01 · VÍ DỤ CỤ THỂ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t>Hai hướng của sự không khớp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27048"/>
            <a:ext cx="5285232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1527048"/>
            <a:ext cx="5285232" cy="109728"/>
          </a:xfrm>
          <a:prstGeom prst="roundRect">
            <a:avLst/>
          </a:prstGeom>
          <a:solidFill>
            <a:srgbClr val="F4B942"/>
          </a:solidFill>
          <a:ln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83080"/>
            <a:ext cx="384048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4B942"/>
                </a:solidFill>
                <a:latin typeface="Arial"/>
              </a:defRPr>
            </a:pPr>
            <a: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1856231"/>
            <a:ext cx="4370832" cy="24048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 i="1">
                <a:solidFill>
                  <a:srgbClr val="102A43"/>
                </a:solidFill>
                <a:latin typeface="Arial"/>
              </a:defRPr>
            </a:pPr>
            <a:r>
              <a:t>Phòng sạch, nhân viên thân thiện, nhưng điều hoà kêu rất to và wifi yếu. Nhìn chung vẫn là chỗ ổn.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453128"/>
            <a:ext cx="758952" cy="310896"/>
          </a:xfrm>
          <a:prstGeom prst="roundRect">
            <a:avLst/>
          </a:prstGeom>
          <a:solidFill>
            <a:srgbClr val="FFF4D6"/>
          </a:solidFill>
          <a:ln>
            <a:solidFill>
              <a:srgbClr val="FFF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489704"/>
            <a:ext cx="75895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071A2D"/>
                </a:solidFill>
                <a:latin typeface="Arial"/>
              </a:defRPr>
            </a:pPr>
            <a:r>
              <a:t>5 SAO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55648" y="4507992"/>
            <a:ext cx="39136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 i="0">
                <a:solidFill>
                  <a:srgbClr val="F4B942"/>
                </a:solidFill>
                <a:latin typeface="Arial"/>
              </a:defRPr>
            </a:pPr>
            <a:r>
              <a:t>Chê một số điểm · vẫn chấm cao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527048"/>
            <a:ext cx="5285232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36208" y="1527048"/>
            <a:ext cx="5285232" cy="109728"/>
          </a:xfrm>
          <a:prstGeom prst="roundRect">
            <a:avLst/>
          </a:prstGeom>
          <a:solidFill>
            <a:srgbClr val="D55454"/>
          </a:solidFill>
          <a:ln>
            <a:solidFill>
              <a:srgbClr val="D55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783080"/>
            <a:ext cx="384048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D55454"/>
                </a:solidFill>
                <a:latin typeface="Arial"/>
              </a:defRPr>
            </a:pPr>
            <a:r>
              <a:t>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6288" y="1856231"/>
            <a:ext cx="4370832" cy="24048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 i="1">
                <a:solidFill>
                  <a:srgbClr val="102A43"/>
                </a:solidFill>
                <a:latin typeface="Arial"/>
              </a:defRPr>
            </a:pPr>
            <a:r>
              <a:t>Vị trí tuyệt vời, phòng đẹp, ăn sáng ngon. Nhưng tiếng ồn buổi tối khiến tôi không ngủ được.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453128"/>
            <a:ext cx="758952" cy="310896"/>
          </a:xfrm>
          <a:prstGeom prst="roundRect">
            <a:avLst/>
          </a:prstGeom>
          <a:solidFill>
            <a:srgbClr val="FCEBEB"/>
          </a:solidFill>
          <a:ln>
            <a:solidFill>
              <a:srgbClr val="FC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489704"/>
            <a:ext cx="75895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071A2D"/>
                </a:solidFill>
                <a:latin typeface="Arial"/>
              </a:defRPr>
            </a:pPr>
            <a:r>
              <a:t>2 SAO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4507992"/>
            <a:ext cx="39136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 i="0">
                <a:solidFill>
                  <a:srgbClr val="D55454"/>
                </a:solidFill>
                <a:latin typeface="Arial"/>
              </a:defRPr>
            </a:pPr>
            <a:r>
              <a:t>Khen nhiều điểm · vẫn chấm thấp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93392" y="5248656"/>
            <a:ext cx="8211312" cy="612648"/>
          </a:xfrm>
          <a:prstGeom prst="roundRect">
            <a:avLst/>
          </a:prstGeom>
          <a:solidFill>
            <a:srgbClr val="E6F7F6"/>
          </a:solidFill>
          <a:ln>
            <a:solidFill>
              <a:srgbClr val="E6F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67128" y="5422392"/>
            <a:ext cx="786384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50" b="1" i="0">
                <a:solidFill>
                  <a:srgbClr val="071A2D"/>
                </a:solidFill>
                <a:latin typeface="Arial"/>
              </a:defRPr>
            </a:pPr>
            <a:r>
              <a:t>Cùng một kiểu “không khớp”, nhưng có hai chiều hành vi đối nghịch.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02 · KHOẢNG TRỐNG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t>Vì sao hiện tượng này quan trọng?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499616"/>
            <a:ext cx="5330952" cy="3639312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499616"/>
            <a:ext cx="64008" cy="3639312"/>
          </a:xfrm>
          <a:prstGeom prst="round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1645919"/>
            <a:ext cx="5001768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 i="0">
                <a:solidFill>
                  <a:srgbClr val="102A43"/>
                </a:solidFill>
                <a:latin typeface="Arial"/>
              </a:defRPr>
            </a:pPr>
            <a:r>
              <a:t>Đối với nghiên cứu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020824"/>
            <a:ext cx="4983480" cy="3017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r>
              <a:t>• Nhiều mô hình cảm xúc dùng điểm sao làm nhãn huấn luyện.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r>
              <a:t>• Khi sao không phản ánh đúng văn bản, mô hình học từ nhãn yếu — và sai một cách âm thầm.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r>
              <a:t>• Các ca lệch thường bị coi là nhiễu để loại bỏ, thay vì đối tượng cần phân tích.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499616"/>
            <a:ext cx="5330952" cy="3639312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72200" y="1499616"/>
            <a:ext cx="64008" cy="3639312"/>
          </a:xfrm>
          <a:prstGeom prst="roundRect">
            <a:avLst/>
          </a:prstGeom>
          <a:solidFill>
            <a:srgbClr val="F4B942"/>
          </a:solidFill>
          <a:ln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1645919"/>
            <a:ext cx="5001768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 i="0">
                <a:solidFill>
                  <a:srgbClr val="102A43"/>
                </a:solidFill>
                <a:latin typeface="Arial"/>
              </a:defRPr>
            </a:pPr>
            <a:r>
              <a:t>Đối với quản trị khách sạn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020824"/>
            <a:ext cx="4983480" cy="3017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r>
              <a:t>• Nhìn được khía cạnh nào khách sẵn sàng bỏ qua.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r>
              <a:t>• Nhìn được khía cạnh nào có thể dìm toàn bộ điểm số.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r>
              <a:t>• Từ đó phân bổ nguồn lực đúng chỗ: sửa cơ sở vật chất hay đào tạo nhân viên.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47672" y="5431536"/>
            <a:ext cx="8321040" cy="310896"/>
          </a:xfrm>
          <a:prstGeom prst="roundRect">
            <a:avLst/>
          </a:prstGeom>
          <a:solidFill>
            <a:srgbClr val="EBF2FF"/>
          </a:solidFill>
          <a:ln>
            <a:solidFill>
              <a:srgbClr val="EB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7672" y="5468112"/>
            <a:ext cx="832104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2D6CDF"/>
                </a:solidFill>
                <a:latin typeface="Arial"/>
              </a:defRPr>
            </a:pPr>
            <a:r>
              <a:t>Mục tiêu không phải “làm sạch” dữ liệu — mà là giải thích mẫu hành vi quan sát được.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02 · BẰNG CHỨNG BAN ĐẦU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t>Dữ liệu của nhóm cho thấy hiện tượng có thật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417320"/>
            <a:ext cx="107899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t>TripAdvisor tiếng Anh · 2015–2023 · 9.990 review · 2.622 khách sạn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965960"/>
            <a:ext cx="251460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084831"/>
            <a:ext cx="2240280" cy="484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700" b="1" i="0">
                <a:solidFill>
                  <a:srgbClr val="F4B942"/>
                </a:solidFill>
                <a:latin typeface="Arial"/>
              </a:defRPr>
            </a:pPr>
            <a:r>
              <a:t>394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2651760"/>
            <a:ext cx="22402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102A43"/>
                </a:solidFill>
                <a:latin typeface="Arial"/>
              </a:defRPr>
            </a:pPr>
            <a:r>
              <a:t>Review 5 sao vẫn chứa phàn nàn tiêu cực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0712" y="1965960"/>
            <a:ext cx="251460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2084831"/>
            <a:ext cx="2240280" cy="484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700" b="1" i="0">
                <a:solidFill>
                  <a:srgbClr val="D55454"/>
                </a:solidFill>
                <a:latin typeface="Arial"/>
              </a:defRPr>
            </a:pPr>
            <a:r>
              <a:t>199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2651760"/>
            <a:ext cx="22402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102A43"/>
                </a:solidFill>
                <a:latin typeface="Arial"/>
              </a:defRPr>
            </a:pPr>
            <a:r>
              <a:t>Review 1–2 sao vẫn chứa lời khen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08192" y="1965960"/>
            <a:ext cx="251460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5352" y="2084831"/>
            <a:ext cx="2240280" cy="484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700" b="1" i="0">
                <a:solidFill>
                  <a:srgbClr val="00A6A6"/>
                </a:solidFill>
                <a:latin typeface="Arial"/>
              </a:defRPr>
            </a:pPr>
            <a:r>
              <a:t>593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5352" y="2651760"/>
            <a:ext cx="22402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102A43"/>
                </a:solidFill>
                <a:latin typeface="Arial"/>
              </a:defRPr>
            </a:pPr>
            <a:r>
              <a:t>Tổng số review đáng ngờ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05672" y="1965960"/>
            <a:ext cx="251460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42832" y="2084831"/>
            <a:ext cx="2240280" cy="484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700" b="1" i="0">
                <a:solidFill>
                  <a:srgbClr val="2D6CDF"/>
                </a:solidFill>
                <a:latin typeface="Arial"/>
              </a:defRPr>
            </a:pPr>
            <a:r>
              <a:t>461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2832" y="2651760"/>
            <a:ext cx="22402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102A43"/>
                </a:solidFill>
                <a:latin typeface="Arial"/>
              </a:defRPr>
            </a:pPr>
            <a:r>
              <a:t>Khách sạn có ca đáng ngờ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3520440"/>
            <a:ext cx="10607040" cy="1143000"/>
          </a:xfrm>
          <a:prstGeom prst="roundRect">
            <a:avLst/>
          </a:prstGeom>
          <a:solidFill>
            <a:srgbClr val="E6F7F6"/>
          </a:solidFill>
          <a:ln>
            <a:solidFill>
              <a:srgbClr val="E6F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3730752"/>
            <a:ext cx="1010412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 i="0">
                <a:solidFill>
                  <a:srgbClr val="071A2D"/>
                </a:solidFill>
                <a:latin typeface="Arial"/>
              </a:defRPr>
            </a:pPr>
            <a:r>
              <a:t>394 + 199 không phải chỉ là một vài dòng dữ liệu “lạ”; chúng tạo thành một mẫu hành vi có cấu trúc.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38928"/>
            <a:ext cx="105156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52677D"/>
                </a:solidFill>
                <a:latin typeface="Arial"/>
              </a:defRPr>
            </a:pPr>
            <a:r>
              <a:t>Nguồn: tính trực tiếp trên data/TripAdvisor_EN.json, 22/09/2026. 199 ca được tính trên tổng 465 review 1–2 sao.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02 · VẤN ĐỀ PHƯƠNG PHÁP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t>Cách làm phổ biến hiện nay làm mất chiều hành vi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56231"/>
            <a:ext cx="2971800" cy="2084831"/>
          </a:xfrm>
          <a:prstGeom prst="roundRect">
            <a:avLst/>
          </a:prstGeom>
          <a:solidFill>
            <a:srgbClr val="EBF2FF"/>
          </a:solidFill>
          <a:ln>
            <a:solidFill>
              <a:srgbClr val="EB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2057400"/>
            <a:ext cx="347472" cy="347472"/>
          </a:xfrm>
          <a:prstGeom prst="ellipse">
            <a:avLst/>
          </a:prstGeom>
          <a:solidFill>
            <a:srgbClr val="2D6CDF"/>
          </a:solidFill>
          <a:ln>
            <a:solidFill>
              <a:srgbClr val="2D6C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125980"/>
            <a:ext cx="34747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075688"/>
            <a:ext cx="19202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t>Giả định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2679192"/>
            <a:ext cx="2404872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r>
              <a:t>Khen → 5 sao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r>
              <a:t>Chê → 1 sao</a:t>
            </a:r>
          </a:p>
        </p:txBody>
      </p:sp>
      <p:sp>
        <p:nvSpPr>
          <p:cNvPr id="14" name="Chevron 13"/>
          <p:cNvSpPr/>
          <p:nvPr/>
        </p:nvSpPr>
        <p:spPr>
          <a:xfrm>
            <a:off x="3858768" y="2532888"/>
            <a:ext cx="384048" cy="475488"/>
          </a:xfrm>
          <a:prstGeom prst="chevron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34840" y="1856231"/>
            <a:ext cx="2971800" cy="2084831"/>
          </a:xfrm>
          <a:prstGeom prst="roundRect">
            <a:avLst/>
          </a:prstGeom>
          <a:solidFill>
            <a:srgbClr val="FFF4D6"/>
          </a:solidFill>
          <a:ln>
            <a:solidFill>
              <a:srgbClr val="FFF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36007" y="2057400"/>
            <a:ext cx="347472" cy="347472"/>
          </a:xfrm>
          <a:prstGeom prst="ellipse">
            <a:avLst/>
          </a:prstGeom>
          <a:solidFill>
            <a:srgbClr val="F4B942"/>
          </a:solidFill>
          <a:ln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36007" y="2125980"/>
            <a:ext cx="34747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2075688"/>
            <a:ext cx="19202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t>Xử lý lệch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2679192"/>
            <a:ext cx="2404872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r>
              <a:t>Coi là lỗi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r>
              <a:t>Xoá khỏi tập huấn luyện</a:t>
            </a:r>
          </a:p>
        </p:txBody>
      </p:sp>
      <p:sp>
        <p:nvSpPr>
          <p:cNvPr id="20" name="Chevron 19"/>
          <p:cNvSpPr/>
          <p:nvPr/>
        </p:nvSpPr>
        <p:spPr>
          <a:xfrm>
            <a:off x="7562088" y="2532888"/>
            <a:ext cx="384048" cy="475488"/>
          </a:xfrm>
          <a:prstGeom prst="chevron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38160" y="1856231"/>
            <a:ext cx="2971800" cy="2084831"/>
          </a:xfrm>
          <a:prstGeom prst="roundRect">
            <a:avLst/>
          </a:prstGeom>
          <a:solidFill>
            <a:srgbClr val="FCEBEB"/>
          </a:solidFill>
          <a:ln>
            <a:solidFill>
              <a:srgbClr val="FC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339328" y="2057400"/>
            <a:ext cx="347472" cy="347472"/>
          </a:xfrm>
          <a:prstGeom prst="ellipse">
            <a:avLst/>
          </a:prstGeom>
          <a:solidFill>
            <a:srgbClr val="D55454"/>
          </a:solidFill>
          <a:ln>
            <a:solidFill>
              <a:srgbClr val="D55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8" y="2125980"/>
            <a:ext cx="34747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60" y="2075688"/>
            <a:ext cx="19202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t>Đo độ lệch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2679192"/>
            <a:ext cx="2404872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r>
              <a:t>|Điểm − Cảm xúc|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r>
              <a:t>Trị tuyệt đối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72768" y="4617720"/>
            <a:ext cx="9015984" cy="749808"/>
          </a:xfrm>
          <a:prstGeom prst="roundRect">
            <a:avLst/>
          </a:prstGeom>
          <a:solidFill>
            <a:srgbClr val="071A2D"/>
          </a:solidFill>
          <a:ln>
            <a:solidFill>
              <a:srgbClr val="071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83080" y="4837176"/>
            <a:ext cx="85953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FFFFFF"/>
                </a:solidFill>
                <a:latin typeface="Arial"/>
              </a:defRPr>
            </a:pPr>
            <a:r>
              <a:t>Trị tuyệt đối cho biết độ lớn — nhưng không cho biết khách cho thêm điểm hay dìm điểm.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02 · BÀI BÁO ĐỐI CHUẨN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t>Kế thừa bài gốc — và phản biện ba điểm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417320"/>
            <a:ext cx="108356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 i="0">
                <a:solidFill>
                  <a:srgbClr val="071A2D"/>
                </a:solidFill>
                <a:latin typeface="Arial"/>
              </a:defRPr>
            </a:pPr>
            <a:r>
              <a:t>Le et al. (2026) · International Journal of Hospitality Management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47088"/>
            <a:ext cx="5916168" cy="310896"/>
          </a:xfrm>
          <a:prstGeom prst="roundRect">
            <a:avLst/>
          </a:prstGeom>
          <a:solidFill>
            <a:srgbClr val="E6F7F6"/>
          </a:solidFill>
          <a:ln>
            <a:solidFill>
              <a:srgbClr val="E6F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883664"/>
            <a:ext cx="5916168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1" i="0">
                <a:solidFill>
                  <a:srgbClr val="007B7B"/>
                </a:solidFill>
                <a:latin typeface="Arial"/>
              </a:defRPr>
            </a:pPr>
            <a:r>
              <a:t>Kế thừa: S-O-R · bối cảnh review khách sạn · tách khía cạnh · dữ liệu đối chuẩn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432304"/>
            <a:ext cx="3364992" cy="2414016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3232" y="2432304"/>
            <a:ext cx="64008" cy="2414016"/>
          </a:xfrm>
          <a:prstGeom prst="roundRect">
            <a:avLst/>
          </a:prstGeom>
          <a:solidFill>
            <a:srgbClr val="D55454"/>
          </a:solidFill>
          <a:ln>
            <a:solidFill>
              <a:srgbClr val="D55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578608"/>
            <a:ext cx="3035808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1" i="0">
                <a:solidFill>
                  <a:srgbClr val="102A43"/>
                </a:solidFill>
                <a:latin typeface="Arial"/>
              </a:defRPr>
            </a:pPr>
            <a:r>
              <a:t>Giả định đơn điệu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953512"/>
            <a:ext cx="3017520" cy="17922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60" b="0" i="0">
                <a:solidFill>
                  <a:srgbClr val="102A43"/>
                </a:solidFill>
                <a:latin typeface="Arial"/>
              </a:defRPr>
            </a:pPr>
            <a:r>
              <a:t>Cảm xúc tích cực → điểm tăng; tiêu cực → điểm giảm. Nhưng không giải thích được 394 review 5 sao vẫn có phàn nàn.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334256"/>
            <a:ext cx="457200" cy="310896"/>
          </a:xfrm>
          <a:prstGeom prst="roundRect">
            <a:avLst/>
          </a:prstGeom>
          <a:solidFill>
            <a:srgbClr val="EEF3F7"/>
          </a:solidFill>
          <a:ln>
            <a:solidFill>
              <a:srgbClr val="EEF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370832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52677D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98264" y="2432304"/>
            <a:ext cx="3364992" cy="2414016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98264" y="2432304"/>
            <a:ext cx="64008" cy="2414016"/>
          </a:xfrm>
          <a:prstGeom prst="roundRect">
            <a:avLst/>
          </a:prstGeom>
          <a:solidFill>
            <a:srgbClr val="F4B942"/>
          </a:solidFill>
          <a:ln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9432" y="2578608"/>
            <a:ext cx="3035808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1" i="0">
                <a:solidFill>
                  <a:srgbClr val="102A43"/>
                </a:solidFill>
                <a:latin typeface="Arial"/>
              </a:defRPr>
            </a:pPr>
            <a:r>
              <a:t>Lập luận vòng ở Loyalty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9432" y="2953512"/>
            <a:ext cx="3017520" cy="17922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60" b="0" i="0">
                <a:solidFill>
                  <a:srgbClr val="102A43"/>
                </a:solidFill>
                <a:latin typeface="Arial"/>
              </a:defRPr>
            </a:pPr>
            <a:r>
              <a:t>Câu “sẽ quay lại / khuyến khích” được dùng để giải thích chính điểm số — dùng vế lời giải thích vế số.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99432" y="4334256"/>
            <a:ext cx="457200" cy="310896"/>
          </a:xfrm>
          <a:prstGeom prst="roundRect">
            <a:avLst/>
          </a:prstGeom>
          <a:solidFill>
            <a:srgbClr val="EEF3F7"/>
          </a:solidFill>
          <a:ln>
            <a:solidFill>
              <a:srgbClr val="EEF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99432" y="4370832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52677D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83296" y="2432304"/>
            <a:ext cx="3364992" cy="2414016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83296" y="2432304"/>
            <a:ext cx="64008" cy="2414016"/>
          </a:xfrm>
          <a:prstGeom prst="roundRect">
            <a:avLst/>
          </a:prstGeom>
          <a:solidFill>
            <a:srgbClr val="2D6CDF"/>
          </a:solidFill>
          <a:ln>
            <a:solidFill>
              <a:srgbClr val="2D6C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84464" y="2578608"/>
            <a:ext cx="3035808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1" i="0">
                <a:solidFill>
                  <a:srgbClr val="102A43"/>
                </a:solidFill>
                <a:latin typeface="Arial"/>
              </a:defRPr>
            </a:pPr>
            <a:r>
              <a:t>Trộn hai trục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4464" y="2953512"/>
            <a:ext cx="3017520" cy="17922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60" b="0" i="0">
                <a:solidFill>
                  <a:srgbClr val="102A43"/>
                </a:solidFill>
                <a:latin typeface="Arial"/>
              </a:defRPr>
            </a:pPr>
            <a:r>
              <a:t>“Khách nói về cái gì” (khía cạnh) khác với “khách cảm thấy như thế nào” (cảm xúc).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84464" y="4334256"/>
            <a:ext cx="457200" cy="310896"/>
          </a:xfrm>
          <a:prstGeom prst="roundRect">
            <a:avLst/>
          </a:prstGeom>
          <a:solidFill>
            <a:srgbClr val="EEF3F7"/>
          </a:solidFill>
          <a:ln>
            <a:solidFill>
              <a:srgbClr val="EEF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84464" y="4370832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52677D"/>
                </a:solidFill>
                <a:latin typeface="Arial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02 · RESEARCH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t>Khoảng trống nghiên cứu — và ranh giới nhóm tự đặt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490472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490472"/>
            <a:ext cx="64008" cy="1828800"/>
          </a:xfrm>
          <a:prstGeom prst="round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1636775"/>
            <a:ext cx="4974336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 i="0">
                <a:solidFill>
                  <a:srgbClr val="102A43"/>
                </a:solidFill>
                <a:latin typeface="Arial"/>
              </a:defRPr>
            </a:pPr>
            <a:r>
              <a:t>Khoảng trống đo lường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011679"/>
            <a:ext cx="4956048" cy="1207007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r>
              <a:t>Chưa có phép đo giữ đồng thời độ lớn + chiều ở cấp khía cạnh, trên dữ liệu review khách sạn.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490472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99632" y="1490472"/>
            <a:ext cx="64008" cy="1828800"/>
          </a:xfrm>
          <a:prstGeom prst="roundRect">
            <a:avLst/>
          </a:prstGeom>
          <a:solidFill>
            <a:srgbClr val="2D6CDF"/>
          </a:solidFill>
          <a:ln>
            <a:solidFill>
              <a:srgbClr val="2D6C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636775"/>
            <a:ext cx="4974336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 i="0">
                <a:solidFill>
                  <a:srgbClr val="102A43"/>
                </a:solidFill>
                <a:latin typeface="Arial"/>
              </a:defRPr>
            </a:pPr>
            <a:r>
              <a:t>Khoảng trống hành vi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011679"/>
            <a:ext cx="4956048" cy="1207007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r>
              <a:t>Chưa kiểm định trực tiếp việc nhiều khía cạnh kết hợp bất đối xứng để tạo độ lệch trên điểm sao quan sát được.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685032"/>
            <a:ext cx="10817352" cy="1417320"/>
          </a:xfrm>
          <a:prstGeom prst="roundRect">
            <a:avLst/>
          </a:prstGeom>
          <a:solidFill>
            <a:srgbClr val="FFF4D6"/>
          </a:solidFill>
          <a:ln>
            <a:solidFill>
              <a:srgbClr val="FFF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86200"/>
            <a:ext cx="1033272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071A2D"/>
                </a:solidFill>
                <a:latin typeface="Arial"/>
              </a:defRPr>
            </a:pPr>
            <a:r>
              <a:t>Ba giới hạn phải tuyên bố rõ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315968"/>
            <a:ext cx="101498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300"/>
              </a:spcAft>
              <a:defRPr sz="1250">
                <a:solidFill>
                  <a:srgbClr val="102A43"/>
                </a:solidFill>
                <a:latin typeface="Arial"/>
              </a:defRPr>
            </a:pPr>
            <a:r>
              <a:t>• Đóng góp thu hẹp: độ lệch có dấu ở cấp khía cạnh; labeling data thay vì topic modeling gộp.</a:t>
            </a:r>
          </a:p>
          <a:p>
            <a:pPr>
              <a:spcAft>
                <a:spcPts val="300"/>
              </a:spcAft>
              <a:defRPr sz="1250">
                <a:solidFill>
                  <a:srgbClr val="102A43"/>
                </a:solidFill>
                <a:latin typeface="Arial"/>
              </a:defRPr>
            </a:pPr>
            <a:r>
              <a:t>• Không suy ra nhân quả hay trạng thái tâm lý nội tại của khách hàng từ dữ liệu công khai.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03 · CÂU HỎI NGHIÊN CỨU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t>Ba câu hỏi nghiên cứu và ba câu hỏi kỹ thuật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72768"/>
            <a:ext cx="3337560" cy="1956816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1773936"/>
            <a:ext cx="621792" cy="310896"/>
          </a:xfrm>
          <a:prstGeom prst="roundRect">
            <a:avLst/>
          </a:prstGeom>
          <a:solidFill>
            <a:srgbClr val="E6F7F6"/>
          </a:solidFill>
          <a:ln>
            <a:solidFill>
              <a:srgbClr val="E6F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810512"/>
            <a:ext cx="62179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00A6A6"/>
                </a:solidFill>
                <a:latin typeface="Arial"/>
              </a:defRPr>
            </a:pPr>
            <a:r>
              <a:t>RQ1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819656"/>
            <a:ext cx="2011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 i="0">
                <a:solidFill>
                  <a:srgbClr val="52677D"/>
                </a:solidFill>
                <a:latin typeface="Arial"/>
              </a:defRPr>
            </a:pPr>
            <a:r>
              <a:t>Khám phá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04288"/>
            <a:ext cx="2788920" cy="7498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02A43"/>
                </a:solidFill>
                <a:latin typeface="Arial"/>
              </a:defRPr>
            </a:pPr>
            <a:r>
              <a:t>Tần suất bao nhiêu?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02A43"/>
                </a:solidFill>
                <a:latin typeface="Arial"/>
              </a:defRPr>
            </a:pPr>
            <a:r>
              <a:t>Có những dạng có hướng nào?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0832" y="1572768"/>
            <a:ext cx="3337560" cy="1956816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0" y="1773936"/>
            <a:ext cx="621792" cy="310896"/>
          </a:xfrm>
          <a:prstGeom prst="roundRect">
            <a:avLst/>
          </a:prstGeom>
          <a:solidFill>
            <a:srgbClr val="EBF2FF"/>
          </a:solidFill>
          <a:ln>
            <a:solidFill>
              <a:srgbClr val="EB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810512"/>
            <a:ext cx="62179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2D6CDF"/>
                </a:solidFill>
                <a:latin typeface="Arial"/>
              </a:defRPr>
            </a:pPr>
            <a:r>
              <a:t>RQ2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1819656"/>
            <a:ext cx="2011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 i="0">
                <a:solidFill>
                  <a:srgbClr val="52677D"/>
                </a:solidFill>
                <a:latin typeface="Arial"/>
              </a:defRPr>
            </a:pPr>
            <a:r>
              <a:t>Phương pháp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2304288"/>
            <a:ext cx="2788920" cy="7498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02A43"/>
                </a:solidFill>
                <a:latin typeface="Arial"/>
              </a:defRPr>
            </a:pPr>
            <a:r>
              <a:t>Lượng hóa theo từng khía cạnh thế nào để giữ độ lớn lẫn chiều?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28431" y="1572768"/>
            <a:ext cx="3337560" cy="1956816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0" y="1773936"/>
            <a:ext cx="621792" cy="310896"/>
          </a:xfrm>
          <a:prstGeom prst="roundRect">
            <a:avLst/>
          </a:prstGeom>
          <a:solidFill>
            <a:srgbClr val="FFF4D6"/>
          </a:solidFill>
          <a:ln>
            <a:solidFill>
              <a:srgbClr val="FFF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1810512"/>
            <a:ext cx="62179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071A2D"/>
                </a:solidFill>
                <a:latin typeface="Arial"/>
              </a:defRPr>
            </a:pPr>
            <a:r>
              <a:t>RQ3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19" y="1819656"/>
            <a:ext cx="2011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 i="0">
                <a:solidFill>
                  <a:srgbClr val="52677D"/>
                </a:solidFill>
                <a:latin typeface="Arial"/>
              </a:defRPr>
            </a:pPr>
            <a:r>
              <a:t>Cơ chế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2304288"/>
            <a:ext cx="2788920" cy="7498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02A43"/>
                </a:solidFill>
                <a:latin typeface="Arial"/>
              </a:defRPr>
            </a:pPr>
            <a:r>
              <a:t>Cảm xúc tích cực / tiêu cực trên nhiều khía cạnh kết hợp bất đối xứng thế nào?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977639"/>
            <a:ext cx="10652760" cy="1353312"/>
          </a:xfrm>
          <a:prstGeom prst="roundRect">
            <a:avLst/>
          </a:prstGeom>
          <a:solidFill>
            <a:srgbClr val="071A2D"/>
          </a:solidFill>
          <a:ln>
            <a:solidFill>
              <a:srgbClr val="071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4169663"/>
            <a:ext cx="2926080" cy="2103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7EE5DC"/>
                </a:solidFill>
                <a:latin typeface="Arial"/>
              </a:defRPr>
            </a:pPr>
            <a:r>
              <a:t>Nhánh dự báo của môn học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4553712"/>
            <a:ext cx="982980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50" b="1" i="0">
                <a:solidFill>
                  <a:srgbClr val="FFFFFF"/>
                </a:solidFill>
                <a:latin typeface="Arial"/>
              </a:defRPr>
            </a:pPr>
            <a:r>
              <a:t>Sub-RQ1: 5 mô hình dự đoán điểm  ·  Sub-RQ2: phân bố phần dư  ·  Sub-RQ3: dự đoán review bị dìm điểm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04 · PHƯƠNG PHÁP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t>Phương pháp: ba tầng liên kết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90472"/>
            <a:ext cx="201168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071A2D"/>
                </a:solidFill>
                <a:latin typeface="Arial"/>
              </a:defRPr>
            </a:pPr>
            <a:r>
              <a:t>Văn bản review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10512" y="1773936"/>
            <a:ext cx="0" cy="3575304"/>
          </a:xfrm>
          <a:prstGeom prst="line">
            <a:avLst/>
          </a:prstGeom>
          <a:ln w="19050">
            <a:solidFill>
              <a:srgbClr val="00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1581912" y="1609344"/>
            <a:ext cx="475488" cy="475488"/>
          </a:xfrm>
          <a:prstGeom prst="ellipse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81912" y="1737360"/>
            <a:ext cx="47548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1481328"/>
            <a:ext cx="841248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514600" y="1481328"/>
            <a:ext cx="64008" cy="1024128"/>
          </a:xfrm>
          <a:prstGeom prst="round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15768" y="1627632"/>
            <a:ext cx="8083296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50" b="1" i="0">
                <a:solidFill>
                  <a:srgbClr val="102A43"/>
                </a:solidFill>
                <a:latin typeface="Arial"/>
              </a:defRPr>
            </a:pPr>
            <a:r>
              <a:t>Xử lý ngôn ngữ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5768" y="2002536"/>
            <a:ext cx="8065007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80" b="0" i="0">
                <a:solidFill>
                  <a:srgbClr val="102A43"/>
                </a:solidFill>
                <a:latin typeface="Arial"/>
              </a:defRPr>
            </a:pPr>
            <a:r>
              <a:t>Trích tín hiệu cảm xúc theo từng khía cạnh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80" b="0" i="0">
                <a:solidFill>
                  <a:srgbClr val="102A43"/>
                </a:solidFill>
                <a:latin typeface="Arial"/>
              </a:defRPr>
            </a:pPr>
            <a:r>
              <a:t>(từ span do team gán nhãn độc lập).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37776" y="1719072"/>
            <a:ext cx="932688" cy="310896"/>
          </a:xfrm>
          <a:prstGeom prst="roundRect">
            <a:avLst/>
          </a:prstGeom>
          <a:solidFill>
            <a:srgbClr val="EEF3F7"/>
          </a:solidFill>
          <a:ln>
            <a:solidFill>
              <a:srgbClr val="EEF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37776" y="1755648"/>
            <a:ext cx="932688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930" b="1" i="0">
                <a:solidFill>
                  <a:srgbClr val="52677D"/>
                </a:solidFill>
                <a:latin typeface="Arial"/>
              </a:defRPr>
            </a:pPr>
            <a:r>
              <a:t>TẦNG 1</a:t>
            </a:r>
          </a:p>
        </p:txBody>
      </p:sp>
      <p:sp>
        <p:nvSpPr>
          <p:cNvPr id="19" name="Oval 18"/>
          <p:cNvSpPr/>
          <p:nvPr/>
        </p:nvSpPr>
        <p:spPr>
          <a:xfrm>
            <a:off x="1581912" y="3026664"/>
            <a:ext cx="475488" cy="475488"/>
          </a:xfrm>
          <a:prstGeom prst="ellipse">
            <a:avLst/>
          </a:prstGeom>
          <a:solidFill>
            <a:srgbClr val="2D6CDF"/>
          </a:solidFill>
          <a:ln>
            <a:solidFill>
              <a:srgbClr val="2D6C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1912" y="3154680"/>
            <a:ext cx="47548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14600" y="2898648"/>
            <a:ext cx="841248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14600" y="2898648"/>
            <a:ext cx="64008" cy="1024128"/>
          </a:xfrm>
          <a:prstGeom prst="roundRect">
            <a:avLst/>
          </a:prstGeom>
          <a:solidFill>
            <a:srgbClr val="2D6CDF"/>
          </a:solidFill>
          <a:ln>
            <a:solidFill>
              <a:srgbClr val="2D6C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15768" y="3044952"/>
            <a:ext cx="8083296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50" b="1" i="0">
                <a:solidFill>
                  <a:srgbClr val="102A43"/>
                </a:solidFill>
                <a:latin typeface="Arial"/>
              </a:defRPr>
            </a:pPr>
            <a:r>
              <a:t>Đo lường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5768" y="3419856"/>
            <a:ext cx="8065007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80" b="0" i="0">
                <a:solidFill>
                  <a:srgbClr val="102A43"/>
                </a:solidFill>
                <a:latin typeface="Arial"/>
              </a:defRPr>
            </a:pPr>
            <a:r>
              <a:t>So rating với sentiment text để có D theo khía cạnh — giữ cả độ lớn và chiều.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37776" y="3136392"/>
            <a:ext cx="932688" cy="310896"/>
          </a:xfrm>
          <a:prstGeom prst="roundRect">
            <a:avLst/>
          </a:prstGeom>
          <a:solidFill>
            <a:srgbClr val="EEF3F7"/>
          </a:solidFill>
          <a:ln>
            <a:solidFill>
              <a:srgbClr val="EEF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37776" y="3172968"/>
            <a:ext cx="932688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930" b="1" i="0">
                <a:solidFill>
                  <a:srgbClr val="52677D"/>
                </a:solidFill>
                <a:latin typeface="Arial"/>
              </a:defRPr>
            </a:pPr>
            <a:r>
              <a:t>TẦNG 2</a:t>
            </a:r>
          </a:p>
        </p:txBody>
      </p:sp>
      <p:sp>
        <p:nvSpPr>
          <p:cNvPr id="27" name="Oval 26"/>
          <p:cNvSpPr/>
          <p:nvPr/>
        </p:nvSpPr>
        <p:spPr>
          <a:xfrm>
            <a:off x="1581912" y="4443984"/>
            <a:ext cx="475488" cy="475488"/>
          </a:xfrm>
          <a:prstGeom prst="ellipse">
            <a:avLst/>
          </a:prstGeom>
          <a:solidFill>
            <a:srgbClr val="F4B942"/>
          </a:solidFill>
          <a:ln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81912" y="4572000"/>
            <a:ext cx="47548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14600" y="4315968"/>
            <a:ext cx="841248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514600" y="4315968"/>
            <a:ext cx="64008" cy="1024128"/>
          </a:xfrm>
          <a:prstGeom prst="roundRect">
            <a:avLst/>
          </a:prstGeom>
          <a:solidFill>
            <a:srgbClr val="F4B942"/>
          </a:solidFill>
          <a:ln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15768" y="4462272"/>
            <a:ext cx="8083296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50" b="1" i="0">
                <a:solidFill>
                  <a:srgbClr val="102A43"/>
                </a:solidFill>
                <a:latin typeface="Arial"/>
              </a:defRPr>
            </a:pPr>
            <a:r>
              <a:t>Kinh tế lượng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15768" y="4837176"/>
            <a:ext cx="8065007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80" b="0" i="0">
                <a:solidFill>
                  <a:srgbClr val="102A43"/>
                </a:solidFill>
                <a:latin typeface="Arial"/>
              </a:defRPr>
            </a:pPr>
            <a:r>
              <a:t>Xác định khía cạnh chi phối, khía cạnh bù trừ và điều kiện biên.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37776" y="4553712"/>
            <a:ext cx="932688" cy="310896"/>
          </a:xfrm>
          <a:prstGeom prst="roundRect">
            <a:avLst/>
          </a:prstGeom>
          <a:solidFill>
            <a:srgbClr val="EEF3F7"/>
          </a:solidFill>
          <a:ln>
            <a:solidFill>
              <a:srgbClr val="EEF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37776" y="4590288"/>
            <a:ext cx="932688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930" b="1" i="0">
                <a:solidFill>
                  <a:srgbClr val="52677D"/>
                </a:solidFill>
                <a:latin typeface="Arial"/>
              </a:defRPr>
            </a:pPr>
            <a:r>
              <a:t>TẦNG 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834640" y="5742432"/>
            <a:ext cx="7754112" cy="310896"/>
          </a:xfrm>
          <a:prstGeom prst="roundRect">
            <a:avLst/>
          </a:prstGeom>
          <a:solidFill>
            <a:srgbClr val="E6F7F6"/>
          </a:solidFill>
          <a:ln>
            <a:solidFill>
              <a:srgbClr val="E6F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34640" y="5779008"/>
            <a:ext cx="775411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007B7B"/>
                </a:solidFill>
                <a:latin typeface="Arial"/>
              </a:defRPr>
            </a:pPr>
            <a:r>
              <a:t>Đầu ra: một phép đo được kiểm chứng + mô hình giải thích mẫu chấm điểm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04 · QUY TRÌNH 5 BƯỚC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t>Validation trước khi chốt phép đo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1572768"/>
            <a:ext cx="1993392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6384" y="1764792"/>
            <a:ext cx="347472" cy="347472"/>
          </a:xfrm>
          <a:prstGeom prst="ellipse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1833372"/>
            <a:ext cx="34747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40864"/>
            <a:ext cx="160934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50" b="1" i="0">
                <a:solidFill>
                  <a:srgbClr val="071A2D"/>
                </a:solidFill>
                <a:latin typeface="Arial"/>
              </a:defRPr>
            </a:pPr>
            <a:r>
              <a:t>EDA &amp; toàn vẹn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944368"/>
            <a:ext cx="1609344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2677D"/>
                </a:solidFill>
                <a:latin typeface="Arial"/>
              </a:defRPr>
            </a:pPr>
            <a:r>
              <a:t>Đặc tả dữ liệu</a:t>
            </a:r>
          </a:p>
        </p:txBody>
      </p:sp>
      <p:sp>
        <p:nvSpPr>
          <p:cNvPr id="14" name="Chevron 13"/>
          <p:cNvSpPr/>
          <p:nvPr/>
        </p:nvSpPr>
        <p:spPr>
          <a:xfrm>
            <a:off x="2660904" y="2331720"/>
            <a:ext cx="201168" cy="310896"/>
          </a:xfrm>
          <a:prstGeom prst="chevron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26080" y="1572768"/>
            <a:ext cx="1993392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90672" y="1764792"/>
            <a:ext cx="347472" cy="347472"/>
          </a:xfrm>
          <a:prstGeom prst="ellipse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0672" y="1833372"/>
            <a:ext cx="34747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340864"/>
            <a:ext cx="160934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50" b="1" i="0">
                <a:solidFill>
                  <a:srgbClr val="071A2D"/>
                </a:solidFill>
                <a:latin typeface="Arial"/>
              </a:defRPr>
            </a:pPr>
            <a:r>
              <a:t>Tập đối chứng 600–800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944368"/>
            <a:ext cx="1609344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2677D"/>
                </a:solidFill>
                <a:latin typeface="Arial"/>
              </a:defRPr>
            </a:pPr>
            <a:r>
              <a:t>Có ca lệch + ca bình thường</a:t>
            </a:r>
          </a:p>
        </p:txBody>
      </p:sp>
      <p:sp>
        <p:nvSpPr>
          <p:cNvPr id="20" name="Chevron 19"/>
          <p:cNvSpPr/>
          <p:nvPr/>
        </p:nvSpPr>
        <p:spPr>
          <a:xfrm>
            <a:off x="4965192" y="2331720"/>
            <a:ext cx="201168" cy="310896"/>
          </a:xfrm>
          <a:prstGeom prst="chevron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30368" y="1572768"/>
            <a:ext cx="1993392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394959" y="1764792"/>
            <a:ext cx="347472" cy="347472"/>
          </a:xfrm>
          <a:prstGeom prst="ellipse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4959" y="1833372"/>
            <a:ext cx="34747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13248" y="2340864"/>
            <a:ext cx="160934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50" b="1" i="0">
                <a:solidFill>
                  <a:srgbClr val="071A2D"/>
                </a:solidFill>
                <a:latin typeface="Arial"/>
              </a:defRPr>
            </a:pPr>
            <a:r>
              <a:t>Hai người gán nhãn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944368"/>
            <a:ext cx="1609344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2677D"/>
                </a:solidFill>
                <a:latin typeface="Arial"/>
              </a:defRPr>
            </a:pPr>
            <a:r>
              <a:t>Cohen’s Kappa ≥ 0,70</a:t>
            </a:r>
          </a:p>
        </p:txBody>
      </p:sp>
      <p:sp>
        <p:nvSpPr>
          <p:cNvPr id="26" name="Chevron 25"/>
          <p:cNvSpPr/>
          <p:nvPr/>
        </p:nvSpPr>
        <p:spPr>
          <a:xfrm>
            <a:off x="7269479" y="2331720"/>
            <a:ext cx="201168" cy="310896"/>
          </a:xfrm>
          <a:prstGeom prst="chevron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534656" y="1572768"/>
            <a:ext cx="1993392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699248" y="1764792"/>
            <a:ext cx="347472" cy="347472"/>
          </a:xfrm>
          <a:prstGeom prst="ellipse">
            <a:avLst/>
          </a:prstGeom>
          <a:solidFill>
            <a:srgbClr val="2D6CDF"/>
          </a:solidFill>
          <a:ln>
            <a:solidFill>
              <a:srgbClr val="2D6C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99248" y="1833372"/>
            <a:ext cx="34747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17536" y="2340864"/>
            <a:ext cx="160934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50" b="1" i="0">
                <a:solidFill>
                  <a:srgbClr val="071A2D"/>
                </a:solidFill>
                <a:latin typeface="Arial"/>
              </a:defRPr>
            </a:pPr>
            <a:r>
              <a:t>So 3 công thức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17536" y="2944368"/>
            <a:ext cx="1609344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2677D"/>
                </a:solidFill>
                <a:latin typeface="Arial"/>
              </a:defRPr>
            </a:pPr>
            <a:r>
              <a:t>Chọn phép đo chính thức</a:t>
            </a:r>
          </a:p>
        </p:txBody>
      </p:sp>
      <p:sp>
        <p:nvSpPr>
          <p:cNvPr id="32" name="Chevron 31"/>
          <p:cNvSpPr/>
          <p:nvPr/>
        </p:nvSpPr>
        <p:spPr>
          <a:xfrm>
            <a:off x="9573768" y="2331720"/>
            <a:ext cx="201168" cy="310896"/>
          </a:xfrm>
          <a:prstGeom prst="chevron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38944" y="1572768"/>
            <a:ext cx="1993392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003536" y="1764792"/>
            <a:ext cx="347472" cy="347472"/>
          </a:xfrm>
          <a:prstGeom prst="ellipse">
            <a:avLst/>
          </a:prstGeom>
          <a:solidFill>
            <a:srgbClr val="F4B942"/>
          </a:solidFill>
          <a:ln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03536" y="1833372"/>
            <a:ext cx="34747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21824" y="2340864"/>
            <a:ext cx="160934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50" b="1" i="0">
                <a:solidFill>
                  <a:srgbClr val="071A2D"/>
                </a:solidFill>
                <a:latin typeface="Arial"/>
              </a:defRPr>
            </a:pPr>
            <a:r>
              <a:t>Mô hình hành vi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21824" y="2944368"/>
            <a:ext cx="1609344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2677D"/>
                </a:solidFill>
                <a:latin typeface="Arial"/>
              </a:defRPr>
            </a:pPr>
            <a:r>
              <a:t>Kết quả kiểm định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4096512"/>
            <a:ext cx="5285232" cy="1188720"/>
          </a:xfrm>
          <a:prstGeom prst="roundRect">
            <a:avLst/>
          </a:prstGeom>
          <a:solidFill>
            <a:srgbClr val="FCEBEB"/>
          </a:solidFill>
          <a:ln>
            <a:solidFill>
              <a:srgbClr val="FC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4297680"/>
            <a:ext cx="4846320" cy="2103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D55454"/>
                </a:solidFill>
                <a:latin typeface="Arial"/>
              </a:defRPr>
            </a:pPr>
            <a:r>
              <a:t>Ca bình thường là bắt buộc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645152"/>
            <a:ext cx="4782312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102A43"/>
                </a:solidFill>
                <a:latin typeface="Arial"/>
              </a:defRPr>
            </a:pPr>
            <a:r>
              <a:t>Nếu chỉ kiểm thử ca nghi ngờ, phép đo quá nhạy vẫn có thể “đúng” nhưng báo động giả liên tục.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90488" y="4096512"/>
            <a:ext cx="5285232" cy="1188720"/>
          </a:xfrm>
          <a:prstGeom prst="roundRect">
            <a:avLst/>
          </a:prstGeom>
          <a:solidFill>
            <a:srgbClr val="E6F7F6"/>
          </a:solidFill>
          <a:ln>
            <a:solidFill>
              <a:srgbClr val="E6F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4297680"/>
            <a:ext cx="4800600" cy="2103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007B7B"/>
                </a:solidFill>
                <a:latin typeface="Arial"/>
              </a:defRPr>
            </a:pPr>
            <a:r>
              <a:t>Tách hai họ mô hình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4645152"/>
            <a:ext cx="4773168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102A43"/>
                </a:solidFill>
                <a:latin typeface="Arial"/>
              </a:defRPr>
            </a:pPr>
            <a:r>
              <a:t>Mô hình dự đoán điểm học từ sao; bộ ước lượng cảm xúc học từ nhãn người gán. Không thay thế nhau.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04 · ĐO LƯỜNG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t>Chốt phép đo bằng ground truth — không theo trực giác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72768"/>
            <a:ext cx="3355848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1783080"/>
            <a:ext cx="914400" cy="310896"/>
          </a:xfrm>
          <a:prstGeom prst="roundRect">
            <a:avLst/>
          </a:prstGeom>
          <a:solidFill>
            <a:srgbClr val="E6F7F6"/>
          </a:solidFill>
          <a:ln>
            <a:solidFill>
              <a:srgbClr val="E6F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819656"/>
            <a:ext cx="9144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00A6A6"/>
                </a:solidFill>
                <a:latin typeface="Arial"/>
              </a:defRPr>
            </a:pPr>
            <a:r>
              <a:t>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76856"/>
            <a:ext cx="278892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t>Ma trận phân cực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t>có hướng 3×3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17520"/>
            <a:ext cx="278892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52677D"/>
                </a:solidFill>
                <a:latin typeface="Arial"/>
              </a:defRPr>
            </a:pPr>
            <a:r>
              <a:t>Nhãn lớp dễ diễn giải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572768"/>
            <a:ext cx="3355848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90288" y="1783080"/>
            <a:ext cx="914400" cy="310896"/>
          </a:xfrm>
          <a:prstGeom prst="roundRect">
            <a:avLst/>
          </a:prstGeom>
          <a:solidFill>
            <a:srgbClr val="EBF2FF"/>
          </a:solidFill>
          <a:ln>
            <a:solidFill>
              <a:srgbClr val="EB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0288" y="1819656"/>
            <a:ext cx="9144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2D6CDF"/>
                </a:solidFill>
                <a:latin typeface="Arial"/>
              </a:defRPr>
            </a:pPr>
            <a:r>
              <a:t>Ứng viên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276856"/>
            <a:ext cx="278892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t>Khoảng cách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t>chuẩn hóa có dấu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3017520"/>
            <a:ext cx="278892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52677D"/>
                </a:solidFill>
                <a:latin typeface="Arial"/>
              </a:defRPr>
            </a:pPr>
            <a:r>
              <a:t>Một số kèm dấu cho cả bài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65007" y="1572768"/>
            <a:ext cx="3355848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66175" y="1783080"/>
            <a:ext cx="914400" cy="310896"/>
          </a:xfrm>
          <a:prstGeom prst="roundRect">
            <a:avLst/>
          </a:prstGeom>
          <a:solidFill>
            <a:srgbClr val="FFF4D6"/>
          </a:solidFill>
          <a:ln>
            <a:solidFill>
              <a:srgbClr val="FFF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6175" y="1819656"/>
            <a:ext cx="9144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071A2D"/>
                </a:solidFill>
                <a:latin typeface="Arial"/>
              </a:defRPr>
            </a:pPr>
            <a:r>
              <a:t>Ứng viên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2276856"/>
            <a:ext cx="278892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t>Khoảng cách cấp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t>khía cạnh có dấu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5" y="3017520"/>
            <a:ext cx="278892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52677D"/>
                </a:solidFill>
                <a:latin typeface="Arial"/>
              </a:defRPr>
            </a:pPr>
            <a:r>
              <a:t>Vector theo từng khía cạnh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3856" y="4096512"/>
            <a:ext cx="9930384" cy="1024128"/>
          </a:xfrm>
          <a:prstGeom prst="roundRect">
            <a:avLst/>
          </a:prstGeom>
          <a:solidFill>
            <a:srgbClr val="071A2D"/>
          </a:solidFill>
          <a:ln>
            <a:solidFill>
              <a:srgbClr val="071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89888" y="4279392"/>
            <a:ext cx="940003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1" i="0">
                <a:solidFill>
                  <a:srgbClr val="7EE5DC"/>
                </a:solidFill>
                <a:latin typeface="Arial"/>
              </a:defRPr>
            </a:pPr>
            <a:r>
              <a:t>Tiêu chí chọn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4168" y="4572000"/>
            <a:ext cx="949147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FFFFFF"/>
                </a:solidFill>
                <a:latin typeface="Arial"/>
              </a:defRPr>
            </a:pPr>
            <a:r>
              <a:t>Khớp nhãn người · giữ dấu · ổn định hai phía điểm · giải thích theo khía cạnh · không dùng điểm sao để huấn luyện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504688"/>
            <a:ext cx="9875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50" b="0" i="0">
                <a:solidFill>
                  <a:srgbClr val="52677D"/>
                </a:solidFill>
                <a:latin typeface="Arial"/>
              </a:defRPr>
            </a:pPr>
            <a:r>
              <a:t>Nếu không đạt: giữ ma trận phân cực làm baseline và ghi rõ lý 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05 · CÁCH KHẢO SÁT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t>Khảo sát văn hiến: có tiêu chí dừng và nhánh phản biện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481328"/>
            <a:ext cx="5285232" cy="1170432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481328"/>
            <a:ext cx="64008" cy="1170432"/>
          </a:xfrm>
          <a:prstGeom prst="round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1627632"/>
            <a:ext cx="4956048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1" i="0">
                <a:solidFill>
                  <a:srgbClr val="102A43"/>
                </a:solidFill>
                <a:latin typeface="Arial"/>
              </a:defRPr>
            </a:pPr>
            <a:r>
              <a:t>Quy tắc 1 — Mục tiêu dừng rõ ràng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002536"/>
            <a:ext cx="4937760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t>Dừng khi đủ nguyên liệu cho đề cương, có baseline, và không còn phát hiện làm đổi thiết kế.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862072"/>
            <a:ext cx="5285232" cy="1170432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2862072"/>
            <a:ext cx="64008" cy="1170432"/>
          </a:xfrm>
          <a:prstGeom prst="roundRect">
            <a:avLst/>
          </a:prstGeom>
          <a:solidFill>
            <a:srgbClr val="2D6CDF"/>
          </a:solidFill>
          <a:ln>
            <a:solidFill>
              <a:srgbClr val="2D6C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3008376"/>
            <a:ext cx="4956048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1" i="0">
                <a:solidFill>
                  <a:srgbClr val="102A43"/>
                </a:solidFill>
                <a:latin typeface="Arial"/>
              </a:defRPr>
            </a:pPr>
            <a:r>
              <a:t>Quy tắc 2 — Cửa sổ 36 tháng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383279"/>
            <a:ext cx="4937760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t>Tài liệu cũ chỉ lấy khi là nguồn gốc của khái niệm đang dùng; phải ghi lý 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5352" y="1481328"/>
            <a:ext cx="5285232" cy="3502152"/>
          </a:xfrm>
          <a:prstGeom prst="roundRect">
            <a:avLst/>
          </a:prstGeom>
          <a:solidFill>
            <a:srgbClr val="071A2D"/>
          </a:solidFill>
          <a:ln>
            <a:solidFill>
              <a:srgbClr val="071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1737360"/>
            <a:ext cx="475488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1" i="0">
                <a:solidFill>
                  <a:srgbClr val="7EE5DC"/>
                </a:solidFill>
                <a:latin typeface="Arial"/>
              </a:defRPr>
            </a:pPr>
            <a:r>
              <a:t>Bốn nguyên tắc khi đọc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2221992"/>
            <a:ext cx="347472" cy="347472"/>
          </a:xfrm>
          <a:prstGeom prst="ellipse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290572"/>
            <a:ext cx="34747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22592" y="2267712"/>
            <a:ext cx="38862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0" i="0">
                <a:solidFill>
                  <a:srgbClr val="FFFFFF"/>
                </a:solidFill>
                <a:latin typeface="Arial"/>
              </a:defRPr>
            </a:pPr>
            <a:r>
              <a:t>Ưu tiên journal trước hội nghị / preprint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2843784"/>
            <a:ext cx="347472" cy="347472"/>
          </a:xfrm>
          <a:prstGeom prst="ellipse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2912364"/>
            <a:ext cx="34747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22592" y="2889504"/>
            <a:ext cx="38862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0" i="0">
                <a:solidFill>
                  <a:srgbClr val="FFFFFF"/>
                </a:solidFill>
                <a:latin typeface="Arial"/>
              </a:defRPr>
            </a:pPr>
            <a:r>
              <a:t>Mỗi DOI kiểm chứng qua Crossref + OpenAlex</a:t>
            </a:r>
          </a:p>
        </p:txBody>
      </p:sp>
      <p:sp>
        <p:nvSpPr>
          <p:cNvPr id="25" name="Oval 24"/>
          <p:cNvSpPr/>
          <p:nvPr/>
        </p:nvSpPr>
        <p:spPr>
          <a:xfrm>
            <a:off x="6537960" y="3465576"/>
            <a:ext cx="347472" cy="347472"/>
          </a:xfrm>
          <a:prstGeom prst="ellipse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3534156"/>
            <a:ext cx="34747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22592" y="3511296"/>
            <a:ext cx="38862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0" i="0">
                <a:solidFill>
                  <a:srgbClr val="FFFFFF"/>
                </a:solidFill>
                <a:latin typeface="Arial"/>
              </a:defRPr>
            </a:pPr>
            <a:r>
              <a:t>Gán mức bằng chứng I–VII cho từng nguồn</a:t>
            </a:r>
          </a:p>
        </p:txBody>
      </p:sp>
      <p:sp>
        <p:nvSpPr>
          <p:cNvPr id="28" name="Oval 27"/>
          <p:cNvSpPr/>
          <p:nvPr/>
        </p:nvSpPr>
        <p:spPr>
          <a:xfrm>
            <a:off x="6537960" y="4087368"/>
            <a:ext cx="347472" cy="347472"/>
          </a:xfrm>
          <a:prstGeom prst="ellipse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4155948"/>
            <a:ext cx="34747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22592" y="4133088"/>
            <a:ext cx="38862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0" i="0">
                <a:solidFill>
                  <a:srgbClr val="FFFFFF"/>
                </a:solidFill>
                <a:latin typeface="Arial"/>
              </a:defRPr>
            </a:pPr>
            <a:r>
              <a:t>Bắt buộc tìm bằng chứng chống giả thuyết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" y="5413248"/>
            <a:ext cx="9902952" cy="310896"/>
          </a:xfrm>
          <a:prstGeom prst="roundRect">
            <a:avLst/>
          </a:prstGeom>
          <a:solidFill>
            <a:srgbClr val="FFF4D6"/>
          </a:solidFill>
          <a:ln>
            <a:solidFill>
              <a:srgbClr val="FFF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5449824"/>
            <a:ext cx="990295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071A2D"/>
                </a:solidFill>
                <a:latin typeface="Arial"/>
              </a:defRPr>
            </a:pPr>
            <a:r>
              <a:t>Mục tiêu là khảo sát đủ để ra thiết kế vững — không phải quét thật nhiều.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05 · KẾT QUẢ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t>Kết quả khảo sát: cơ chế bất đối xứng đã được mở rộng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" y="1490472"/>
            <a:ext cx="5285232" cy="2048256"/>
          </a:xfrm>
          <a:prstGeom prst="roundRect">
            <a:avLst/>
          </a:prstGeom>
          <a:solidFill>
            <a:srgbClr val="FCEBEB"/>
          </a:solidFill>
          <a:ln>
            <a:solidFill>
              <a:srgbClr val="FC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28216"/>
            <a:ext cx="48006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D55454"/>
                </a:solidFill>
                <a:latin typeface="Arial"/>
              </a:defRPr>
            </a:pPr>
            <a:r>
              <a:t>NHÁNH CHI PHỐI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21408"/>
            <a:ext cx="4681728" cy="3931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 i="0">
                <a:solidFill>
                  <a:srgbClr val="071A2D"/>
                </a:solidFill>
                <a:latin typeface="Arial"/>
              </a:defRPr>
            </a:pPr>
            <a:r>
              <a:t>Một lỗi cơ bản và nghiêm trọng có thể chi phối cả đánh giá.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464515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30" b="0" i="0">
                <a:solidFill>
                  <a:srgbClr val="52677D"/>
                </a:solidFill>
                <a:latin typeface="Arial"/>
              </a:defRPr>
            </a:pPr>
            <a:r>
              <a:t>Severity và Service Recovery là biến điều kiện thực.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90472"/>
            <a:ext cx="5285232" cy="2048256"/>
          </a:xfrm>
          <a:prstGeom prst="roundRect">
            <a:avLst/>
          </a:prstGeom>
          <a:solidFill>
            <a:srgbClr val="E6F7F6"/>
          </a:solidFill>
          <a:ln>
            <a:solidFill>
              <a:srgbClr val="E6F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376" y="1728216"/>
            <a:ext cx="48006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007B7B"/>
                </a:solidFill>
                <a:latin typeface="Arial"/>
              </a:defRPr>
            </a:pPr>
            <a:r>
              <a:t>NHÁNH BÙ TRỪ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121408"/>
            <a:ext cx="4681728" cy="3931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 i="0">
                <a:solidFill>
                  <a:srgbClr val="071A2D"/>
                </a:solidFill>
                <a:latin typeface="Arial"/>
              </a:defRPr>
            </a:pPr>
            <a:r>
              <a:t>Lỗi nhẹ hoặc đã được khắc phục mới cho phép các điểm tích cực cộng gộp.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2834640"/>
            <a:ext cx="464515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30" b="0" i="0">
                <a:solidFill>
                  <a:srgbClr val="52677D"/>
                </a:solidFill>
                <a:latin typeface="Arial"/>
              </a:defRPr>
            </a:pPr>
            <a:r>
              <a:t>Không giả định bù trừ tuyến tính giữa mọi khía cạnh.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4160520"/>
            <a:ext cx="33467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3232" y="4160520"/>
            <a:ext cx="64008" cy="1051560"/>
          </a:xfrm>
          <a:prstGeom prst="roundRect">
            <a:avLst/>
          </a:prstGeom>
          <a:solidFill>
            <a:srgbClr val="2D6CDF"/>
          </a:solidFill>
          <a:ln>
            <a:solidFill>
              <a:srgbClr val="2D6C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306824"/>
            <a:ext cx="301752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02A43"/>
                </a:solidFill>
                <a:latin typeface="Arial"/>
              </a:defRPr>
            </a:pPr>
            <a:r>
              <a:t>88.309 + 540.000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681728"/>
            <a:ext cx="2999232" cy="429767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0" i="0">
                <a:solidFill>
                  <a:srgbClr val="102A43"/>
                </a:solidFill>
                <a:latin typeface="Arial"/>
              </a:defRPr>
            </a:pPr>
            <a:r>
              <a:t>Bất đối xứng đã có bằng chứng ở các quy mô lớn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2" y="4160520"/>
            <a:ext cx="33467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70832" y="4160520"/>
            <a:ext cx="64008" cy="1051560"/>
          </a:xfrm>
          <a:prstGeom prst="roundRect">
            <a:avLst/>
          </a:prstGeom>
          <a:solidFill>
            <a:srgbClr val="F4B942"/>
          </a:solidFill>
          <a:ln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306824"/>
            <a:ext cx="301752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02A43"/>
                </a:solidFill>
                <a:latin typeface="Arial"/>
              </a:defRPr>
            </a:pPr>
            <a:r>
              <a:t>17,3%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681728"/>
            <a:ext cx="2999232" cy="429767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0" i="0">
                <a:solidFill>
                  <a:srgbClr val="102A43"/>
                </a:solidFill>
                <a:latin typeface="Arial"/>
              </a:defRPr>
            </a:pPr>
            <a:r>
              <a:t>Mốc tham chiếu từ một nghiên cứu độc lập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28431" y="4160520"/>
            <a:ext cx="33467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28431" y="4160520"/>
            <a:ext cx="64008" cy="1051560"/>
          </a:xfrm>
          <a:prstGeom prst="roundRect">
            <a:avLst/>
          </a:prstGeom>
          <a:solidFill>
            <a:srgbClr val="D55454"/>
          </a:solidFill>
          <a:ln>
            <a:solidFill>
              <a:srgbClr val="D55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4306824"/>
            <a:ext cx="301752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02A43"/>
                </a:solidFill>
                <a:latin typeface="Arial"/>
              </a:defRPr>
            </a:pPr>
            <a:r>
              <a:t>Giới hạn nhận dạng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681728"/>
            <a:ext cx="2999232" cy="429767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0" i="0">
                <a:solidFill>
                  <a:srgbClr val="102A43"/>
                </a:solidFill>
                <a:latin typeface="Arial"/>
              </a:defRPr>
            </a:pPr>
            <a:r>
              <a:t>Không tuyên bố nhân quả hay “tha thứ”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05 · ĐIỂM DỪNG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t>Khảo sát đóng có điều kiện — nhưng chưa được chốt công thức đo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17904"/>
            <a:ext cx="3977639" cy="3584448"/>
          </a:xfrm>
          <a:prstGeom prst="roundRect">
            <a:avLst/>
          </a:prstGeom>
          <a:solidFill>
            <a:srgbClr val="071A2D"/>
          </a:solidFill>
          <a:ln>
            <a:solidFill>
              <a:srgbClr val="071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92224"/>
            <a:ext cx="352044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 i="0">
                <a:solidFill>
                  <a:srgbClr val="7EE5DC"/>
                </a:solidFill>
                <a:latin typeface="Arial"/>
              </a:defRPr>
            </a:pPr>
            <a:r>
              <a:t>ĐÃ CÓ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21992"/>
            <a:ext cx="3383280" cy="1508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100" b="1" i="0">
                <a:solidFill>
                  <a:srgbClr val="FFFFFF"/>
                </a:solidFill>
                <a:latin typeface="Arial"/>
              </a:defRPr>
            </a:pPr>
            <a:r>
              <a:t>35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3100" b="1" i="0">
                <a:solidFill>
                  <a:srgbClr val="FFFFFF"/>
                </a:solidFill>
                <a:latin typeface="Arial"/>
              </a:defRPr>
            </a:pPr>
            <a:r>
              <a:t>tệp toàn văn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3410712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50" b="0" i="0">
                <a:solidFill>
                  <a:srgbClr val="C7D5E0"/>
                </a:solidFill>
                <a:latin typeface="Arial"/>
              </a:defRPr>
            </a:pPr>
            <a:r>
              <a:t>8 cụm chức năng · 5 quyết định nội bộ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250" b="0" i="0">
                <a:solidFill>
                  <a:srgbClr val="C7D5E0"/>
                </a:solidFill>
                <a:latin typeface="Arial"/>
              </a:defRPr>
            </a:pPr>
            <a:r>
              <a:t>Khung lý thuyết và phạm vi dữ liệu đã khóa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19472" y="1517904"/>
            <a:ext cx="6583680" cy="1005840"/>
          </a:xfrm>
          <a:prstGeom prst="roundRect">
            <a:avLst/>
          </a:prstGeom>
          <a:solidFill>
            <a:srgbClr val="E6F7F6"/>
          </a:solidFill>
          <a:ln>
            <a:solidFill>
              <a:srgbClr val="E6F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792" y="1746504"/>
            <a:ext cx="603504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20" b="1" i="0">
                <a:solidFill>
                  <a:srgbClr val="071A2D"/>
                </a:solidFill>
                <a:latin typeface="Arial"/>
              </a:defRPr>
            </a:pPr>
            <a:r>
              <a:t>Đã đủ để viết đề cương; “bão hòa” được thay bằng tiêu chí: không còn phát hiện đổi thiết kế.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19472" y="2770632"/>
            <a:ext cx="3127248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919472" y="2770632"/>
            <a:ext cx="64008" cy="1005840"/>
          </a:xfrm>
          <a:prstGeom prst="roundRect">
            <a:avLst/>
          </a:prstGeom>
          <a:solidFill>
            <a:srgbClr val="F4B942"/>
          </a:solidFill>
          <a:ln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0" y="2916936"/>
            <a:ext cx="2798064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30" b="1" i="0">
                <a:solidFill>
                  <a:srgbClr val="102A43"/>
                </a:solidFill>
                <a:latin typeface="Arial"/>
              </a:defRPr>
            </a:pPr>
            <a:r>
              <a:t>16 bài đóng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3291839"/>
            <a:ext cx="277977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70" b="0" i="0">
                <a:solidFill>
                  <a:srgbClr val="102A43"/>
                </a:solidFill>
                <a:latin typeface="Arial"/>
              </a:defRPr>
            </a:pPr>
            <a:r>
              <a:t>Cần thư viện trường; ưu tiên Kwon W. 2026, Han &amp; Anderson, Slevitch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75320" y="2770632"/>
            <a:ext cx="3127248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75320" y="2770632"/>
            <a:ext cx="64008" cy="1005840"/>
          </a:xfrm>
          <a:prstGeom prst="roundRect">
            <a:avLst/>
          </a:prstGeom>
          <a:solidFill>
            <a:srgbClr val="D55454"/>
          </a:solidFill>
          <a:ln>
            <a:solidFill>
              <a:srgbClr val="D55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76488" y="2916936"/>
            <a:ext cx="2798064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30" b="1" i="0">
                <a:solidFill>
                  <a:srgbClr val="102A43"/>
                </a:solidFill>
                <a:latin typeface="Arial"/>
              </a:defRPr>
            </a:pPr>
            <a:r>
              <a:t>Công thức đo 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6488" y="3291839"/>
            <a:ext cx="277977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70" b="0" i="0">
                <a:solidFill>
                  <a:srgbClr val="102A43"/>
                </a:solidFill>
                <a:latin typeface="Arial"/>
              </a:defRPr>
            </a:pPr>
            <a:r>
              <a:t>Chưa chốt — chờ validation trên dữ liệu của nhóm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19472" y="3913631"/>
            <a:ext cx="3127248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919472" y="3913631"/>
            <a:ext cx="64008" cy="1005840"/>
          </a:xfrm>
          <a:prstGeom prst="roundRect">
            <a:avLst/>
          </a:prstGeom>
          <a:solidFill>
            <a:srgbClr val="2D6CDF"/>
          </a:solidFill>
          <a:ln>
            <a:solidFill>
              <a:srgbClr val="2D6C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0" y="4059935"/>
            <a:ext cx="2798064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30" b="1" i="0">
                <a:solidFill>
                  <a:srgbClr val="102A43"/>
                </a:solidFill>
                <a:latin typeface="Arial"/>
              </a:defRPr>
            </a:pPr>
            <a:r>
              <a:t>Bộ ước lượng cảm xúc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4434840"/>
            <a:ext cx="277977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70" b="0" i="0">
                <a:solidFill>
                  <a:srgbClr val="102A43"/>
                </a:solidFill>
                <a:latin typeface="Arial"/>
              </a:defRPr>
            </a:pPr>
            <a:r>
              <a:t>Cùng được chốt qua validation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75320" y="3913631"/>
            <a:ext cx="3127248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75320" y="3913631"/>
            <a:ext cx="64008" cy="1005840"/>
          </a:xfrm>
          <a:prstGeom prst="round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76488" y="4059935"/>
            <a:ext cx="2798064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30" b="1" i="0">
                <a:solidFill>
                  <a:srgbClr val="102A43"/>
                </a:solidFill>
                <a:latin typeface="Arial"/>
              </a:defRPr>
            </a:pPr>
            <a:r>
              <a:t>Nguồn gốc / giấy phép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76488" y="4434840"/>
            <a:ext cx="277977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70" b="0" i="0">
                <a:solidFill>
                  <a:srgbClr val="102A43"/>
                </a:solidFill>
                <a:latin typeface="Arial"/>
              </a:defRPr>
            </a:pPr>
            <a:r>
              <a:t>Chưa khai báo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06 · KẾ HOẠCH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t>Việc tiếp theo: khóa validation trước, mở rộng sau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1078992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1618488"/>
            <a:ext cx="347472" cy="347472"/>
          </a:xfrm>
          <a:prstGeom prst="ellipse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87068"/>
            <a:ext cx="34747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1627632"/>
            <a:ext cx="1691640" cy="192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1" i="0">
                <a:solidFill>
                  <a:srgbClr val="071A2D"/>
                </a:solidFill>
                <a:latin typeface="Arial"/>
              </a:defRPr>
            </a:pPr>
            <a:r>
              <a:t>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1627632"/>
            <a:ext cx="4334256" cy="2103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30" b="0" i="0">
                <a:solidFill>
                  <a:srgbClr val="102A43"/>
                </a:solidFill>
                <a:latin typeface="Arial"/>
              </a:defRPr>
            </a:pPr>
            <a:r>
              <a:t>Tập đánh giá · 2 người gán · so 3 công thức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1627632"/>
            <a:ext cx="3200400" cy="2103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00A6A6"/>
                </a:solidFill>
                <a:latin typeface="Arial"/>
              </a:defRPr>
            </a:pPr>
            <a:r>
              <a:t>Công thức đo được chốt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31720"/>
            <a:ext cx="1078992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2487168"/>
            <a:ext cx="347472" cy="347472"/>
          </a:xfrm>
          <a:prstGeom prst="ellipse">
            <a:avLst/>
          </a:prstGeom>
          <a:solidFill>
            <a:srgbClr val="2D6CDF"/>
          </a:solidFill>
          <a:ln>
            <a:solidFill>
              <a:srgbClr val="2D6C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555748"/>
            <a:ext cx="34747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2496312"/>
            <a:ext cx="1691640" cy="192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1" i="0">
                <a:solidFill>
                  <a:srgbClr val="071A2D"/>
                </a:solidFill>
                <a:latin typeface="Arial"/>
              </a:defRPr>
            </a:pPr>
            <a:r>
              <a:t>Bài đóng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2968" y="2496312"/>
            <a:ext cx="4334256" cy="2103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30" b="0" i="0">
                <a:solidFill>
                  <a:srgbClr val="102A43"/>
                </a:solidFill>
                <a:latin typeface="Arial"/>
              </a:defRPr>
            </a:pPr>
            <a:r>
              <a:t>Nhờ thư viện lấy theo thứ tự ưu tiên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496312"/>
            <a:ext cx="3200400" cy="2103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2D6CDF"/>
                </a:solidFill>
                <a:latin typeface="Arial"/>
              </a:defRPr>
            </a:pPr>
            <a:r>
              <a:t>Toàn văn phương pháp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00400"/>
            <a:ext cx="1078992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4400" y="3355848"/>
            <a:ext cx="347472" cy="347472"/>
          </a:xfrm>
          <a:prstGeom prst="ellipse">
            <a:avLst/>
          </a:prstGeom>
          <a:solidFill>
            <a:srgbClr val="F4B942"/>
          </a:solidFill>
          <a:ln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424428"/>
            <a:ext cx="34747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3364992"/>
            <a:ext cx="1691640" cy="192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1" i="0">
                <a:solidFill>
                  <a:srgbClr val="071A2D"/>
                </a:solidFill>
                <a:latin typeface="Arial"/>
              </a:defRPr>
            </a:pPr>
            <a:r>
              <a:t>Research Proposal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72968" y="3364992"/>
            <a:ext cx="4334256" cy="2103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30" b="0" i="0">
                <a:solidFill>
                  <a:srgbClr val="102A43"/>
                </a:solidFill>
                <a:latin typeface="Arial"/>
              </a:defRPr>
            </a:pPr>
            <a:r>
              <a:t>Cập nhật theo khung và RQ3 đã khóa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3364992"/>
            <a:ext cx="3200400" cy="2103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F4B942"/>
                </a:solidFill>
                <a:latin typeface="Arial"/>
              </a:defRPr>
            </a:pPr>
            <a:r>
              <a:t>Bản đề cương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069079"/>
            <a:ext cx="1078992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14400" y="4224527"/>
            <a:ext cx="347472" cy="347472"/>
          </a:xfrm>
          <a:prstGeom prst="ellipse">
            <a:avLst/>
          </a:prstGeom>
          <a:solidFill>
            <a:srgbClr val="D55454"/>
          </a:solidFill>
          <a:ln>
            <a:solidFill>
              <a:srgbClr val="D55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293107"/>
            <a:ext cx="34747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233671"/>
            <a:ext cx="1691640" cy="192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1" i="0">
                <a:solidFill>
                  <a:srgbClr val="071A2D"/>
                </a:solidFill>
                <a:latin typeface="Arial"/>
              </a:defRPr>
            </a:pPr>
            <a:r>
              <a:t>Kinh tế lượng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72968" y="4233671"/>
            <a:ext cx="4334256" cy="2103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30" b="0" i="0">
                <a:solidFill>
                  <a:srgbClr val="102A43"/>
                </a:solidFill>
                <a:latin typeface="Arial"/>
              </a:defRPr>
            </a:pPr>
            <a:r>
              <a:t>Khóa sau khi đã có phép đo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4233671"/>
            <a:ext cx="3200400" cy="2103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D55454"/>
                </a:solidFill>
                <a:latin typeface="Arial"/>
              </a:defRPr>
            </a:pPr>
            <a:r>
              <a:t>Bảng kiểm định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2" y="4937760"/>
            <a:ext cx="1078992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14400" y="5093208"/>
            <a:ext cx="347472" cy="347472"/>
          </a:xfrm>
          <a:prstGeom prst="ellipse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161788"/>
            <a:ext cx="34747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5102352"/>
            <a:ext cx="1691640" cy="192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1" i="0">
                <a:solidFill>
                  <a:srgbClr val="071A2D"/>
                </a:solidFill>
                <a:latin typeface="Arial"/>
              </a:defRPr>
            </a:pPr>
            <a:r>
              <a:t>Ứng dụng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72968" y="5102352"/>
            <a:ext cx="4334256" cy="2103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30" b="0" i="0">
                <a:solidFill>
                  <a:srgbClr val="102A43"/>
                </a:solidFill>
                <a:latin typeface="Arial"/>
              </a:defRPr>
            </a:pPr>
            <a:r>
              <a:t>Dựng nhánh app và endpoint sớm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5102352"/>
            <a:ext cx="3200400" cy="2103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00A6A6"/>
                </a:solidFill>
                <a:latin typeface="Arial"/>
              </a:defRPr>
            </a:pPr>
            <a:r>
              <a:t>Demo được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071616"/>
            <a:ext cx="1069848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 i="0">
                <a:solidFill>
                  <a:srgbClr val="52677D"/>
                </a:solidFill>
                <a:latin typeface="Arial"/>
              </a:defRPr>
            </a:pPr>
            <a:r>
              <a:t>Thứ tự là có chủ đích: không xây màn hình hiển thị D khi phép đo D chưa qua validation.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06 · CẦN ĐỊNH HƯỚNG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t>Năm điểm nhóm cần thầy góp 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81328"/>
            <a:ext cx="10561320" cy="61264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1481328"/>
            <a:ext cx="658368" cy="612648"/>
          </a:xfrm>
          <a:prstGeom prst="round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64208"/>
            <a:ext cx="65836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618488"/>
            <a:ext cx="214884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1" i="0">
                <a:solidFill>
                  <a:srgbClr val="071A2D"/>
                </a:solidFill>
                <a:latin typeface="Arial"/>
              </a:defRPr>
            </a:pPr>
            <a:r>
              <a:t>Tên đề tài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600200"/>
            <a:ext cx="7223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0" i="0">
                <a:solidFill>
                  <a:srgbClr val="102A43"/>
                </a:solidFill>
                <a:latin typeface="Arial"/>
              </a:defRPr>
            </a:pPr>
            <a:r>
              <a:t>Giữ tên tạm; chốt sau khi đã có công thức đo.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2350008"/>
            <a:ext cx="10561320" cy="61264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2350008"/>
            <a:ext cx="658368" cy="612648"/>
          </a:xfrm>
          <a:prstGeom prst="round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532888"/>
            <a:ext cx="65836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2487168"/>
            <a:ext cx="214884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1" i="0">
                <a:solidFill>
                  <a:srgbClr val="071A2D"/>
                </a:solidFill>
                <a:latin typeface="Arial"/>
              </a:defRPr>
            </a:pPr>
            <a:r>
              <a:t>RQ1 &amp; RQ2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468880"/>
            <a:ext cx="7223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0" i="0">
                <a:solidFill>
                  <a:srgbClr val="102A43"/>
                </a:solidFill>
                <a:latin typeface="Arial"/>
              </a:defRPr>
            </a:pPr>
            <a:r>
              <a:t>Có nên chốt sớm khi chưa hoàn tất validation?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218688"/>
            <a:ext cx="10561320" cy="61264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" y="3218688"/>
            <a:ext cx="658368" cy="612648"/>
          </a:xfrm>
          <a:prstGeom prst="roundRect">
            <a:avLst/>
          </a:prstGeom>
          <a:solidFill>
            <a:srgbClr val="2D6CDF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401568"/>
            <a:ext cx="65836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3355848"/>
            <a:ext cx="214884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1" i="0">
                <a:solidFill>
                  <a:srgbClr val="071A2D"/>
                </a:solidFill>
                <a:latin typeface="Arial"/>
              </a:defRPr>
            </a:pPr>
            <a:r>
              <a:t>Phạm vi dữ liệu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337560"/>
            <a:ext cx="7223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0" i="0">
                <a:solidFill>
                  <a:srgbClr val="102A43"/>
                </a:solidFill>
                <a:latin typeface="Arial"/>
              </a:defRPr>
            </a:pPr>
            <a:r>
              <a:t>9.990 review đã có span label thay vì corpus 782.584 review.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4087368"/>
            <a:ext cx="10561320" cy="61264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2960" y="4087368"/>
            <a:ext cx="658368" cy="612648"/>
          </a:xfrm>
          <a:prstGeom prst="roundRect">
            <a:avLst/>
          </a:prstGeom>
          <a:solidFill>
            <a:srgbClr val="2D6CDF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270248"/>
            <a:ext cx="65836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4224528"/>
            <a:ext cx="214884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1" i="0">
                <a:solidFill>
                  <a:srgbClr val="071A2D"/>
                </a:solidFill>
                <a:latin typeface="Arial"/>
              </a:defRPr>
            </a:pPr>
            <a:r>
              <a:t>Ba baseline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06240"/>
            <a:ext cx="7223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0" i="0">
                <a:solidFill>
                  <a:srgbClr val="102A43"/>
                </a:solidFill>
                <a:latin typeface="Arial"/>
              </a:defRPr>
            </a:pPr>
            <a:r>
              <a:t>Le et al. (2026), Kwon et al. (2025), You et al. (2024).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956048"/>
            <a:ext cx="10561320" cy="61264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960" y="4956048"/>
            <a:ext cx="658368" cy="612648"/>
          </a:xfrm>
          <a:prstGeom prst="roundRect">
            <a:avLst/>
          </a:prstGeom>
          <a:solidFill>
            <a:srgbClr val="F4B942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138928"/>
            <a:ext cx="65836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37360" y="5093208"/>
            <a:ext cx="214884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1" i="0">
                <a:solidFill>
                  <a:srgbClr val="071A2D"/>
                </a:solidFill>
                <a:latin typeface="Arial"/>
              </a:defRPr>
            </a:pPr>
            <a:r>
              <a:t>Trọng tâm đo lường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94760" y="5074920"/>
            <a:ext cx="7223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0" i="0">
                <a:solidFill>
                  <a:srgbClr val="102A43"/>
                </a:solidFill>
                <a:latin typeface="Arial"/>
              </a:defRPr>
            </a:pPr>
            <a:r>
              <a:t>Ưu tiên phép đo D và ground truth hơn tối ưu mô hình dự báo?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07 · HƯỚNG ỨNG DỤNG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t>Ứng dụng: Bảng soát điểm sao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426464"/>
            <a:ext cx="10607040" cy="2834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 i="0">
                <a:solidFill>
                  <a:srgbClr val="071A2D"/>
                </a:solidFill>
                <a:latin typeface="Arial"/>
              </a:defRPr>
            </a:pPr>
            <a:r>
              <a:t>Nền tảng chỉ hiển thị một con số; ứng dụng tách nó thành hai.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65376"/>
            <a:ext cx="4828032" cy="1325880"/>
          </a:xfrm>
          <a:prstGeom prst="roundRect">
            <a:avLst/>
          </a:prstGeom>
          <a:solidFill>
            <a:srgbClr val="071A2D"/>
          </a:solidFill>
          <a:ln>
            <a:solidFill>
              <a:srgbClr val="071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112264"/>
            <a:ext cx="43434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1" i="0">
                <a:solidFill>
                  <a:srgbClr val="7EE5DC"/>
                </a:solidFill>
                <a:latin typeface="Arial"/>
              </a:defRPr>
            </a:pPr>
            <a:r>
              <a:t>ĐIỂM KHÁCH BẤM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505456"/>
            <a:ext cx="4343400" cy="3383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30" b="1" i="0">
                <a:solidFill>
                  <a:srgbClr val="FFFFFF"/>
                </a:solidFill>
                <a:latin typeface="Arial"/>
              </a:defRPr>
            </a:pPr>
            <a:r>
              <a:t>vs. điểm nội dung review biện minh được</a:t>
            </a:r>
          </a:p>
        </p:txBody>
      </p:sp>
      <p:sp>
        <p:nvSpPr>
          <p:cNvPr id="13" name="Chevron 12"/>
          <p:cNvSpPr/>
          <p:nvPr/>
        </p:nvSpPr>
        <p:spPr>
          <a:xfrm>
            <a:off x="5797296" y="2249424"/>
            <a:ext cx="640080" cy="566928"/>
          </a:xfrm>
          <a:prstGeom prst="chevron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11696" y="1865376"/>
            <a:ext cx="4791456" cy="1325880"/>
          </a:xfrm>
          <a:prstGeom prst="roundRect">
            <a:avLst/>
          </a:prstGeom>
          <a:solidFill>
            <a:srgbClr val="E6F7F6"/>
          </a:solidFill>
          <a:ln>
            <a:solidFill>
              <a:srgbClr val="E6F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0296" y="2112264"/>
            <a:ext cx="4334256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1" i="0">
                <a:solidFill>
                  <a:srgbClr val="007B7B"/>
                </a:solidFill>
                <a:latin typeface="Arial"/>
              </a:defRPr>
            </a:pPr>
            <a:r>
              <a:t>KHOẢNG CÁCH CẦN NHÌN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6" y="2505456"/>
            <a:ext cx="4334256" cy="3383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10" b="1" i="0">
                <a:solidFill>
                  <a:srgbClr val="071A2D"/>
                </a:solidFill>
                <a:latin typeface="Arial"/>
              </a:defRPr>
            </a:pPr>
            <a:r>
              <a:t>Chênh lệch theo khách sạn và theo khía cạnh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3675887"/>
            <a:ext cx="3346704" cy="134416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3232" y="3675887"/>
            <a:ext cx="64008" cy="1344168"/>
          </a:xfrm>
          <a:prstGeom prst="round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822191"/>
            <a:ext cx="301752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10" b="1" i="0">
                <a:solidFill>
                  <a:srgbClr val="102A43"/>
                </a:solidFill>
                <a:latin typeface="Arial"/>
              </a:defRPr>
            </a:pPr>
            <a:r>
              <a:t>1. Khách sạn được điểm cao hơn thực lực bao nhiêu?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197096"/>
            <a:ext cx="2999232" cy="722375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30" b="0" i="0">
                <a:solidFill>
                  <a:srgbClr val="102A43"/>
                </a:solidFill>
                <a:latin typeface="Arial"/>
              </a:defRPr>
            </a:pPr>
            <a:r>
              <a:t>Chênh giữa điểm thực tế và điểm dự báo từ văn bản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2" y="3675887"/>
            <a:ext cx="3346704" cy="134416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70832" y="3675887"/>
            <a:ext cx="64008" cy="1344168"/>
          </a:xfrm>
          <a:prstGeom prst="round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3822191"/>
            <a:ext cx="301752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10" b="1" i="0">
                <a:solidFill>
                  <a:srgbClr val="102A43"/>
                </a:solidFill>
                <a:latin typeface="Arial"/>
              </a:defRPr>
            </a:pPr>
            <a:r>
              <a:t>2. Khoản chênh đến từ khía cạnh nào?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197096"/>
            <a:ext cx="2999232" cy="722375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30" b="0" i="0">
                <a:solidFill>
                  <a:srgbClr val="102A43"/>
                </a:solidFill>
                <a:latin typeface="Arial"/>
              </a:defRPr>
            </a:pPr>
            <a:r>
              <a:t>D có dấu theo từng khía cạnh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28431" y="3675887"/>
            <a:ext cx="3346704" cy="134416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28431" y="3675887"/>
            <a:ext cx="64008" cy="1344168"/>
          </a:xfrm>
          <a:prstGeom prst="roundRect">
            <a:avLst/>
          </a:prstGeom>
          <a:solidFill>
            <a:srgbClr val="F4B942"/>
          </a:solidFill>
          <a:ln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3822191"/>
            <a:ext cx="301752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10" b="1" i="0">
                <a:solidFill>
                  <a:srgbClr val="102A43"/>
                </a:solidFill>
                <a:latin typeface="Arial"/>
              </a:defRPr>
            </a:pPr>
            <a:r>
              <a:t>3. Nên đầu tư vào đâu?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197096"/>
            <a:ext cx="2999232" cy="722375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30" b="0" i="0">
                <a:solidFill>
                  <a:srgbClr val="102A43"/>
                </a:solidFill>
                <a:latin typeface="Arial"/>
              </a:defRPr>
            </a:pPr>
            <a:r>
              <a:t>Xếp hạng khía cạnh bị dìm điểm / được bỏ qua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920240" y="5440680"/>
            <a:ext cx="8302752" cy="310896"/>
          </a:xfrm>
          <a:prstGeom prst="roundRect">
            <a:avLst/>
          </a:prstGeom>
          <a:solidFill>
            <a:srgbClr val="EBF2FF"/>
          </a:solidFill>
          <a:ln>
            <a:solidFill>
              <a:srgbClr val="EB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20240" y="5477256"/>
            <a:ext cx="830275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50" b="1" i="0">
                <a:solidFill>
                  <a:srgbClr val="2D6CDF"/>
                </a:solidFill>
                <a:latin typeface="Arial"/>
              </a:defRPr>
            </a:pPr>
            <a:r>
              <a:t>Người dùng mục tiêu: quản lý vận hành / revenue manager — không phải khách du lịch.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07 · BẢNG SOÁT ĐIỂM SAO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t>Màn hình chính: một ca demo có thật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417320"/>
            <a:ext cx="6748272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B9C9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417320"/>
            <a:ext cx="6748272" cy="530352"/>
          </a:xfrm>
          <a:prstGeom prst="roundRect">
            <a:avLst/>
          </a:prstGeom>
          <a:solidFill>
            <a:srgbClr val="071A2D"/>
          </a:solidFill>
          <a:ln>
            <a:solidFill>
              <a:srgbClr val="071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1591056"/>
            <a:ext cx="21945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50" b="1" i="0">
                <a:solidFill>
                  <a:srgbClr val="FFFFFF"/>
                </a:solidFill>
                <a:latin typeface="Arial"/>
              </a:defRPr>
            </a:pPr>
            <a:r>
              <a:t>SOÁT ĐIỂM SAO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572768"/>
            <a:ext cx="292608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50" b="0" i="0">
                <a:solidFill>
                  <a:srgbClr val="C7D5E0"/>
                </a:solidFill>
                <a:latin typeface="Arial"/>
              </a:defRPr>
            </a:pPr>
            <a:r>
              <a:t>Sofitel Legend Metropole  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70432" y="2240280"/>
            <a:ext cx="160020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07592" y="2359152"/>
            <a:ext cx="1325880" cy="484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700" b="1" i="0">
                <a:solidFill>
                  <a:srgbClr val="F4B942"/>
                </a:solidFill>
                <a:latin typeface="Arial"/>
              </a:defRPr>
            </a:pPr>
            <a:r>
              <a:t>4.0★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07592" y="2926080"/>
            <a:ext cx="13258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102A43"/>
                </a:solidFill>
                <a:latin typeface="Arial"/>
              </a:defRPr>
            </a:pPr>
            <a:r>
              <a:t>★ thực tế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27248" y="2240280"/>
            <a:ext cx="160020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64408" y="2359152"/>
            <a:ext cx="1325880" cy="484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700" b="1" i="0">
                <a:solidFill>
                  <a:srgbClr val="00A6A6"/>
                </a:solidFill>
                <a:latin typeface="Arial"/>
              </a:defRPr>
            </a:pPr>
            <a:r>
              <a:t>3.2★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64408" y="2926080"/>
            <a:ext cx="13258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102A43"/>
                </a:solidFill>
                <a:latin typeface="Arial"/>
              </a:defRPr>
            </a:pPr>
            <a:r>
              <a:t>★ văn bản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84064" y="2240280"/>
            <a:ext cx="160020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21224" y="2359152"/>
            <a:ext cx="1325880" cy="484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700" b="1" i="0">
                <a:solidFill>
                  <a:srgbClr val="2D6CDF"/>
                </a:solidFill>
                <a:latin typeface="Arial"/>
              </a:defRPr>
            </a:pPr>
            <a:r>
              <a:t>+0.8★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21224" y="2926080"/>
            <a:ext cx="13258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102A43"/>
                </a:solidFill>
                <a:latin typeface="Arial"/>
              </a:defRPr>
            </a:pPr>
            <a:r>
              <a:t>★ chênh lệch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70432" y="3776472"/>
            <a:ext cx="5522976" cy="1325880"/>
          </a:xfrm>
          <a:prstGeom prst="roundRect">
            <a:avLst/>
          </a:prstGeom>
          <a:solidFill>
            <a:srgbClr val="EEF3F7"/>
          </a:solidFill>
          <a:ln>
            <a:solidFill>
              <a:srgbClr val="EEF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89888" y="3931920"/>
            <a:ext cx="13258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 i="0">
                <a:solidFill>
                  <a:srgbClr val="52677D"/>
                </a:solidFill>
                <a:latin typeface="Arial"/>
              </a:defRPr>
            </a:pPr>
            <a:r>
              <a:t>Review #131571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9888" y="4261104"/>
            <a:ext cx="36576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2E9B70"/>
                </a:solidFill>
                <a:latin typeface="Arial"/>
              </a:defRPr>
            </a:pPr>
            <a:r>
              <a:t>“…beds were so comfortable…”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4608576"/>
            <a:ext cx="36576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D55454"/>
                </a:solidFill>
                <a:latin typeface="Arial"/>
              </a:defRPr>
            </a:pPr>
            <a:r>
              <a:t>“…wait staff were very slow…”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82896" y="4261104"/>
            <a:ext cx="1609344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50" b="1" i="0">
                <a:solidFill>
                  <a:srgbClr val="2D6CDF"/>
                </a:solidFill>
                <a:latin typeface="Arial"/>
              </a:defRPr>
            </a:pPr>
            <a:r>
              <a:t>chấm cao hơn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250" b="1" i="0">
                <a:solidFill>
                  <a:srgbClr val="2D6CDF"/>
                </a:solidFill>
                <a:latin typeface="Arial"/>
              </a:defRPr>
            </a:pPr>
            <a:r>
              <a:t>nội dung 0.8★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73568" y="1554480"/>
            <a:ext cx="342900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73568" y="1554480"/>
            <a:ext cx="64008" cy="1078992"/>
          </a:xfrm>
          <a:prstGeom prst="round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74736" y="1700784"/>
            <a:ext cx="3099816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50" b="1" i="0">
                <a:solidFill>
                  <a:srgbClr val="102A43"/>
                </a:solidFill>
                <a:latin typeface="Arial"/>
              </a:defRPr>
            </a:pPr>
            <a:r>
              <a:t>Ca demo trong dữ liệu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74736" y="2075688"/>
            <a:ext cx="3081528" cy="457199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102A43"/>
                </a:solidFill>
                <a:latin typeface="Arial"/>
              </a:defRPr>
            </a:pPr>
            <a:r>
              <a:t>Sofitel Legend Metropole: 8 / 85 review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73568" y="2834640"/>
            <a:ext cx="34290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973568" y="2834640"/>
            <a:ext cx="64008" cy="1965960"/>
          </a:xfrm>
          <a:prstGeom prst="roundRect">
            <a:avLst/>
          </a:prstGeom>
          <a:solidFill>
            <a:srgbClr val="F4B942"/>
          </a:solidFill>
          <a:ln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74736" y="2980944"/>
            <a:ext cx="3099816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50" b="1" i="0">
                <a:solidFill>
                  <a:srgbClr val="102A43"/>
                </a:solidFill>
                <a:latin typeface="Arial"/>
              </a:defRPr>
            </a:pPr>
            <a:r>
              <a:t>Bốn ràng buộc khi xây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74736" y="3355848"/>
            <a:ext cx="3081528" cy="1344167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102A43"/>
                </a:solidFill>
                <a:latin typeface="Arial"/>
              </a:defRPr>
            </a:pPr>
            <a:r>
              <a:t>• Chưa hiển thị D trước validation.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102A43"/>
                </a:solidFill>
                <a:latin typeface="Arial"/>
              </a:defRPr>
            </a:pPr>
            <a:r>
              <a:t>• Không suy diễn “khách tha thứ”.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102A43"/>
                </a:solidFill>
                <a:latin typeface="Arial"/>
              </a:defRPr>
            </a:pPr>
            <a:r>
              <a:t>• Không tổng hợp nếu &lt;20 review.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102A43"/>
                </a:solidFill>
                <a:latin typeface="Arial"/>
              </a:defRPr>
            </a:pPr>
            <a:r>
              <a:t>• Không dùng biểu đồ radar.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" y="6163056"/>
            <a:ext cx="1060704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2677D"/>
                </a:solidFill>
                <a:latin typeface="Arial"/>
              </a:defRPr>
            </a:pPr>
            <a:r>
              <a:t>Các ca khác: Anantara Hội An (6/39) · Salinda Phú Quốc (4/31) · Lavender Central (4/60) · Indochine Palace (4/30).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GỢI Ý TRẢ LỜI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t>Phụ lục: câu hỏi dự kiến (1/2)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417320"/>
            <a:ext cx="10744200" cy="1197864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9264" y="1618488"/>
            <a:ext cx="475488" cy="310896"/>
          </a:xfrm>
          <a:prstGeom prst="roundRect">
            <a:avLst/>
          </a:prstGeom>
          <a:solidFill>
            <a:srgbClr val="E6F7F6"/>
          </a:solidFill>
          <a:ln>
            <a:solidFill>
              <a:srgbClr val="E6F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1655064"/>
            <a:ext cx="475488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36776" y="1572768"/>
            <a:ext cx="923544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50" b="1" i="0">
                <a:solidFill>
                  <a:srgbClr val="071A2D"/>
                </a:solidFill>
                <a:latin typeface="Arial"/>
              </a:defRPr>
            </a:pPr>
            <a:r>
              <a:t>Vì sao không dùng điểm sao làm nhãn cảm xúc?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36776" y="2002536"/>
            <a:ext cx="91440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0" i="0">
                <a:solidFill>
                  <a:srgbClr val="102A43"/>
                </a:solidFill>
                <a:latin typeface="Arial"/>
              </a:defRPr>
            </a:pPr>
            <a:r>
              <a:t>Vì 394 review 5 sao vẫn có phàn nàn tiêu cực. Dùng sao làm nhãn sẽ khiến mô hình học luôn phần không khớp đó.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2898648"/>
            <a:ext cx="10744200" cy="1197864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9264" y="3099816"/>
            <a:ext cx="475488" cy="310896"/>
          </a:xfrm>
          <a:prstGeom prst="roundRect">
            <a:avLst/>
          </a:prstGeom>
          <a:solidFill>
            <a:srgbClr val="E6F7F6"/>
          </a:solidFill>
          <a:ln>
            <a:solidFill>
              <a:srgbClr val="E6F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136392"/>
            <a:ext cx="475488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36776" y="3054096"/>
            <a:ext cx="923544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50" b="1" i="0">
                <a:solidFill>
                  <a:srgbClr val="071A2D"/>
                </a:solidFill>
                <a:latin typeface="Arial"/>
              </a:defRPr>
            </a:pPr>
            <a:r>
              <a:t>Vì sao cần hai người gán nhãn?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36776" y="3483864"/>
            <a:ext cx="91440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0" i="0">
                <a:solidFill>
                  <a:srgbClr val="102A43"/>
                </a:solidFill>
                <a:latin typeface="Arial"/>
              </a:defRPr>
            </a:pPr>
            <a:r>
              <a:t>Vì “bất nhất thật” là phán đoán chủ quan. Cohen’s Kappa cho biết quy chuẩn có dùng được không; bất đồng phải được giải quyết.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4379976"/>
            <a:ext cx="10744200" cy="1197864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9264" y="4581144"/>
            <a:ext cx="475488" cy="310896"/>
          </a:xfrm>
          <a:prstGeom prst="roundRect">
            <a:avLst/>
          </a:prstGeom>
          <a:solidFill>
            <a:srgbClr val="E6F7F6"/>
          </a:solidFill>
          <a:ln>
            <a:solidFill>
              <a:srgbClr val="E6F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" y="4617720"/>
            <a:ext cx="475488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36776" y="4535424"/>
            <a:ext cx="923544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50" b="1" i="0">
                <a:solidFill>
                  <a:srgbClr val="071A2D"/>
                </a:solidFill>
                <a:latin typeface="Arial"/>
              </a:defRPr>
            </a:pPr>
            <a:r>
              <a:t>Sao không dùng LLM cho nhanh?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36776" y="4965192"/>
            <a:ext cx="91440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0" i="0">
                <a:solidFill>
                  <a:srgbClr val="102A43"/>
                </a:solidFill>
                <a:latin typeface="Arial"/>
              </a:defRPr>
            </a:pPr>
            <a:r>
              <a:t>Có thể dùng, nhưng vẫn phải đánh giá trên tập do người gán. Bộ đo cảm xúc không được huấn luyện từ điểm sao.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GỢI Ý TRẢ LỜI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t>Phụ lục: câu hỏi dự kiến (2/2)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444752"/>
            <a:ext cx="516636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9808" y="1444752"/>
            <a:ext cx="64008" cy="1783080"/>
          </a:xfrm>
          <a:prstGeom prst="roundRect">
            <a:avLst/>
          </a:prstGeom>
          <a:solidFill>
            <a:srgbClr val="2D6CDF"/>
          </a:solidFill>
          <a:ln>
            <a:solidFill>
              <a:srgbClr val="2D6C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591056"/>
            <a:ext cx="4837176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102A43"/>
                </a:solidFill>
                <a:latin typeface="Arial"/>
              </a:defRPr>
            </a:pPr>
            <a:r>
              <a:t>Sao chỉ có 9.990 review?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1965960"/>
            <a:ext cx="4818888" cy="11612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0">
                <a:solidFill>
                  <a:srgbClr val="102A43"/>
                </a:solidFill>
                <a:latin typeface="Arial"/>
              </a:defRPr>
            </a:pPr>
            <a:r>
              <a:t>Đây là phần có nhãn khía cạnh và cảm xúc ở cấp span — điều kiện bắt buộc để đo lệch theo khía cạnh. Corpus lớn hơn không có span label không trả lời được RQ2–RQ3.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444752"/>
            <a:ext cx="516636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63640" y="1444752"/>
            <a:ext cx="64008" cy="1783080"/>
          </a:xfrm>
          <a:prstGeom prst="roundRect">
            <a:avLst/>
          </a:prstGeom>
          <a:solidFill>
            <a:srgbClr val="D55454"/>
          </a:solidFill>
          <a:ln>
            <a:solidFill>
              <a:srgbClr val="D55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7" y="1591056"/>
            <a:ext cx="4837176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102A43"/>
                </a:solidFill>
                <a:latin typeface="Arial"/>
              </a:defRPr>
            </a:pPr>
            <a:r>
              <a:t>Có chắc là khách tha thứ không?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7" y="1965960"/>
            <a:ext cx="4818888" cy="11612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0">
                <a:solidFill>
                  <a:srgbClr val="102A43"/>
                </a:solidFill>
                <a:latin typeface="Arial"/>
              </a:defRPr>
            </a:pPr>
            <a:r>
              <a:t>Không. Dữ liệu công khai không đủ để suy ra trạng thái tâm lý. Nhóm chỉ phát biểu về mẫu hành vi chấm điểm quan sát được.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3712463"/>
            <a:ext cx="10680192" cy="1280160"/>
          </a:xfrm>
          <a:prstGeom prst="roundRect">
            <a:avLst/>
          </a:prstGeom>
          <a:solidFill>
            <a:srgbClr val="071A2D"/>
          </a:solidFill>
          <a:ln>
            <a:solidFill>
              <a:srgbClr val="071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950208"/>
            <a:ext cx="100584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7EE5DC"/>
                </a:solidFill>
                <a:latin typeface="Arial"/>
              </a:defRPr>
            </a:pPr>
            <a:r>
              <a:t>Điểm cần thầy định hướng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379976"/>
            <a:ext cx="10058400" cy="26517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650" b="1" i="0">
                <a:solidFill>
                  <a:srgbClr val="FFFFFF"/>
                </a:solidFill>
                <a:latin typeface="Arial"/>
              </a:defRPr>
            </a:pPr>
            <a:r>
              <a:t>Tên đề tài · RQ1/RQ2 · phạm vi 9.990 review · ba baseline · trọng tâm validation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532120"/>
            <a:ext cx="10680192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 i="0">
                <a:solidFill>
                  <a:srgbClr val="071A2D"/>
                </a:solidFill>
                <a:latin typeface="Arial"/>
              </a:defRPr>
            </a:pPr>
            <a:r>
              <a:t>Cảm ơn thầy — nhóm mong nhận góp ý để khóa thiết kế validation.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Báo cáo tiến độ dự án — Bất nhất cảm xúc–điểm số ở cấp khía cạnh</dc:title>
  <dc:subject>DAP391m progress report</dc:subject>
  <dc:creator>Nhóm dự án</dc:creator>
  <cp:keywords>hotel review, sentiment-rating discrepancy, DAP391m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